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Respected project guide Prof. G.V. Patil and external examiners, good morning. We are final-year B.Tech students from D.Y Patil College Of Engineering And Technology. Today we present our major project: AgriFlow AI, a smart agricultural supply chain platform connecting farmers, buyers, and transporters with explainable decision-support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Agricultural supply chains face five core issues: farmers cultivate crops without forward demand signals, middlemen capture 35-50% margins, perishable crops suffer heavy post-harvest wastage, transport is fragmented, and there is no verified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integrates all four stakeholders. Farmers list produce and see demand; buyers broadcast needs and book crops; transporters claim pickups; and admins oversee the system. Everything is connected through an explainable decision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defined six clear objectives: connecting all four stakeholders, implementing explainable matching, forecasting demand, monitoring shelf-life to prevent waste, optimizing transport, and recording complete milestone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follows a clean 3-tier architecture. React 18 on the frontend communicates with Node.js and Express over REST APIs using JWT authentication. MongoDB Atlas stores structured documents, and our decision engines run directly inside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AgriFlow AI partitions features into four clear modules. Farmers manage inventory and fulfill orders; buyers discover crops and track deliveries; transporters claim pickups and manage trips; and admins monitor platform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Farmer Module, producers manage crops, inspect buyer demand, review AI recommendations, and progress orders from booking acceptance to Ready for Pickup.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Buyer Module allows wholesale buyers to search verified produce, broadcast procurement requirements, place immediate bookings, track delivery milestones, and inspect batch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Transporter Module bridges the first-mile gap. When an order is ready, a pickup request is automatically created. Drivers accept jobs atomically, update trip milestones, and track freight earnings.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four specialized decision engines for matching, demand forecasting, shelf-life monitoring, and route optimization. We deliberately avoid black-box chatbots so that every recommendation has clear, auditable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matching algorithm combines six weighted factors totaling 100%. The system outputs both a match score and clear, understandable explanations so farmers know why a buyer was recommended.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dual analytics: the Demand Forecasting flow projects future volume and price bands from historical data, while the Shelf-Life flow calculates freshness decay to trigger discounts and urgent pickups before crops spoil.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route optimization groups farm orders into multi-stop trips while checking truck weight limits. Crucially, orders marked as perishable or critical are given pickup priority to reduce post-harvest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the full transaction lifecycle. From crop listing to payment, every stage updates connected database models and commits milestone events to our traceability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Respected project guide Prof. G.V. Patil and examiners, to conclude, AgriFlow AI provides a viable engineering blueprint for agricultural logistics. We have built the complete full-stack foundation, state machine, and explainable decision stubs. In our future scope, we plan to incorporate ML models, live GPS, and blockchain anchoring. Thank you, and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81B"/>
        </a:solidFill>
      </p:bgPr>
    </p:bg>
    <p:spTree>
      <p:nvGrpSpPr>
        <p:cNvPr id="1" name=""/>
        <p:cNvGrpSpPr/>
        <p:nvPr/>
      </p:nvGrpSpPr>
      <p:grpSpPr>
        <a:xfrm>
          <a:off x="0" y="0"/>
          <a:ext cx="0" cy="0"/>
          <a:chOff x="0" y="0"/>
          <a:chExt cx="0" cy="0"/>
        </a:xfrm>
      </p:grpSpPr>
      <p:sp>
        <p:nvSpPr>
          <p:cNvPr id="2" name="Shape 0"/>
          <p:cNvSpPr/>
          <p:nvPr/>
        </p:nvSpPr>
        <p:spPr>
          <a:xfrm>
            <a:off x="731520" y="457200"/>
            <a:ext cx="2560320" cy="237744"/>
          </a:xfrm>
          <a:prstGeom prst="roundRect">
            <a:avLst>
              <a:gd name="adj" fmla="val 30769"/>
            </a:avLst>
          </a:prstGeom>
          <a:solidFill>
            <a:srgbClr val="0A422D"/>
          </a:solidFill>
          <a:ln w="12700">
            <a:solidFill>
              <a:srgbClr val="10B981"/>
            </a:solidFill>
            <a:prstDash val="solid"/>
          </a:ln>
        </p:spPr>
      </p:sp>
      <p:sp>
        <p:nvSpPr>
          <p:cNvPr id="3" name="Text 1"/>
          <p:cNvSpPr/>
          <p:nvPr/>
        </p:nvSpPr>
        <p:spPr>
          <a:xfrm>
            <a:off x="731520" y="457200"/>
            <a:ext cx="2560320" cy="237744"/>
          </a:xfrm>
          <a:prstGeom prst="rect">
            <a:avLst/>
          </a:prstGeom>
          <a:noFill/>
          <a:ln/>
        </p:spPr>
        <p:txBody>
          <a:bodyPr wrap="square" rtlCol="0" anchor="ctr"/>
          <a:lstStyle/>
          <a:p>
            <a:pPr algn="ctr" indent="0" marL="0">
              <a:buNone/>
            </a:pPr>
            <a:r>
              <a:rPr lang="en-US" sz="850" b="1" dirty="0">
                <a:solidFill>
                  <a:srgbClr val="6EE7B7"/>
                </a:solidFill>
                <a:latin typeface="Segoe UI" pitchFamily="34" charset="0"/>
                <a:ea typeface="Segoe UI" pitchFamily="34" charset="-122"/>
                <a:cs typeface="Segoe UI" pitchFamily="34" charset="-120"/>
              </a:rPr>
              <a:t>B.TECH MAJOR PROJECT DEFENSE</a:t>
            </a:r>
            <a:endParaRPr lang="en-US" sz="850" dirty="0"/>
          </a:p>
        </p:txBody>
      </p:sp>
      <p:sp>
        <p:nvSpPr>
          <p:cNvPr id="4" name="Text 2"/>
          <p:cNvSpPr/>
          <p:nvPr/>
        </p:nvSpPr>
        <p:spPr>
          <a:xfrm>
            <a:off x="731520" y="749808"/>
            <a:ext cx="7680960" cy="594360"/>
          </a:xfrm>
          <a:prstGeom prst="rect">
            <a:avLst/>
          </a:prstGeom>
          <a:noFill/>
          <a:ln/>
        </p:spPr>
        <p:txBody>
          <a:bodyPr wrap="square" rtlCol="0" anchor="ctr"/>
          <a:lstStyle/>
          <a:p>
            <a:pPr indent="0" marL="0">
              <a:buNone/>
            </a:pPr>
            <a:r>
              <a:rPr lang="en-US" sz="3400" b="1" dirty="0">
                <a:solidFill>
                  <a:srgbClr val="FFFFFF"/>
                </a:solidFill>
                <a:latin typeface="Segoe UI" pitchFamily="34" charset="0"/>
                <a:ea typeface="Segoe UI" pitchFamily="34" charset="-122"/>
                <a:cs typeface="Segoe UI" pitchFamily="34" charset="-120"/>
              </a:rPr>
              <a:t>AgriFlow AI</a:t>
            </a:r>
            <a:endParaRPr lang="en-US" sz="3400" dirty="0"/>
          </a:p>
        </p:txBody>
      </p:sp>
      <p:sp>
        <p:nvSpPr>
          <p:cNvPr id="5" name="Text 3"/>
          <p:cNvSpPr/>
          <p:nvPr/>
        </p:nvSpPr>
        <p:spPr>
          <a:xfrm>
            <a:off x="731520" y="1353312"/>
            <a:ext cx="7680960" cy="347472"/>
          </a:xfrm>
          <a:prstGeom prst="rect">
            <a:avLst/>
          </a:prstGeom>
          <a:noFill/>
          <a:ln/>
        </p:spPr>
        <p:txBody>
          <a:bodyPr wrap="square" rtlCol="0" anchor="ctr"/>
          <a:lstStyle/>
          <a:p>
            <a:pPr indent="0" marL="0">
              <a:buNone/>
            </a:pPr>
            <a:r>
              <a:rPr lang="en-US" sz="1700" b="1" dirty="0">
                <a:solidFill>
                  <a:srgbClr val="A7F3D0"/>
                </a:solidFill>
                <a:latin typeface="Segoe UI" pitchFamily="34" charset="0"/>
                <a:ea typeface="Segoe UI" pitchFamily="34" charset="-122"/>
                <a:cs typeface="Segoe UI" pitchFamily="34" charset="-120"/>
              </a:rPr>
              <a:t>Smart Agricultural Supply Chain SaaS Platform</a:t>
            </a:r>
            <a:endParaRPr lang="en-US" sz="1700" dirty="0"/>
          </a:p>
        </p:txBody>
      </p:sp>
      <p:sp>
        <p:nvSpPr>
          <p:cNvPr id="6" name="Text 4"/>
          <p:cNvSpPr/>
          <p:nvPr/>
        </p:nvSpPr>
        <p:spPr>
          <a:xfrm>
            <a:off x="731520" y="1719072"/>
            <a:ext cx="7680960" cy="274320"/>
          </a:xfrm>
          <a:prstGeom prst="rect">
            <a:avLst/>
          </a:prstGeom>
          <a:noFill/>
          <a:ln/>
        </p:spPr>
        <p:txBody>
          <a:bodyPr wrap="square" rtlCol="0" anchor="ctr"/>
          <a:lstStyle/>
          <a:p>
            <a:pPr indent="0" marL="0">
              <a:buNone/>
            </a:pPr>
            <a:r>
              <a:rPr lang="en-US" sz="1050" dirty="0">
                <a:solidFill>
                  <a:srgbClr val="D1FAE5"/>
                </a:solidFill>
                <a:latin typeface="Segoe UI" pitchFamily="34" charset="0"/>
                <a:ea typeface="Segoe UI" pitchFamily="34" charset="-122"/>
                <a:cs typeface="Segoe UI" pitchFamily="34" charset="-120"/>
              </a:rPr>
              <a:t>An Integrated Multi-Stakeholder B2B Logistics &amp; Decision-Support System</a:t>
            </a:r>
            <a:endParaRPr lang="en-US" sz="1050" dirty="0"/>
          </a:p>
        </p:txBody>
      </p:sp>
      <p:sp>
        <p:nvSpPr>
          <p:cNvPr id="7" name="Shape 5"/>
          <p:cNvSpPr/>
          <p:nvPr/>
        </p:nvSpPr>
        <p:spPr>
          <a:xfrm>
            <a:off x="731520" y="2084832"/>
            <a:ext cx="1874520" cy="310896"/>
          </a:xfrm>
          <a:prstGeom prst="roundRect">
            <a:avLst>
              <a:gd name="adj" fmla="val 17647"/>
            </a:avLst>
          </a:prstGeom>
          <a:solidFill>
            <a:srgbClr val="0E4E35"/>
          </a:solidFill>
          <a:ln w="12700">
            <a:solidFill>
              <a:srgbClr val="34D399"/>
            </a:solidFill>
            <a:prstDash val="solid"/>
          </a:ln>
        </p:spPr>
      </p:sp>
      <p:sp>
        <p:nvSpPr>
          <p:cNvPr id="8" name="Text 6"/>
          <p:cNvSpPr/>
          <p:nvPr/>
        </p:nvSpPr>
        <p:spPr>
          <a:xfrm>
            <a:off x="731520" y="2084832"/>
            <a:ext cx="1874520" cy="310896"/>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  Farmer Portal</a:t>
            </a:r>
            <a:endParaRPr lang="en-US" sz="850" dirty="0"/>
          </a:p>
        </p:txBody>
      </p:sp>
      <p:sp>
        <p:nvSpPr>
          <p:cNvPr id="9" name="Shape 7"/>
          <p:cNvSpPr/>
          <p:nvPr/>
        </p:nvSpPr>
        <p:spPr>
          <a:xfrm>
            <a:off x="2697480" y="2084832"/>
            <a:ext cx="1874520" cy="310896"/>
          </a:xfrm>
          <a:prstGeom prst="roundRect">
            <a:avLst>
              <a:gd name="adj" fmla="val 17647"/>
            </a:avLst>
          </a:prstGeom>
          <a:solidFill>
            <a:srgbClr val="0E4E35"/>
          </a:solidFill>
          <a:ln w="12700">
            <a:solidFill>
              <a:srgbClr val="34D399"/>
            </a:solidFill>
            <a:prstDash val="solid"/>
          </a:ln>
        </p:spPr>
      </p:sp>
      <p:sp>
        <p:nvSpPr>
          <p:cNvPr id="10" name="Text 8"/>
          <p:cNvSpPr/>
          <p:nvPr/>
        </p:nvSpPr>
        <p:spPr>
          <a:xfrm>
            <a:off x="2697480" y="2084832"/>
            <a:ext cx="1874520" cy="310896"/>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  Buyer Marketplace</a:t>
            </a:r>
            <a:endParaRPr lang="en-US" sz="850" dirty="0"/>
          </a:p>
        </p:txBody>
      </p:sp>
      <p:sp>
        <p:nvSpPr>
          <p:cNvPr id="11" name="Shape 9"/>
          <p:cNvSpPr/>
          <p:nvPr/>
        </p:nvSpPr>
        <p:spPr>
          <a:xfrm>
            <a:off x="4663440" y="2084832"/>
            <a:ext cx="1874520" cy="310896"/>
          </a:xfrm>
          <a:prstGeom prst="roundRect">
            <a:avLst>
              <a:gd name="adj" fmla="val 17647"/>
            </a:avLst>
          </a:prstGeom>
          <a:solidFill>
            <a:srgbClr val="0E4E35"/>
          </a:solidFill>
          <a:ln w="12700">
            <a:solidFill>
              <a:srgbClr val="34D399"/>
            </a:solidFill>
            <a:prstDash val="solid"/>
          </a:ln>
        </p:spPr>
      </p:sp>
      <p:sp>
        <p:nvSpPr>
          <p:cNvPr id="12" name="Text 10"/>
          <p:cNvSpPr/>
          <p:nvPr/>
        </p:nvSpPr>
        <p:spPr>
          <a:xfrm>
            <a:off x="4663440" y="2084832"/>
            <a:ext cx="1874520" cy="310896"/>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  Transporter Logistics</a:t>
            </a:r>
            <a:endParaRPr lang="en-US" sz="850" dirty="0"/>
          </a:p>
        </p:txBody>
      </p:sp>
      <p:sp>
        <p:nvSpPr>
          <p:cNvPr id="13" name="Shape 11"/>
          <p:cNvSpPr/>
          <p:nvPr/>
        </p:nvSpPr>
        <p:spPr>
          <a:xfrm>
            <a:off x="6629400" y="2084832"/>
            <a:ext cx="1874520" cy="310896"/>
          </a:xfrm>
          <a:prstGeom prst="roundRect">
            <a:avLst>
              <a:gd name="adj" fmla="val 17647"/>
            </a:avLst>
          </a:prstGeom>
          <a:solidFill>
            <a:srgbClr val="0E4E35"/>
          </a:solidFill>
          <a:ln w="12700">
            <a:solidFill>
              <a:srgbClr val="34D399"/>
            </a:solidFill>
            <a:prstDash val="solid"/>
          </a:ln>
        </p:spPr>
      </p:sp>
      <p:sp>
        <p:nvSpPr>
          <p:cNvPr id="14" name="Text 12"/>
          <p:cNvSpPr/>
          <p:nvPr/>
        </p:nvSpPr>
        <p:spPr>
          <a:xfrm>
            <a:off x="6629400" y="2084832"/>
            <a:ext cx="1874520" cy="310896"/>
          </a:xfrm>
          <a:prstGeom prst="rect">
            <a:avLst/>
          </a:prstGeom>
          <a:noFill/>
          <a:ln/>
        </p:spPr>
        <p:txBody>
          <a:bodyPr wrap="square"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  System Admin</a:t>
            </a:r>
            <a:endParaRPr lang="en-US" sz="850" dirty="0"/>
          </a:p>
        </p:txBody>
      </p:sp>
      <p:sp>
        <p:nvSpPr>
          <p:cNvPr id="15" name="Shape 13"/>
          <p:cNvSpPr/>
          <p:nvPr/>
        </p:nvSpPr>
        <p:spPr>
          <a:xfrm>
            <a:off x="731520" y="2542032"/>
            <a:ext cx="3794760" cy="1874520"/>
          </a:xfrm>
          <a:prstGeom prst="roundRect">
            <a:avLst>
              <a:gd name="adj" fmla="val 3902"/>
            </a:avLst>
          </a:prstGeom>
          <a:solidFill>
            <a:srgbClr val="0A3D29"/>
          </a:solidFill>
          <a:ln w="12700">
            <a:solidFill>
              <a:srgbClr val="10B981"/>
            </a:solidFill>
            <a:prstDash val="solid"/>
          </a:ln>
        </p:spPr>
      </p:sp>
      <p:sp>
        <p:nvSpPr>
          <p:cNvPr id="16" name="Text 14"/>
          <p:cNvSpPr/>
          <p:nvPr/>
        </p:nvSpPr>
        <p:spPr>
          <a:xfrm>
            <a:off x="914400" y="2633472"/>
            <a:ext cx="3429000" cy="201168"/>
          </a:xfrm>
          <a:prstGeom prst="rect">
            <a:avLst/>
          </a:prstGeom>
          <a:noFill/>
          <a:ln/>
        </p:spPr>
        <p:txBody>
          <a:bodyPr wrap="square" rtlCol="0" anchor="ctr"/>
          <a:lstStyle/>
          <a:p>
            <a:pPr indent="0" marL="0">
              <a:buNone/>
            </a:pPr>
            <a:r>
              <a:rPr lang="en-US" sz="900" b="1" dirty="0">
                <a:solidFill>
                  <a:srgbClr val="6EE7B7"/>
                </a:solidFill>
                <a:latin typeface="Segoe UI" pitchFamily="34" charset="0"/>
                <a:ea typeface="Segoe UI" pitchFamily="34" charset="-122"/>
                <a:cs typeface="Segoe UI" pitchFamily="34" charset="-120"/>
              </a:rPr>
              <a:t>PROJECT CANDIDATES</a:t>
            </a:r>
            <a:endParaRPr lang="en-US" sz="900" dirty="0"/>
          </a:p>
        </p:txBody>
      </p:sp>
      <p:sp>
        <p:nvSpPr>
          <p:cNvPr id="17" name="Text 15"/>
          <p:cNvSpPr/>
          <p:nvPr/>
        </p:nvSpPr>
        <p:spPr>
          <a:xfrm>
            <a:off x="914400" y="2852928"/>
            <a:ext cx="3429000" cy="1481328"/>
          </a:xfrm>
          <a:prstGeom prst="rect">
            <a:avLst/>
          </a:prstGeom>
          <a:noFill/>
          <a:ln/>
        </p:spPr>
        <p:txBody>
          <a:bodyPr wrap="square" rtlCol="0" anchor="ctr"/>
          <a:lstStyle/>
          <a:p>
            <a:pPr indent="0" marL="0">
              <a:lnSpc>
                <a:spcPct val="115000"/>
              </a:lnSpc>
              <a:buNone/>
            </a:pPr>
            <a:r>
              <a:rPr lang="en-US" sz="900" b="1" dirty="0">
                <a:solidFill>
                  <a:srgbClr val="FFFFFF"/>
                </a:solidFill>
                <a:latin typeface="Segoe UI" pitchFamily="34" charset="0"/>
                <a:ea typeface="Segoe UI" pitchFamily="34" charset="-122"/>
                <a:cs typeface="Segoe UI" pitchFamily="34" charset="-120"/>
              </a:rPr>
              <a:t>1. Shabaan Ramjan Satarkar
</a:t>
            </a:r>
            <a:pPr indent="0" marL="0">
              <a:lnSpc>
                <a:spcPct val="115000"/>
              </a:lnSpc>
              <a:buNone/>
            </a:pPr>
            <a:r>
              <a:rPr lang="en-US" sz="900" b="1" dirty="0">
                <a:solidFill>
                  <a:srgbClr val="FFFFFF"/>
                </a:solidFill>
                <a:latin typeface="Segoe UI" pitchFamily="34" charset="0"/>
                <a:ea typeface="Segoe UI" pitchFamily="34" charset="-122"/>
                <a:cs typeface="Segoe UI" pitchFamily="34" charset="-120"/>
              </a:rPr>
              <a:t>2. Aryan Sunil Mhetre
</a:t>
            </a:r>
            <a:pPr indent="0" marL="0">
              <a:lnSpc>
                <a:spcPct val="115000"/>
              </a:lnSpc>
              <a:buNone/>
            </a:pPr>
            <a:r>
              <a:rPr lang="en-US" sz="900" b="1" dirty="0">
                <a:solidFill>
                  <a:srgbClr val="FFFFFF"/>
                </a:solidFill>
                <a:latin typeface="Segoe UI" pitchFamily="34" charset="0"/>
                <a:ea typeface="Segoe UI" pitchFamily="34" charset="-122"/>
                <a:cs typeface="Segoe UI" pitchFamily="34" charset="-120"/>
              </a:rPr>
              <a:t>3. Om Rajeshwar Khade
</a:t>
            </a:r>
            <a:pPr indent="0" marL="0">
              <a:lnSpc>
                <a:spcPct val="115000"/>
              </a:lnSpc>
              <a:buNone/>
            </a:pPr>
            <a:r>
              <a:rPr lang="en-US" sz="900" b="1" dirty="0">
                <a:solidFill>
                  <a:srgbClr val="FFFFFF"/>
                </a:solidFill>
                <a:latin typeface="Segoe UI" pitchFamily="34" charset="0"/>
                <a:ea typeface="Segoe UI" pitchFamily="34" charset="-122"/>
                <a:cs typeface="Segoe UI" pitchFamily="34" charset="-120"/>
              </a:rPr>
              <a:t>4. Prathmesh Devappa Sargar
</a:t>
            </a:r>
            <a:pPr indent="0" marL="0">
              <a:lnSpc>
                <a:spcPct val="115000"/>
              </a:lnSpc>
              <a:buNone/>
            </a:pPr>
            <a:r>
              <a:rPr lang="en-US" sz="900" b="1" dirty="0">
                <a:solidFill>
                  <a:srgbClr val="A7F3D0"/>
                </a:solidFill>
                <a:latin typeface="Segoe UI" pitchFamily="34" charset="0"/>
                <a:ea typeface="Segoe UI" pitchFamily="34" charset="-122"/>
                <a:cs typeface="Segoe UI" pitchFamily="34" charset="-120"/>
              </a:rPr>
              <a:t>Degree: </a:t>
            </a:r>
            <a:pPr indent="0" marL="0">
              <a:lnSpc>
                <a:spcPct val="115000"/>
              </a:lnSpc>
              <a:buNone/>
            </a:pPr>
            <a:r>
              <a:rPr lang="en-US" sz="900" dirty="0">
                <a:solidFill>
                  <a:srgbClr val="E2E8F0"/>
                </a:solidFill>
                <a:latin typeface="Segoe UI" pitchFamily="34" charset="0"/>
                <a:ea typeface="Segoe UI" pitchFamily="34" charset="-122"/>
                <a:cs typeface="Segoe UI" pitchFamily="34" charset="-120"/>
              </a:rPr>
              <a:t>B.Tech in Computer Science &amp; Engineering</a:t>
            </a:r>
            <a:endParaRPr lang="en-US" sz="900" dirty="0"/>
          </a:p>
        </p:txBody>
      </p:sp>
      <p:sp>
        <p:nvSpPr>
          <p:cNvPr id="18" name="Shape 16"/>
          <p:cNvSpPr/>
          <p:nvPr/>
        </p:nvSpPr>
        <p:spPr>
          <a:xfrm>
            <a:off x="4617720" y="2542032"/>
            <a:ext cx="3794760" cy="1874520"/>
          </a:xfrm>
          <a:prstGeom prst="roundRect">
            <a:avLst>
              <a:gd name="adj" fmla="val 3902"/>
            </a:avLst>
          </a:prstGeom>
          <a:solidFill>
            <a:srgbClr val="0A3D29"/>
          </a:solidFill>
          <a:ln w="12700">
            <a:solidFill>
              <a:srgbClr val="10B981"/>
            </a:solidFill>
            <a:prstDash val="solid"/>
          </a:ln>
        </p:spPr>
      </p:sp>
      <p:sp>
        <p:nvSpPr>
          <p:cNvPr id="19" name="Text 17"/>
          <p:cNvSpPr/>
          <p:nvPr/>
        </p:nvSpPr>
        <p:spPr>
          <a:xfrm>
            <a:off x="4800600" y="2633472"/>
            <a:ext cx="3429000" cy="201168"/>
          </a:xfrm>
          <a:prstGeom prst="rect">
            <a:avLst/>
          </a:prstGeom>
          <a:noFill/>
          <a:ln/>
        </p:spPr>
        <p:txBody>
          <a:bodyPr wrap="square" rtlCol="0" anchor="ctr"/>
          <a:lstStyle/>
          <a:p>
            <a:pPr indent="0" marL="0">
              <a:buNone/>
            </a:pPr>
            <a:r>
              <a:rPr lang="en-US" sz="900" b="1" dirty="0">
                <a:solidFill>
                  <a:srgbClr val="6EE7B7"/>
                </a:solidFill>
                <a:latin typeface="Segoe UI" pitchFamily="34" charset="0"/>
                <a:ea typeface="Segoe UI" pitchFamily="34" charset="-122"/>
                <a:cs typeface="Segoe UI" pitchFamily="34" charset="-120"/>
              </a:rPr>
              <a:t>SUPERVISION &amp; INSTITUTION</a:t>
            </a:r>
            <a:endParaRPr lang="en-US" sz="900" dirty="0"/>
          </a:p>
        </p:txBody>
      </p:sp>
      <p:sp>
        <p:nvSpPr>
          <p:cNvPr id="20" name="Text 18"/>
          <p:cNvSpPr/>
          <p:nvPr/>
        </p:nvSpPr>
        <p:spPr>
          <a:xfrm>
            <a:off x="4800600" y="2852928"/>
            <a:ext cx="3429000" cy="1481328"/>
          </a:xfrm>
          <a:prstGeom prst="rect">
            <a:avLst/>
          </a:prstGeom>
          <a:noFill/>
          <a:ln/>
        </p:spPr>
        <p:txBody>
          <a:bodyPr wrap="square" rtlCol="0" anchor="ctr"/>
          <a:lstStyle/>
          <a:p>
            <a:pPr indent="0" marL="0">
              <a:lnSpc>
                <a:spcPct val="115000"/>
              </a:lnSpc>
              <a:buNone/>
            </a:pPr>
            <a:r>
              <a:rPr lang="en-US" sz="880" b="1" dirty="0">
                <a:solidFill>
                  <a:srgbClr val="A7F3D0"/>
                </a:solidFill>
                <a:latin typeface="Segoe UI" pitchFamily="34" charset="0"/>
                <a:ea typeface="Segoe UI" pitchFamily="34" charset="-122"/>
                <a:cs typeface="Segoe UI" pitchFamily="34" charset="-120"/>
              </a:rPr>
              <a:t>• Project Guide: </a:t>
            </a:r>
            <a:pPr indent="0" marL="0">
              <a:lnSpc>
                <a:spcPct val="115000"/>
              </a:lnSpc>
              <a:buNone/>
            </a:pPr>
            <a:r>
              <a:rPr lang="en-US" sz="880" b="1" dirty="0">
                <a:solidFill>
                  <a:srgbClr val="FFFFFF"/>
                </a:solidFill>
                <a:latin typeface="Segoe UI" pitchFamily="34" charset="0"/>
                <a:ea typeface="Segoe UI" pitchFamily="34" charset="-122"/>
                <a:cs typeface="Segoe UI" pitchFamily="34" charset="-120"/>
              </a:rPr>
              <a:t>Prof. G.V. Patil
</a:t>
            </a:r>
            <a:pPr indent="0" marL="0">
              <a:lnSpc>
                <a:spcPct val="115000"/>
              </a:lnSpc>
              <a:buNone/>
            </a:pPr>
            <a:r>
              <a:rPr lang="en-US" sz="880" b="1" dirty="0">
                <a:solidFill>
                  <a:srgbClr val="A7F3D0"/>
                </a:solidFill>
                <a:latin typeface="Segoe UI" pitchFamily="34" charset="0"/>
                <a:ea typeface="Segoe UI" pitchFamily="34" charset="-122"/>
                <a:cs typeface="Segoe UI" pitchFamily="34" charset="-120"/>
              </a:rPr>
              <a:t>• Department: </a:t>
            </a:r>
            <a:pPr indent="0" marL="0">
              <a:lnSpc>
                <a:spcPct val="115000"/>
              </a:lnSpc>
              <a:buNone/>
            </a:pPr>
            <a:r>
              <a:rPr lang="en-US" sz="880" dirty="0">
                <a:solidFill>
                  <a:srgbClr val="E2E8F0"/>
                </a:solidFill>
                <a:latin typeface="Segoe UI" pitchFamily="34" charset="0"/>
                <a:ea typeface="Segoe UI" pitchFamily="34" charset="-122"/>
                <a:cs typeface="Segoe UI" pitchFamily="34" charset="-120"/>
              </a:rPr>
              <a:t>Computer Science &amp; Engineering
</a:t>
            </a:r>
            <a:pPr indent="0" marL="0">
              <a:lnSpc>
                <a:spcPct val="115000"/>
              </a:lnSpc>
              <a:buNone/>
            </a:pPr>
            <a:r>
              <a:rPr lang="en-US" sz="880" b="1" dirty="0">
                <a:solidFill>
                  <a:srgbClr val="A7F3D0"/>
                </a:solidFill>
                <a:latin typeface="Segoe UI" pitchFamily="34" charset="0"/>
                <a:ea typeface="Segoe UI" pitchFamily="34" charset="-122"/>
                <a:cs typeface="Segoe UI" pitchFamily="34" charset="-120"/>
              </a:rPr>
              <a:t>• College: </a:t>
            </a:r>
            <a:pPr indent="0" marL="0">
              <a:lnSpc>
                <a:spcPct val="115000"/>
              </a:lnSpc>
              <a:buNone/>
            </a:pPr>
            <a:r>
              <a:rPr lang="en-US" sz="880" b="1" dirty="0">
                <a:solidFill>
                  <a:srgbClr val="FFFFFF"/>
                </a:solidFill>
                <a:latin typeface="Segoe UI" pitchFamily="34" charset="0"/>
                <a:ea typeface="Segoe UI" pitchFamily="34" charset="-122"/>
                <a:cs typeface="Segoe UI" pitchFamily="34" charset="-120"/>
              </a:rPr>
              <a:t>D.Y Patil College Of Engineering And Technology
</a:t>
            </a:r>
            <a:pPr indent="0" marL="0">
              <a:lnSpc>
                <a:spcPct val="115000"/>
              </a:lnSpc>
              <a:buNone/>
            </a:pPr>
            <a:r>
              <a:rPr lang="en-US" sz="880" b="1" dirty="0">
                <a:solidFill>
                  <a:srgbClr val="A7F3D0"/>
                </a:solidFill>
                <a:latin typeface="Segoe UI" pitchFamily="34" charset="0"/>
                <a:ea typeface="Segoe UI" pitchFamily="34" charset="-122"/>
                <a:cs typeface="Segoe UI" pitchFamily="34" charset="-120"/>
              </a:rPr>
              <a:t>• Academic Session: </a:t>
            </a:r>
            <a:pPr indent="0" marL="0">
              <a:lnSpc>
                <a:spcPct val="115000"/>
              </a:lnSpc>
              <a:buNone/>
            </a:pPr>
            <a:r>
              <a:rPr lang="en-US" sz="880" b="1" dirty="0">
                <a:solidFill>
                  <a:srgbClr val="6EE7B7"/>
                </a:solidFill>
                <a:latin typeface="Segoe UI" pitchFamily="34" charset="0"/>
                <a:ea typeface="Segoe UI" pitchFamily="34" charset="-122"/>
                <a:cs typeface="Segoe UI" pitchFamily="34" charset="-120"/>
              </a:rPr>
              <a:t>2026 – 2027</a:t>
            </a:r>
            <a:endParaRPr lang="en-US" sz="880" dirty="0"/>
          </a:p>
        </p:txBody>
      </p:sp>
      <p:sp>
        <p:nvSpPr>
          <p:cNvPr id="21" name="Text 19"/>
          <p:cNvSpPr/>
          <p:nvPr/>
        </p:nvSpPr>
        <p:spPr>
          <a:xfrm>
            <a:off x="731520" y="4553712"/>
            <a:ext cx="7680960" cy="228600"/>
          </a:xfrm>
          <a:prstGeom prst="rect">
            <a:avLst/>
          </a:prstGeom>
          <a:noFill/>
          <a:ln/>
        </p:spPr>
        <p:txBody>
          <a:bodyPr wrap="square" rtlCol="0" anchor="ctr"/>
          <a:lstStyle/>
          <a:p>
            <a:pPr algn="ctr" indent="0" marL="0">
              <a:buNone/>
            </a:pPr>
            <a:r>
              <a:rPr lang="en-US" sz="800" dirty="0">
                <a:solidFill>
                  <a:srgbClr val="94A3B8"/>
                </a:solidFill>
                <a:latin typeface="Segoe UI" pitchFamily="34" charset="0"/>
                <a:ea typeface="Segoe UI" pitchFamily="34" charset="-122"/>
                <a:cs typeface="Segoe UI" pitchFamily="34" charset="-120"/>
              </a:rPr>
              <a:t>React 18  •  Node.js  •  Express.js  •  MongoDB Atlas  •  JWT RBAC  •  Explainable Decision Support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PROBLEM ANALYSIS</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02/15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Problem Statement: Agricultural Supply Chain Inefficiencies</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Structural vulnerabilities across demand forecasting, farm-gate logistics, and price discovery</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481328"/>
            <a:ext cx="4846320" cy="3127248"/>
          </a:xfrm>
          <a:prstGeom prst="roundRect">
            <a:avLst>
              <a:gd name="adj" fmla="val 2339"/>
            </a:avLst>
          </a:prstGeom>
          <a:solidFill>
            <a:srgbClr val="FFFFFF"/>
          </a:solidFill>
          <a:ln w="12700">
            <a:solidFill>
              <a:srgbClr val="E2E8F0"/>
            </a:solidFill>
            <a:prstDash val="solid"/>
          </a:ln>
        </p:spPr>
      </p:sp>
      <p:sp>
        <p:nvSpPr>
          <p:cNvPr id="13" name="Text 11"/>
          <p:cNvSpPr/>
          <p:nvPr/>
        </p:nvSpPr>
        <p:spPr>
          <a:xfrm>
            <a:off x="914400" y="1627632"/>
            <a:ext cx="4480560" cy="2834640"/>
          </a:xfrm>
          <a:prstGeom prst="rect">
            <a:avLst/>
          </a:prstGeom>
          <a:noFill/>
          <a:ln/>
        </p:spPr>
        <p:txBody>
          <a:bodyPr wrap="square" rtlCol="0" anchor="ctr"/>
          <a:lstStyle/>
          <a:p>
            <a:pPr indent="0" marL="0">
              <a:lnSpc>
                <a:spcPct val="115000"/>
              </a:lnSpc>
              <a:buNone/>
            </a:pPr>
            <a:r>
              <a:rPr lang="en-US" sz="1000" b="1" dirty="0">
                <a:solidFill>
                  <a:srgbClr val="0F172A"/>
                </a:solidFill>
                <a:latin typeface="Segoe UI" pitchFamily="34" charset="0"/>
                <a:ea typeface="Segoe UI" pitchFamily="34" charset="-122"/>
                <a:cs typeface="Segoe UI" pitchFamily="34" charset="-120"/>
              </a:rPr>
              <a:t>• Demand Uncertainty: </a:t>
            </a:r>
            <a:pPr indent="0" marL="0">
              <a:lnSpc>
                <a:spcPct val="115000"/>
              </a:lnSpc>
              <a:buNone/>
            </a:pPr>
            <a:r>
              <a:rPr lang="en-US" sz="1000" dirty="0">
                <a:solidFill>
                  <a:srgbClr val="334155"/>
                </a:solidFill>
                <a:latin typeface="Segoe UI" pitchFamily="34" charset="0"/>
                <a:ea typeface="Segoe UI" pitchFamily="34" charset="-122"/>
                <a:cs typeface="Segoe UI" pitchFamily="34" charset="-120"/>
              </a:rPr>
              <a:t>Farmers cultivate crops based on intuition without commercial demand signals, leading to gluts and price crashes.
</a:t>
            </a:r>
            <a:pPr indent="0" marL="0">
              <a:lnSpc>
                <a:spcPct val="115000"/>
              </a:lnSpc>
              <a:buNone/>
            </a:pPr>
            <a:r>
              <a:rPr lang="en-US" sz="1000" b="1" dirty="0">
                <a:solidFill>
                  <a:srgbClr val="0F172A"/>
                </a:solidFill>
                <a:latin typeface="Segoe UI" pitchFamily="34" charset="0"/>
                <a:ea typeface="Segoe UI" pitchFamily="34" charset="-122"/>
                <a:cs typeface="Segoe UI" pitchFamily="34" charset="-120"/>
              </a:rPr>
              <a:t>• Buyer Discovery: </a:t>
            </a:r>
            <a:pPr indent="0" marL="0">
              <a:lnSpc>
                <a:spcPct val="115000"/>
              </a:lnSpc>
              <a:buNone/>
            </a:pPr>
            <a:r>
              <a:rPr lang="en-US" sz="1000" dirty="0">
                <a:solidFill>
                  <a:srgbClr val="334155"/>
                </a:solidFill>
                <a:latin typeface="Segoe UI" pitchFamily="34" charset="0"/>
                <a:ea typeface="Segoe UI" pitchFamily="34" charset="-122"/>
                <a:cs typeface="Segoe UI" pitchFamily="34" charset="-120"/>
              </a:rPr>
              <a:t>Producers struggle to access bulk buyers directly; 4–6 tiers of middlemen capture 35%–50% profit margins.
</a:t>
            </a:r>
            <a:pPr indent="0" marL="0">
              <a:lnSpc>
                <a:spcPct val="115000"/>
              </a:lnSpc>
              <a:buNone/>
            </a:pPr>
            <a:r>
              <a:rPr lang="en-US" sz="1000" b="1" dirty="0">
                <a:solidFill>
                  <a:srgbClr val="0F172A"/>
                </a:solidFill>
                <a:latin typeface="Segoe UI" pitchFamily="34" charset="0"/>
                <a:ea typeface="Segoe UI" pitchFamily="34" charset="-122"/>
                <a:cs typeface="Segoe UI" pitchFamily="34" charset="-120"/>
              </a:rPr>
              <a:t>• High Food Wastage: </a:t>
            </a:r>
            <a:pPr indent="0" marL="0">
              <a:lnSpc>
                <a:spcPct val="115000"/>
              </a:lnSpc>
              <a:buNone/>
            </a:pPr>
            <a:r>
              <a:rPr lang="en-US" sz="1000" dirty="0">
                <a:solidFill>
                  <a:srgbClr val="334155"/>
                </a:solidFill>
                <a:latin typeface="Segoe UI" pitchFamily="34" charset="0"/>
                <a:ea typeface="Segoe UI" pitchFamily="34" charset="-122"/>
                <a:cs typeface="Segoe UI" pitchFamily="34" charset="-120"/>
              </a:rPr>
              <a:t>Perishable commodities spoil rapidly without freshness monitoring or synchronized dispatch.
</a:t>
            </a:r>
            <a:pPr indent="0" marL="0">
              <a:lnSpc>
                <a:spcPct val="115000"/>
              </a:lnSpc>
              <a:buNone/>
            </a:pPr>
            <a:r>
              <a:rPr lang="en-US" sz="1000" b="1" dirty="0">
                <a:solidFill>
                  <a:srgbClr val="0F172A"/>
                </a:solidFill>
                <a:latin typeface="Segoe UI" pitchFamily="34" charset="0"/>
                <a:ea typeface="Segoe UI" pitchFamily="34" charset="-122"/>
                <a:cs typeface="Segoe UI" pitchFamily="34" charset="-120"/>
              </a:rPr>
              <a:t>• Transport Inefficiency: </a:t>
            </a:r>
            <a:pPr indent="0" marL="0">
              <a:lnSpc>
                <a:spcPct val="115000"/>
              </a:lnSpc>
              <a:buNone/>
            </a:pPr>
            <a:r>
              <a:rPr lang="en-US" sz="1000" dirty="0">
                <a:solidFill>
                  <a:srgbClr val="334155"/>
                </a:solidFill>
                <a:latin typeface="Segoe UI" pitchFamily="34" charset="0"/>
                <a:ea typeface="Segoe UI" pitchFamily="34" charset="-122"/>
                <a:cs typeface="Segoe UI" pitchFamily="34" charset="-120"/>
              </a:rPr>
              <a:t>Rural logistics is unorganized, lacks route coordination, and suffers from empty return legs.
</a:t>
            </a:r>
            <a:pPr indent="0" marL="0">
              <a:lnSpc>
                <a:spcPct val="115000"/>
              </a:lnSpc>
              <a:buNone/>
            </a:pPr>
            <a:r>
              <a:rPr lang="en-US" sz="1000" b="1" dirty="0">
                <a:solidFill>
                  <a:srgbClr val="0F172A"/>
                </a:solidFill>
                <a:latin typeface="Segoe UI" pitchFamily="34" charset="0"/>
                <a:ea typeface="Segoe UI" pitchFamily="34" charset="-122"/>
                <a:cs typeface="Segoe UI" pitchFamily="34" charset="-120"/>
              </a:rPr>
              <a:t>• Traceability Deficit: </a:t>
            </a:r>
            <a:pPr indent="0" marL="0">
              <a:lnSpc>
                <a:spcPct val="115000"/>
              </a:lnSpc>
              <a:buNone/>
            </a:pPr>
            <a:r>
              <a:rPr lang="en-US" sz="1000" dirty="0">
                <a:solidFill>
                  <a:srgbClr val="334155"/>
                </a:solidFill>
                <a:latin typeface="Segoe UI" pitchFamily="34" charset="0"/>
                <a:ea typeface="Segoe UI" pitchFamily="34" charset="-122"/>
                <a:cs typeface="Segoe UI" pitchFamily="34" charset="-120"/>
              </a:rPr>
              <a:t>No tamper-evident provenance or milestone records from farm gate to buyer warehouse.</a:t>
            </a:r>
            <a:endParaRPr lang="en-US" sz="1000" dirty="0"/>
          </a:p>
        </p:txBody>
      </p:sp>
      <p:sp>
        <p:nvSpPr>
          <p:cNvPr id="14" name="Shape 12"/>
          <p:cNvSpPr/>
          <p:nvPr/>
        </p:nvSpPr>
        <p:spPr>
          <a:xfrm>
            <a:off x="5760720" y="1481328"/>
            <a:ext cx="2651760" cy="3127248"/>
          </a:xfrm>
          <a:prstGeom prst="roundRect">
            <a:avLst>
              <a:gd name="adj" fmla="val 2759"/>
            </a:avLst>
          </a:prstGeom>
          <a:solidFill>
            <a:srgbClr val="FFFFFF"/>
          </a:solidFill>
          <a:ln w="12700">
            <a:solidFill>
              <a:srgbClr val="E2E8F0"/>
            </a:solidFill>
            <a:prstDash val="solid"/>
          </a:ln>
        </p:spPr>
      </p:sp>
      <p:sp>
        <p:nvSpPr>
          <p:cNvPr id="15" name="Shape 13"/>
          <p:cNvSpPr/>
          <p:nvPr/>
        </p:nvSpPr>
        <p:spPr>
          <a:xfrm>
            <a:off x="5897880" y="1627632"/>
            <a:ext cx="2377440" cy="256032"/>
          </a:xfrm>
          <a:prstGeom prst="roundRect">
            <a:avLst>
              <a:gd name="adj" fmla="val 17857"/>
            </a:avLst>
          </a:prstGeom>
          <a:solidFill>
            <a:srgbClr val="FEE2E2"/>
          </a:solidFill>
          <a:ln/>
        </p:spPr>
      </p:sp>
      <p:sp>
        <p:nvSpPr>
          <p:cNvPr id="16" name="Text 14"/>
          <p:cNvSpPr/>
          <p:nvPr/>
        </p:nvSpPr>
        <p:spPr>
          <a:xfrm>
            <a:off x="5897880" y="1627632"/>
            <a:ext cx="2377440" cy="256032"/>
          </a:xfrm>
          <a:prstGeom prst="rect">
            <a:avLst/>
          </a:prstGeom>
          <a:noFill/>
          <a:ln/>
        </p:spPr>
        <p:txBody>
          <a:bodyPr wrap="square" rtlCol="0" anchor="ctr"/>
          <a:lstStyle/>
          <a:p>
            <a:pPr algn="ctr" indent="0" marL="0">
              <a:buNone/>
            </a:pPr>
            <a:r>
              <a:rPr lang="en-US" sz="750" b="1" dirty="0">
                <a:solidFill>
                  <a:srgbClr val="DC2626"/>
                </a:solidFill>
                <a:latin typeface="Segoe UI" pitchFamily="34" charset="0"/>
                <a:ea typeface="Segoe UI" pitchFamily="34" charset="-122"/>
                <a:cs typeface="Segoe UI" pitchFamily="34" charset="-120"/>
              </a:rPr>
              <a:t>CURRENT FAILURE CYCLE</a:t>
            </a:r>
            <a:endParaRPr lang="en-US" sz="750" dirty="0"/>
          </a:p>
        </p:txBody>
      </p:sp>
      <p:sp>
        <p:nvSpPr>
          <p:cNvPr id="17" name="Shape 15"/>
          <p:cNvSpPr/>
          <p:nvPr/>
        </p:nvSpPr>
        <p:spPr>
          <a:xfrm>
            <a:off x="5897880" y="1993392"/>
            <a:ext cx="2377440" cy="402336"/>
          </a:xfrm>
          <a:prstGeom prst="roundRect">
            <a:avLst>
              <a:gd name="adj" fmla="val 11364"/>
            </a:avLst>
          </a:prstGeom>
          <a:solidFill>
            <a:srgbClr val="F8FAFC"/>
          </a:solidFill>
          <a:ln w="12700">
            <a:solidFill>
              <a:srgbClr val="E2E8F0"/>
            </a:solidFill>
            <a:prstDash val="solid"/>
          </a:ln>
        </p:spPr>
      </p:sp>
      <p:sp>
        <p:nvSpPr>
          <p:cNvPr id="18" name="Text 16"/>
          <p:cNvSpPr/>
          <p:nvPr/>
        </p:nvSpPr>
        <p:spPr>
          <a:xfrm>
            <a:off x="5943600" y="2029968"/>
            <a:ext cx="2286000" cy="182880"/>
          </a:xfrm>
          <a:prstGeom prst="rect">
            <a:avLst/>
          </a:prstGeom>
          <a:noFill/>
          <a:ln/>
        </p:spPr>
        <p:txBody>
          <a:bodyPr wrap="square" rtlCol="0" anchor="ctr"/>
          <a:lstStyle/>
          <a:p>
            <a:pPr algn="ctr" indent="0" marL="0">
              <a:buNone/>
            </a:pPr>
            <a:r>
              <a:rPr lang="en-US" sz="900" b="1" dirty="0">
                <a:solidFill>
                  <a:srgbClr val="0F172A"/>
                </a:solidFill>
                <a:latin typeface="Segoe UI" pitchFamily="34" charset="0"/>
                <a:ea typeface="Segoe UI" pitchFamily="34" charset="-122"/>
                <a:cs typeface="Segoe UI" pitchFamily="34" charset="-120"/>
              </a:rPr>
              <a:t>Speculative Sowing</a:t>
            </a:r>
            <a:endParaRPr lang="en-US" sz="900" dirty="0"/>
          </a:p>
        </p:txBody>
      </p:sp>
      <p:sp>
        <p:nvSpPr>
          <p:cNvPr id="19" name="Text 17"/>
          <p:cNvSpPr/>
          <p:nvPr/>
        </p:nvSpPr>
        <p:spPr>
          <a:xfrm>
            <a:off x="5943600" y="2212848"/>
            <a:ext cx="2286000" cy="146304"/>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Zero forward visibility</a:t>
            </a:r>
            <a:endParaRPr lang="en-US" sz="750" dirty="0"/>
          </a:p>
        </p:txBody>
      </p:sp>
      <p:sp>
        <p:nvSpPr>
          <p:cNvPr id="20" name="Shape 18"/>
          <p:cNvSpPr/>
          <p:nvPr/>
        </p:nvSpPr>
        <p:spPr>
          <a:xfrm>
            <a:off x="5897880" y="2487168"/>
            <a:ext cx="2377440" cy="402336"/>
          </a:xfrm>
          <a:prstGeom prst="roundRect">
            <a:avLst>
              <a:gd name="adj" fmla="val 11364"/>
            </a:avLst>
          </a:prstGeom>
          <a:solidFill>
            <a:srgbClr val="F8FAFC"/>
          </a:solidFill>
          <a:ln w="12700">
            <a:solidFill>
              <a:srgbClr val="E2E8F0"/>
            </a:solidFill>
            <a:prstDash val="solid"/>
          </a:ln>
        </p:spPr>
      </p:sp>
      <p:sp>
        <p:nvSpPr>
          <p:cNvPr id="21" name="Text 19"/>
          <p:cNvSpPr/>
          <p:nvPr/>
        </p:nvSpPr>
        <p:spPr>
          <a:xfrm>
            <a:off x="5943600" y="2523744"/>
            <a:ext cx="2286000" cy="182880"/>
          </a:xfrm>
          <a:prstGeom prst="rect">
            <a:avLst/>
          </a:prstGeom>
          <a:noFill/>
          <a:ln/>
        </p:spPr>
        <p:txBody>
          <a:bodyPr wrap="square" rtlCol="0" anchor="ctr"/>
          <a:lstStyle/>
          <a:p>
            <a:pPr algn="ctr" indent="0" marL="0">
              <a:buNone/>
            </a:pPr>
            <a:r>
              <a:rPr lang="en-US" sz="900" b="1" dirty="0">
                <a:solidFill>
                  <a:srgbClr val="0F172A"/>
                </a:solidFill>
                <a:latin typeface="Segoe UI" pitchFamily="34" charset="0"/>
                <a:ea typeface="Segoe UI" pitchFamily="34" charset="-122"/>
                <a:cs typeface="Segoe UI" pitchFamily="34" charset="-120"/>
              </a:rPr>
              <a:t>Opaque Middlemen</a:t>
            </a:r>
            <a:endParaRPr lang="en-US" sz="900" dirty="0"/>
          </a:p>
        </p:txBody>
      </p:sp>
      <p:sp>
        <p:nvSpPr>
          <p:cNvPr id="22" name="Text 20"/>
          <p:cNvSpPr/>
          <p:nvPr/>
        </p:nvSpPr>
        <p:spPr>
          <a:xfrm>
            <a:off x="5943600" y="2706624"/>
            <a:ext cx="2286000" cy="146304"/>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35-50% value extracted</a:t>
            </a:r>
            <a:endParaRPr lang="en-US" sz="750" dirty="0"/>
          </a:p>
        </p:txBody>
      </p:sp>
      <p:sp>
        <p:nvSpPr>
          <p:cNvPr id="23" name="Shape 21"/>
          <p:cNvSpPr/>
          <p:nvPr/>
        </p:nvSpPr>
        <p:spPr>
          <a:xfrm>
            <a:off x="5897880" y="2980944"/>
            <a:ext cx="2377440" cy="402336"/>
          </a:xfrm>
          <a:prstGeom prst="roundRect">
            <a:avLst>
              <a:gd name="adj" fmla="val 11364"/>
            </a:avLst>
          </a:prstGeom>
          <a:solidFill>
            <a:srgbClr val="F8FAFC"/>
          </a:solidFill>
          <a:ln w="12700">
            <a:solidFill>
              <a:srgbClr val="E2E8F0"/>
            </a:solidFill>
            <a:prstDash val="solid"/>
          </a:ln>
        </p:spPr>
      </p:sp>
      <p:sp>
        <p:nvSpPr>
          <p:cNvPr id="24" name="Text 22"/>
          <p:cNvSpPr/>
          <p:nvPr/>
        </p:nvSpPr>
        <p:spPr>
          <a:xfrm>
            <a:off x="5943600" y="3017520"/>
            <a:ext cx="2286000" cy="182880"/>
          </a:xfrm>
          <a:prstGeom prst="rect">
            <a:avLst/>
          </a:prstGeom>
          <a:noFill/>
          <a:ln/>
        </p:spPr>
        <p:txBody>
          <a:bodyPr wrap="square" rtlCol="0" anchor="ctr"/>
          <a:lstStyle/>
          <a:p>
            <a:pPr algn="ctr" indent="0" marL="0">
              <a:buNone/>
            </a:pPr>
            <a:r>
              <a:rPr lang="en-US" sz="900" b="1" dirty="0">
                <a:solidFill>
                  <a:srgbClr val="0F172A"/>
                </a:solidFill>
                <a:latin typeface="Segoe UI" pitchFamily="34" charset="0"/>
                <a:ea typeface="Segoe UI" pitchFamily="34" charset="-122"/>
                <a:cs typeface="Segoe UI" pitchFamily="34" charset="-120"/>
              </a:rPr>
              <a:t>Post-Harvest Spoilage</a:t>
            </a:r>
            <a:endParaRPr lang="en-US" sz="900" dirty="0"/>
          </a:p>
        </p:txBody>
      </p:sp>
      <p:sp>
        <p:nvSpPr>
          <p:cNvPr id="25" name="Text 23"/>
          <p:cNvSpPr/>
          <p:nvPr/>
        </p:nvSpPr>
        <p:spPr>
          <a:xfrm>
            <a:off x="5943600" y="3200400"/>
            <a:ext cx="2286000" cy="146304"/>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Perishability losses</a:t>
            </a:r>
            <a:endParaRPr lang="en-US" sz="750" dirty="0"/>
          </a:p>
        </p:txBody>
      </p:sp>
      <p:sp>
        <p:nvSpPr>
          <p:cNvPr id="26" name="Shape 24"/>
          <p:cNvSpPr/>
          <p:nvPr/>
        </p:nvSpPr>
        <p:spPr>
          <a:xfrm>
            <a:off x="5897880" y="3474720"/>
            <a:ext cx="2377440" cy="402336"/>
          </a:xfrm>
          <a:prstGeom prst="roundRect">
            <a:avLst>
              <a:gd name="adj" fmla="val 11364"/>
            </a:avLst>
          </a:prstGeom>
          <a:solidFill>
            <a:srgbClr val="F8FAFC"/>
          </a:solidFill>
          <a:ln w="12700">
            <a:solidFill>
              <a:srgbClr val="E2E8F0"/>
            </a:solidFill>
            <a:prstDash val="solid"/>
          </a:ln>
        </p:spPr>
      </p:sp>
      <p:sp>
        <p:nvSpPr>
          <p:cNvPr id="27" name="Text 25"/>
          <p:cNvSpPr/>
          <p:nvPr/>
        </p:nvSpPr>
        <p:spPr>
          <a:xfrm>
            <a:off x="5943600" y="3511296"/>
            <a:ext cx="2286000" cy="182880"/>
          </a:xfrm>
          <a:prstGeom prst="rect">
            <a:avLst/>
          </a:prstGeom>
          <a:noFill/>
          <a:ln/>
        </p:spPr>
        <p:txBody>
          <a:bodyPr wrap="square" rtlCol="0" anchor="ctr"/>
          <a:lstStyle/>
          <a:p>
            <a:pPr algn="ctr" indent="0" marL="0">
              <a:buNone/>
            </a:pPr>
            <a:r>
              <a:rPr lang="en-US" sz="900" b="1" dirty="0">
                <a:solidFill>
                  <a:srgbClr val="0F172A"/>
                </a:solidFill>
                <a:latin typeface="Segoe UI" pitchFamily="34" charset="0"/>
                <a:ea typeface="Segoe UI" pitchFamily="34" charset="-122"/>
                <a:cs typeface="Segoe UI" pitchFamily="34" charset="-120"/>
              </a:rPr>
              <a:t>Unplanned Transport</a:t>
            </a:r>
            <a:endParaRPr lang="en-US" sz="900" dirty="0"/>
          </a:p>
        </p:txBody>
      </p:sp>
      <p:sp>
        <p:nvSpPr>
          <p:cNvPr id="28" name="Text 26"/>
          <p:cNvSpPr/>
          <p:nvPr/>
        </p:nvSpPr>
        <p:spPr>
          <a:xfrm>
            <a:off x="5943600" y="3694176"/>
            <a:ext cx="2286000" cy="146304"/>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Delayed pickup &amp; high cost</a:t>
            </a:r>
            <a:endParaRPr lang="en-US" sz="750" dirty="0"/>
          </a:p>
        </p:txBody>
      </p:sp>
      <p:sp>
        <p:nvSpPr>
          <p:cNvPr id="29" name="Shape 27"/>
          <p:cNvSpPr/>
          <p:nvPr/>
        </p:nvSpPr>
        <p:spPr>
          <a:xfrm>
            <a:off x="5897880" y="3968496"/>
            <a:ext cx="2377440" cy="402336"/>
          </a:xfrm>
          <a:prstGeom prst="roundRect">
            <a:avLst>
              <a:gd name="adj" fmla="val 11364"/>
            </a:avLst>
          </a:prstGeom>
          <a:solidFill>
            <a:srgbClr val="F8FAFC"/>
          </a:solidFill>
          <a:ln w="12700">
            <a:solidFill>
              <a:srgbClr val="E2E8F0"/>
            </a:solidFill>
            <a:prstDash val="solid"/>
          </a:ln>
        </p:spPr>
      </p:sp>
      <p:sp>
        <p:nvSpPr>
          <p:cNvPr id="30" name="Text 28"/>
          <p:cNvSpPr/>
          <p:nvPr/>
        </p:nvSpPr>
        <p:spPr>
          <a:xfrm>
            <a:off x="5943600" y="4005072"/>
            <a:ext cx="2286000" cy="182880"/>
          </a:xfrm>
          <a:prstGeom prst="rect">
            <a:avLst/>
          </a:prstGeom>
          <a:noFill/>
          <a:ln/>
        </p:spPr>
        <p:txBody>
          <a:bodyPr wrap="square" rtlCol="0" anchor="ctr"/>
          <a:lstStyle/>
          <a:p>
            <a:pPr algn="ctr" indent="0" marL="0">
              <a:buNone/>
            </a:pPr>
            <a:r>
              <a:rPr lang="en-US" sz="900" b="1" dirty="0">
                <a:solidFill>
                  <a:srgbClr val="0F172A"/>
                </a:solidFill>
                <a:latin typeface="Segoe UI" pitchFamily="34" charset="0"/>
                <a:ea typeface="Segoe UI" pitchFamily="34" charset="-122"/>
                <a:cs typeface="Segoe UI" pitchFamily="34" charset="-120"/>
              </a:rPr>
              <a:t>Zero Traceability</a:t>
            </a:r>
            <a:endParaRPr lang="en-US" sz="900" dirty="0"/>
          </a:p>
        </p:txBody>
      </p:sp>
      <p:sp>
        <p:nvSpPr>
          <p:cNvPr id="31" name="Text 29"/>
          <p:cNvSpPr/>
          <p:nvPr/>
        </p:nvSpPr>
        <p:spPr>
          <a:xfrm>
            <a:off x="5943600" y="4187952"/>
            <a:ext cx="2286000" cy="146304"/>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Opaque provenance history</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PROPOSED ARCHITECTURE</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03/15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Proposed Solution: The AgriFlow AI Platform Paradigm</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A closed-loop, data-driven B2B ecosystem connecting supply, demand, logistics, and intelligence</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3200400" y="1508760"/>
            <a:ext cx="2743200" cy="1234440"/>
          </a:xfrm>
          <a:prstGeom prst="roundRect">
            <a:avLst>
              <a:gd name="adj" fmla="val 7407"/>
            </a:avLst>
          </a:prstGeom>
          <a:solidFill>
            <a:srgbClr val="F0FDF4"/>
          </a:solidFill>
          <a:ln w="25400">
            <a:solidFill>
              <a:srgbClr val="0D6938"/>
            </a:solidFill>
            <a:prstDash val="solid"/>
          </a:ln>
        </p:spPr>
      </p:sp>
      <p:sp>
        <p:nvSpPr>
          <p:cNvPr id="13" name="Text 11"/>
          <p:cNvSpPr/>
          <p:nvPr/>
        </p:nvSpPr>
        <p:spPr>
          <a:xfrm>
            <a:off x="3291840" y="1645920"/>
            <a:ext cx="2560320" cy="274320"/>
          </a:xfrm>
          <a:prstGeom prst="rect">
            <a:avLst/>
          </a:prstGeom>
          <a:noFill/>
          <a:ln/>
        </p:spPr>
        <p:txBody>
          <a:bodyPr wrap="square" rtlCol="0" anchor="ctr"/>
          <a:lstStyle/>
          <a:p>
            <a:pPr algn="ctr" indent="0" marL="0">
              <a:buNone/>
            </a:pPr>
            <a:r>
              <a:rPr lang="en-US" sz="1100" b="1" dirty="0">
                <a:solidFill>
                  <a:srgbClr val="064E2B"/>
                </a:solidFill>
                <a:latin typeface="Segoe UI" pitchFamily="34" charset="0"/>
                <a:ea typeface="Segoe UI" pitchFamily="34" charset="-122"/>
                <a:cs typeface="Segoe UI" pitchFamily="34" charset="-120"/>
              </a:rPr>
              <a:t>AGRIFLOW AI CORE PLATFORM</a:t>
            </a:r>
            <a:endParaRPr lang="en-US" sz="1100" dirty="0"/>
          </a:p>
        </p:txBody>
      </p:sp>
      <p:sp>
        <p:nvSpPr>
          <p:cNvPr id="14" name="Text 12"/>
          <p:cNvSpPr/>
          <p:nvPr/>
        </p:nvSpPr>
        <p:spPr>
          <a:xfrm>
            <a:off x="3291840" y="1965960"/>
            <a:ext cx="2560320" cy="685800"/>
          </a:xfrm>
          <a:prstGeom prst="rect">
            <a:avLst/>
          </a:prstGeom>
          <a:noFill/>
          <a:ln/>
        </p:spPr>
        <p:txBody>
          <a:bodyPr wrap="square" rtlCol="0" anchor="ctr"/>
          <a:lstStyle/>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 Multi-Criteria Matching Engine</a:t>
            </a:r>
            <a:endParaRPr lang="en-US" sz="850" dirty="0"/>
          </a:p>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 Demand Trend Aggregator</a:t>
            </a:r>
            <a:endParaRPr lang="en-US" sz="850" dirty="0"/>
          </a:p>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 Shelf-Life Decay Monitor</a:t>
            </a:r>
            <a:endParaRPr lang="en-US" sz="850" dirty="0"/>
          </a:p>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 Farm-Gate Route Planner</a:t>
            </a:r>
            <a:endParaRPr lang="en-US" sz="850" dirty="0"/>
          </a:p>
        </p:txBody>
      </p:sp>
      <p:sp>
        <p:nvSpPr>
          <p:cNvPr id="15" name="Shape 13"/>
          <p:cNvSpPr/>
          <p:nvPr/>
        </p:nvSpPr>
        <p:spPr>
          <a:xfrm>
            <a:off x="731520" y="1691640"/>
            <a:ext cx="1828800" cy="868680"/>
          </a:xfrm>
          <a:prstGeom prst="roundRect">
            <a:avLst>
              <a:gd name="adj" fmla="val 8421"/>
            </a:avLst>
          </a:prstGeom>
          <a:solidFill>
            <a:srgbClr val="FFFFFF"/>
          </a:solidFill>
          <a:ln w="15240">
            <a:solidFill>
              <a:srgbClr val="CBD5E1"/>
            </a:solidFill>
            <a:prstDash val="solid"/>
          </a:ln>
        </p:spPr>
      </p:sp>
      <p:sp>
        <p:nvSpPr>
          <p:cNvPr id="16" name="Text 14"/>
          <p:cNvSpPr/>
          <p:nvPr/>
        </p:nvSpPr>
        <p:spPr>
          <a:xfrm>
            <a:off x="731520" y="1783080"/>
            <a:ext cx="1828800" cy="274320"/>
          </a:xfrm>
          <a:prstGeom prst="rect">
            <a:avLst/>
          </a:prstGeom>
          <a:noFill/>
          <a:ln/>
        </p:spPr>
        <p:txBody>
          <a:bodyPr wrap="square" rtlCol="0" anchor="ctr"/>
          <a:lstStyle/>
          <a:p>
            <a:pPr algn="ctr" indent="0" marL="0">
              <a:buNone/>
            </a:pPr>
            <a:r>
              <a:rPr lang="en-US" sz="1100" b="1" dirty="0">
                <a:solidFill>
                  <a:srgbClr val="0D6938"/>
                </a:solidFill>
                <a:latin typeface="Segoe UI" pitchFamily="34" charset="0"/>
                <a:ea typeface="Segoe UI" pitchFamily="34" charset="-122"/>
                <a:cs typeface="Segoe UI" pitchFamily="34" charset="-120"/>
              </a:rPr>
              <a:t>🌾 FARMER</a:t>
            </a:r>
            <a:endParaRPr lang="en-US" sz="1100" dirty="0"/>
          </a:p>
        </p:txBody>
      </p:sp>
      <p:sp>
        <p:nvSpPr>
          <p:cNvPr id="17" name="Text 15"/>
          <p:cNvSpPr/>
          <p:nvPr/>
        </p:nvSpPr>
        <p:spPr>
          <a:xfrm>
            <a:off x="731520" y="2103120"/>
            <a:ext cx="1828800" cy="320040"/>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Crop Inventory &amp; Staging</a:t>
            </a:r>
            <a:endParaRPr lang="en-US" sz="850" dirty="0"/>
          </a:p>
        </p:txBody>
      </p:sp>
      <p:sp>
        <p:nvSpPr>
          <p:cNvPr id="18" name="Text 16"/>
          <p:cNvSpPr/>
          <p:nvPr/>
        </p:nvSpPr>
        <p:spPr>
          <a:xfrm>
            <a:off x="2560320" y="2011680"/>
            <a:ext cx="640080" cy="274320"/>
          </a:xfrm>
          <a:prstGeom prst="rect">
            <a:avLst/>
          </a:prstGeom>
          <a:noFill/>
          <a:ln/>
        </p:spPr>
        <p:txBody>
          <a:bodyPr wrap="square" rtlCol="0" anchor="ctr"/>
          <a:lstStyle/>
          <a:p>
            <a:pPr algn="ctr" indent="0" marL="0">
              <a:buNone/>
            </a:pPr>
            <a:r>
              <a:rPr lang="en-US" sz="1100" b="1" dirty="0">
                <a:solidFill>
                  <a:srgbClr val="0D6938"/>
                </a:solidFill>
              </a:rPr>
              <a:t>◄──────►</a:t>
            </a:r>
            <a:endParaRPr lang="en-US" sz="1100" dirty="0"/>
          </a:p>
        </p:txBody>
      </p:sp>
      <p:sp>
        <p:nvSpPr>
          <p:cNvPr id="19" name="Shape 17"/>
          <p:cNvSpPr/>
          <p:nvPr/>
        </p:nvSpPr>
        <p:spPr>
          <a:xfrm>
            <a:off x="6583680" y="1691640"/>
            <a:ext cx="1828800" cy="868680"/>
          </a:xfrm>
          <a:prstGeom prst="roundRect">
            <a:avLst>
              <a:gd name="adj" fmla="val 8421"/>
            </a:avLst>
          </a:prstGeom>
          <a:solidFill>
            <a:srgbClr val="FFFFFF"/>
          </a:solidFill>
          <a:ln w="15240">
            <a:solidFill>
              <a:srgbClr val="CBD5E1"/>
            </a:solidFill>
            <a:prstDash val="solid"/>
          </a:ln>
        </p:spPr>
      </p:sp>
      <p:sp>
        <p:nvSpPr>
          <p:cNvPr id="20" name="Text 18"/>
          <p:cNvSpPr/>
          <p:nvPr/>
        </p:nvSpPr>
        <p:spPr>
          <a:xfrm>
            <a:off x="6583680" y="1783080"/>
            <a:ext cx="1828800" cy="274320"/>
          </a:xfrm>
          <a:prstGeom prst="rect">
            <a:avLst/>
          </a:prstGeom>
          <a:noFill/>
          <a:ln/>
        </p:spPr>
        <p:txBody>
          <a:bodyPr wrap="square" rtlCol="0" anchor="ctr"/>
          <a:lstStyle/>
          <a:p>
            <a:pPr algn="ctr" indent="0" marL="0">
              <a:buNone/>
            </a:pPr>
            <a:r>
              <a:rPr lang="en-US" sz="1100" b="1" dirty="0">
                <a:solidFill>
                  <a:srgbClr val="0284C7"/>
                </a:solidFill>
                <a:latin typeface="Segoe UI" pitchFamily="34" charset="0"/>
                <a:ea typeface="Segoe UI" pitchFamily="34" charset="-122"/>
                <a:cs typeface="Segoe UI" pitchFamily="34" charset="-120"/>
              </a:rPr>
              <a:t>🏢 BUYER</a:t>
            </a:r>
            <a:endParaRPr lang="en-US" sz="1100" dirty="0"/>
          </a:p>
        </p:txBody>
      </p:sp>
      <p:sp>
        <p:nvSpPr>
          <p:cNvPr id="21" name="Text 19"/>
          <p:cNvSpPr/>
          <p:nvPr/>
        </p:nvSpPr>
        <p:spPr>
          <a:xfrm>
            <a:off x="6583680" y="2103120"/>
            <a:ext cx="1828800" cy="320040"/>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Demands &amp; Bookings</a:t>
            </a:r>
            <a:endParaRPr lang="en-US" sz="850" dirty="0"/>
          </a:p>
        </p:txBody>
      </p:sp>
      <p:sp>
        <p:nvSpPr>
          <p:cNvPr id="22" name="Text 20"/>
          <p:cNvSpPr/>
          <p:nvPr/>
        </p:nvSpPr>
        <p:spPr>
          <a:xfrm>
            <a:off x="5943600" y="2011680"/>
            <a:ext cx="640080" cy="274320"/>
          </a:xfrm>
          <a:prstGeom prst="rect">
            <a:avLst/>
          </a:prstGeom>
          <a:noFill/>
          <a:ln/>
        </p:spPr>
        <p:txBody>
          <a:bodyPr wrap="square" rtlCol="0" anchor="ctr"/>
          <a:lstStyle/>
          <a:p>
            <a:pPr algn="ctr" indent="0" marL="0">
              <a:buNone/>
            </a:pPr>
            <a:r>
              <a:rPr lang="en-US" sz="1100" b="1" dirty="0">
                <a:solidFill>
                  <a:srgbClr val="0284C7"/>
                </a:solidFill>
              </a:rPr>
              <a:t>◄──────►</a:t>
            </a:r>
            <a:endParaRPr lang="en-US" sz="1100" dirty="0"/>
          </a:p>
        </p:txBody>
      </p:sp>
      <p:sp>
        <p:nvSpPr>
          <p:cNvPr id="23" name="Shape 21"/>
          <p:cNvSpPr/>
          <p:nvPr/>
        </p:nvSpPr>
        <p:spPr>
          <a:xfrm>
            <a:off x="1554480" y="2971800"/>
            <a:ext cx="2834640" cy="685800"/>
          </a:xfrm>
          <a:prstGeom prst="roundRect">
            <a:avLst>
              <a:gd name="adj" fmla="val 10667"/>
            </a:avLst>
          </a:prstGeom>
          <a:solidFill>
            <a:srgbClr val="FFFFFF"/>
          </a:solidFill>
          <a:ln w="15240">
            <a:solidFill>
              <a:srgbClr val="CBD5E1"/>
            </a:solidFill>
            <a:prstDash val="solid"/>
          </a:ln>
        </p:spPr>
      </p:sp>
      <p:sp>
        <p:nvSpPr>
          <p:cNvPr id="24" name="Text 22"/>
          <p:cNvSpPr/>
          <p:nvPr/>
        </p:nvSpPr>
        <p:spPr>
          <a:xfrm>
            <a:off x="1554480" y="3035808"/>
            <a:ext cx="2834640" cy="228600"/>
          </a:xfrm>
          <a:prstGeom prst="rect">
            <a:avLst/>
          </a:prstGeom>
          <a:noFill/>
          <a:ln/>
        </p:spPr>
        <p:txBody>
          <a:bodyPr wrap="square" rtlCol="0" anchor="ctr"/>
          <a:lstStyle/>
          <a:p>
            <a:pPr algn="ctr" indent="0" marL="0">
              <a:buNone/>
            </a:pPr>
            <a:r>
              <a:rPr lang="en-US" sz="950" b="1" dirty="0">
                <a:solidFill>
                  <a:srgbClr val="D97706"/>
                </a:solidFill>
                <a:latin typeface="Segoe UI" pitchFamily="34" charset="0"/>
                <a:ea typeface="Segoe UI" pitchFamily="34" charset="-122"/>
                <a:cs typeface="Segoe UI" pitchFamily="34" charset="-120"/>
              </a:rPr>
              <a:t>🚛 TRANSPORTER (LOGISTICS)</a:t>
            </a:r>
            <a:endParaRPr lang="en-US" sz="950" dirty="0"/>
          </a:p>
        </p:txBody>
      </p:sp>
      <p:sp>
        <p:nvSpPr>
          <p:cNvPr id="25" name="Text 23"/>
          <p:cNvSpPr/>
          <p:nvPr/>
        </p:nvSpPr>
        <p:spPr>
          <a:xfrm>
            <a:off x="1554480" y="3273552"/>
            <a:ext cx="2834640" cy="274320"/>
          </a:xfrm>
          <a:prstGeom prst="rect">
            <a:avLst/>
          </a:prstGeom>
          <a:noFill/>
          <a:ln/>
        </p:spPr>
        <p:txBody>
          <a:bodyPr wrap="square" rtlCol="0" anchor="ctr"/>
          <a:lstStyle/>
          <a:p>
            <a:pPr algn="ctr" indent="0" marL="0">
              <a:buNone/>
            </a:pPr>
            <a:r>
              <a:rPr lang="en-US" sz="800" dirty="0">
                <a:solidFill>
                  <a:srgbClr val="64748B"/>
                </a:solidFill>
                <a:latin typeface="Segoe UI" pitchFamily="34" charset="0"/>
                <a:ea typeface="Segoe UI" pitchFamily="34" charset="-122"/>
                <a:cs typeface="Segoe UI" pitchFamily="34" charset="-120"/>
              </a:rPr>
              <a:t>Pickup Requests &amp; Route Optimization</a:t>
            </a:r>
            <a:endParaRPr lang="en-US" sz="800" dirty="0"/>
          </a:p>
        </p:txBody>
      </p:sp>
      <p:sp>
        <p:nvSpPr>
          <p:cNvPr id="26" name="Text 24"/>
          <p:cNvSpPr/>
          <p:nvPr/>
        </p:nvSpPr>
        <p:spPr>
          <a:xfrm>
            <a:off x="2834640" y="2743200"/>
            <a:ext cx="365760" cy="228600"/>
          </a:xfrm>
          <a:prstGeom prst="rect">
            <a:avLst/>
          </a:prstGeom>
          <a:noFill/>
          <a:ln/>
        </p:spPr>
        <p:txBody>
          <a:bodyPr wrap="square" rtlCol="0" anchor="ctr"/>
          <a:lstStyle/>
          <a:p>
            <a:pPr algn="ctr" indent="0" marL="0">
              <a:buNone/>
            </a:pPr>
            <a:r>
              <a:rPr lang="en-US" sz="900" b="1" dirty="0">
                <a:solidFill>
                  <a:srgbClr val="0D6938"/>
                </a:solidFill>
              </a:rPr>
              <a:t>▲</a:t>
            </a:r>
            <a:endParaRPr lang="en-US" sz="900" dirty="0"/>
          </a:p>
          <a:p>
            <a:pPr algn="ctr" indent="0" marL="0">
              <a:buNone/>
            </a:pPr>
            <a:r>
              <a:rPr lang="en-US" sz="900" b="1" dirty="0">
                <a:solidFill>
                  <a:srgbClr val="0D6938"/>
                </a:solidFill>
              </a:rPr>
              <a:t>│</a:t>
            </a:r>
            <a:endParaRPr lang="en-US" sz="900" dirty="0"/>
          </a:p>
        </p:txBody>
      </p:sp>
      <p:sp>
        <p:nvSpPr>
          <p:cNvPr id="27" name="Shape 25"/>
          <p:cNvSpPr/>
          <p:nvPr/>
        </p:nvSpPr>
        <p:spPr>
          <a:xfrm>
            <a:off x="4754880" y="2971800"/>
            <a:ext cx="2834640" cy="685800"/>
          </a:xfrm>
          <a:prstGeom prst="roundRect">
            <a:avLst>
              <a:gd name="adj" fmla="val 10667"/>
            </a:avLst>
          </a:prstGeom>
          <a:solidFill>
            <a:srgbClr val="FFFFFF"/>
          </a:solidFill>
          <a:ln w="15240">
            <a:solidFill>
              <a:srgbClr val="CBD5E1"/>
            </a:solidFill>
            <a:prstDash val="solid"/>
          </a:ln>
        </p:spPr>
      </p:sp>
      <p:sp>
        <p:nvSpPr>
          <p:cNvPr id="28" name="Text 26"/>
          <p:cNvSpPr/>
          <p:nvPr/>
        </p:nvSpPr>
        <p:spPr>
          <a:xfrm>
            <a:off x="4754880" y="3035808"/>
            <a:ext cx="2834640" cy="228600"/>
          </a:xfrm>
          <a:prstGeom prst="rect">
            <a:avLst/>
          </a:prstGeom>
          <a:noFill/>
          <a:ln/>
        </p:spPr>
        <p:txBody>
          <a:bodyPr wrap="square" rtlCol="0" anchor="ctr"/>
          <a:lstStyle/>
          <a:p>
            <a:pPr algn="ctr" indent="0" marL="0">
              <a:buNone/>
            </a:pPr>
            <a:r>
              <a:rPr lang="en-US" sz="950" b="1" dirty="0">
                <a:solidFill>
                  <a:srgbClr val="7C3AED"/>
                </a:solidFill>
                <a:latin typeface="Segoe UI" pitchFamily="34" charset="0"/>
                <a:ea typeface="Segoe UI" pitchFamily="34" charset="-122"/>
                <a:cs typeface="Segoe UI" pitchFamily="34" charset="-120"/>
              </a:rPr>
              <a:t>⚙️ SYSTEM ADMINISTRATOR</a:t>
            </a:r>
            <a:endParaRPr lang="en-US" sz="950" dirty="0"/>
          </a:p>
        </p:txBody>
      </p:sp>
      <p:sp>
        <p:nvSpPr>
          <p:cNvPr id="29" name="Text 27"/>
          <p:cNvSpPr/>
          <p:nvPr/>
        </p:nvSpPr>
        <p:spPr>
          <a:xfrm>
            <a:off x="4754880" y="3273552"/>
            <a:ext cx="2834640" cy="274320"/>
          </a:xfrm>
          <a:prstGeom prst="rect">
            <a:avLst/>
          </a:prstGeom>
          <a:noFill/>
          <a:ln/>
        </p:spPr>
        <p:txBody>
          <a:bodyPr wrap="square" rtlCol="0" anchor="ctr"/>
          <a:lstStyle/>
          <a:p>
            <a:pPr algn="ctr" indent="0" marL="0">
              <a:buNone/>
            </a:pPr>
            <a:r>
              <a:rPr lang="en-US" sz="800" dirty="0">
                <a:solidFill>
                  <a:srgbClr val="64748B"/>
                </a:solidFill>
                <a:latin typeface="Segoe UI" pitchFamily="34" charset="0"/>
                <a:ea typeface="Segoe UI" pitchFamily="34" charset="-122"/>
                <a:cs typeface="Segoe UI" pitchFamily="34" charset="-120"/>
              </a:rPr>
              <a:t>KYC Verification, Audit &amp; Traceability</a:t>
            </a:r>
            <a:endParaRPr lang="en-US" sz="800" dirty="0"/>
          </a:p>
        </p:txBody>
      </p:sp>
      <p:sp>
        <p:nvSpPr>
          <p:cNvPr id="30" name="Text 28"/>
          <p:cNvSpPr/>
          <p:nvPr/>
        </p:nvSpPr>
        <p:spPr>
          <a:xfrm>
            <a:off x="5943600" y="2743200"/>
            <a:ext cx="365760" cy="228600"/>
          </a:xfrm>
          <a:prstGeom prst="rect">
            <a:avLst/>
          </a:prstGeom>
          <a:noFill/>
          <a:ln/>
        </p:spPr>
        <p:txBody>
          <a:bodyPr wrap="square" rtlCol="0" anchor="ctr"/>
          <a:lstStyle/>
          <a:p>
            <a:pPr algn="ctr" indent="0" marL="0">
              <a:buNone/>
            </a:pPr>
            <a:r>
              <a:rPr lang="en-US" sz="900" b="1" dirty="0">
                <a:solidFill>
                  <a:srgbClr val="0284C7"/>
                </a:solidFill>
              </a:rPr>
              <a:t>▲</a:t>
            </a:r>
            <a:endParaRPr lang="en-US" sz="900" dirty="0"/>
          </a:p>
          <a:p>
            <a:pPr algn="ctr" indent="0" marL="0">
              <a:buNone/>
            </a:pPr>
            <a:r>
              <a:rPr lang="en-US" sz="900" b="1" dirty="0">
                <a:solidFill>
                  <a:srgbClr val="0284C7"/>
                </a:solidFill>
              </a:rPr>
              <a:t>│</a:t>
            </a:r>
            <a:endParaRPr lang="en-US" sz="900" dirty="0"/>
          </a:p>
        </p:txBody>
      </p:sp>
      <p:sp>
        <p:nvSpPr>
          <p:cNvPr id="31" name="Shape 29"/>
          <p:cNvSpPr/>
          <p:nvPr/>
        </p:nvSpPr>
        <p:spPr>
          <a:xfrm>
            <a:off x="731520" y="3822192"/>
            <a:ext cx="2414016" cy="804672"/>
          </a:xfrm>
          <a:prstGeom prst="roundRect">
            <a:avLst>
              <a:gd name="adj" fmla="val 6818"/>
            </a:avLst>
          </a:prstGeom>
          <a:solidFill>
            <a:srgbClr val="FFFFFF"/>
          </a:solidFill>
          <a:ln w="12700">
            <a:solidFill>
              <a:srgbClr val="E2E8F0"/>
            </a:solidFill>
            <a:prstDash val="solid"/>
          </a:ln>
        </p:spPr>
      </p:sp>
      <p:sp>
        <p:nvSpPr>
          <p:cNvPr id="32" name="Text 30"/>
          <p:cNvSpPr/>
          <p:nvPr/>
        </p:nvSpPr>
        <p:spPr>
          <a:xfrm>
            <a:off x="822960" y="3895344"/>
            <a:ext cx="2231136" cy="201168"/>
          </a:xfrm>
          <a:prstGeom prst="rect">
            <a:avLst/>
          </a:prstGeom>
          <a:noFill/>
          <a:ln/>
        </p:spPr>
        <p:txBody>
          <a:bodyPr wrap="square" rtlCol="0" anchor="ctr"/>
          <a:lstStyle/>
          <a:p>
            <a:pPr indent="0" marL="0">
              <a:buNone/>
            </a:pPr>
            <a:r>
              <a:rPr lang="en-US" sz="900" b="1" dirty="0">
                <a:solidFill>
                  <a:srgbClr val="0D6938"/>
                </a:solidFill>
                <a:latin typeface="Segoe UI" pitchFamily="34" charset="0"/>
                <a:ea typeface="Segoe UI" pitchFamily="34" charset="-122"/>
                <a:cs typeface="Segoe UI" pitchFamily="34" charset="-120"/>
              </a:rPr>
              <a:t>Direct Market Access</a:t>
            </a:r>
            <a:endParaRPr lang="en-US" sz="900" dirty="0"/>
          </a:p>
        </p:txBody>
      </p:sp>
      <p:sp>
        <p:nvSpPr>
          <p:cNvPr id="33" name="Text 31"/>
          <p:cNvSpPr/>
          <p:nvPr/>
        </p:nvSpPr>
        <p:spPr>
          <a:xfrm>
            <a:off x="822960" y="4114800"/>
            <a:ext cx="2231136" cy="457200"/>
          </a:xfrm>
          <a:prstGeom prst="rect">
            <a:avLst/>
          </a:prstGeom>
          <a:noFill/>
          <a:ln/>
        </p:spPr>
        <p:txBody>
          <a:bodyPr wrap="square" rtlCol="0" anchor="ctr"/>
          <a:lstStyle/>
          <a:p>
            <a:pPr indent="0" marL="0">
              <a:lnSpc>
                <a:spcPct val="115000"/>
              </a:lnSpc>
              <a:buNone/>
            </a:pPr>
            <a:r>
              <a:rPr lang="en-US" sz="780" dirty="0">
                <a:solidFill>
                  <a:srgbClr val="475569"/>
                </a:solidFill>
                <a:latin typeface="Segoe UI" pitchFamily="34" charset="0"/>
                <a:ea typeface="Segoe UI" pitchFamily="34" charset="-122"/>
                <a:cs typeface="Segoe UI" pitchFamily="34" charset="-120"/>
              </a:rPr>
              <a:t>Disintermediates trade; enables wholesale buyers and farmers to contract directly.</a:t>
            </a:r>
            <a:endParaRPr lang="en-US" sz="780" dirty="0"/>
          </a:p>
        </p:txBody>
      </p:sp>
      <p:sp>
        <p:nvSpPr>
          <p:cNvPr id="34" name="Shape 32"/>
          <p:cNvSpPr/>
          <p:nvPr/>
        </p:nvSpPr>
        <p:spPr>
          <a:xfrm>
            <a:off x="3364992" y="3822192"/>
            <a:ext cx="2414016" cy="804672"/>
          </a:xfrm>
          <a:prstGeom prst="roundRect">
            <a:avLst>
              <a:gd name="adj" fmla="val 6818"/>
            </a:avLst>
          </a:prstGeom>
          <a:solidFill>
            <a:srgbClr val="FFFFFF"/>
          </a:solidFill>
          <a:ln w="12700">
            <a:solidFill>
              <a:srgbClr val="E2E8F0"/>
            </a:solidFill>
            <a:prstDash val="solid"/>
          </a:ln>
        </p:spPr>
      </p:sp>
      <p:sp>
        <p:nvSpPr>
          <p:cNvPr id="35" name="Text 33"/>
          <p:cNvSpPr/>
          <p:nvPr/>
        </p:nvSpPr>
        <p:spPr>
          <a:xfrm>
            <a:off x="3456432" y="3895344"/>
            <a:ext cx="2231136" cy="201168"/>
          </a:xfrm>
          <a:prstGeom prst="rect">
            <a:avLst/>
          </a:prstGeom>
          <a:noFill/>
          <a:ln/>
        </p:spPr>
        <p:txBody>
          <a:bodyPr wrap="square" rtlCol="0" anchor="ctr"/>
          <a:lstStyle/>
          <a:p>
            <a:pPr indent="0" marL="0">
              <a:buNone/>
            </a:pPr>
            <a:r>
              <a:rPr lang="en-US" sz="900" b="1" dirty="0">
                <a:solidFill>
                  <a:srgbClr val="0D6938"/>
                </a:solidFill>
                <a:latin typeface="Segoe UI" pitchFamily="34" charset="0"/>
                <a:ea typeface="Segoe UI" pitchFamily="34" charset="-122"/>
                <a:cs typeface="Segoe UI" pitchFamily="34" charset="-120"/>
              </a:rPr>
              <a:t>Explainable AI Core</a:t>
            </a:r>
            <a:endParaRPr lang="en-US" sz="900" dirty="0"/>
          </a:p>
        </p:txBody>
      </p:sp>
      <p:sp>
        <p:nvSpPr>
          <p:cNvPr id="36" name="Text 34"/>
          <p:cNvSpPr/>
          <p:nvPr/>
        </p:nvSpPr>
        <p:spPr>
          <a:xfrm>
            <a:off x="3456432" y="4114800"/>
            <a:ext cx="2231136" cy="457200"/>
          </a:xfrm>
          <a:prstGeom prst="rect">
            <a:avLst/>
          </a:prstGeom>
          <a:noFill/>
          <a:ln/>
        </p:spPr>
        <p:txBody>
          <a:bodyPr wrap="square" rtlCol="0" anchor="ctr"/>
          <a:lstStyle/>
          <a:p>
            <a:pPr indent="0" marL="0">
              <a:lnSpc>
                <a:spcPct val="115000"/>
              </a:lnSpc>
              <a:buNone/>
            </a:pPr>
            <a:r>
              <a:rPr lang="en-US" sz="780" dirty="0">
                <a:solidFill>
                  <a:srgbClr val="475569"/>
                </a:solidFill>
                <a:latin typeface="Segoe UI" pitchFamily="34" charset="0"/>
                <a:ea typeface="Segoe UI" pitchFamily="34" charset="-122"/>
                <a:cs typeface="Segoe UI" pitchFamily="34" charset="-120"/>
              </a:rPr>
              <a:t>Transparent mathematical ranking with explicit rationale for matching and urgency.</a:t>
            </a:r>
            <a:endParaRPr lang="en-US" sz="780" dirty="0"/>
          </a:p>
        </p:txBody>
      </p:sp>
      <p:sp>
        <p:nvSpPr>
          <p:cNvPr id="37" name="Shape 35"/>
          <p:cNvSpPr/>
          <p:nvPr/>
        </p:nvSpPr>
        <p:spPr>
          <a:xfrm>
            <a:off x="5998464" y="3822192"/>
            <a:ext cx="2414016" cy="804672"/>
          </a:xfrm>
          <a:prstGeom prst="roundRect">
            <a:avLst>
              <a:gd name="adj" fmla="val 6818"/>
            </a:avLst>
          </a:prstGeom>
          <a:solidFill>
            <a:srgbClr val="FFFFFF"/>
          </a:solidFill>
          <a:ln w="12700">
            <a:solidFill>
              <a:srgbClr val="E2E8F0"/>
            </a:solidFill>
            <a:prstDash val="solid"/>
          </a:ln>
        </p:spPr>
      </p:sp>
      <p:sp>
        <p:nvSpPr>
          <p:cNvPr id="38" name="Text 36"/>
          <p:cNvSpPr/>
          <p:nvPr/>
        </p:nvSpPr>
        <p:spPr>
          <a:xfrm>
            <a:off x="6089904" y="3895344"/>
            <a:ext cx="2231136" cy="201168"/>
          </a:xfrm>
          <a:prstGeom prst="rect">
            <a:avLst/>
          </a:prstGeom>
          <a:noFill/>
          <a:ln/>
        </p:spPr>
        <p:txBody>
          <a:bodyPr wrap="square" rtlCol="0" anchor="ctr"/>
          <a:lstStyle/>
          <a:p>
            <a:pPr indent="0" marL="0">
              <a:buNone/>
            </a:pPr>
            <a:r>
              <a:rPr lang="en-US" sz="900" b="1" dirty="0">
                <a:solidFill>
                  <a:srgbClr val="0D6938"/>
                </a:solidFill>
                <a:latin typeface="Segoe UI" pitchFamily="34" charset="0"/>
                <a:ea typeface="Segoe UI" pitchFamily="34" charset="-122"/>
                <a:cs typeface="Segoe UI" pitchFamily="34" charset="-120"/>
              </a:rPr>
              <a:t>Synchronized Logistics</a:t>
            </a:r>
            <a:endParaRPr lang="en-US" sz="900" dirty="0"/>
          </a:p>
        </p:txBody>
      </p:sp>
      <p:sp>
        <p:nvSpPr>
          <p:cNvPr id="39" name="Text 37"/>
          <p:cNvSpPr/>
          <p:nvPr/>
        </p:nvSpPr>
        <p:spPr>
          <a:xfrm>
            <a:off x="6089904" y="4114800"/>
            <a:ext cx="2231136" cy="457200"/>
          </a:xfrm>
          <a:prstGeom prst="rect">
            <a:avLst/>
          </a:prstGeom>
          <a:noFill/>
          <a:ln/>
        </p:spPr>
        <p:txBody>
          <a:bodyPr wrap="square" rtlCol="0" anchor="ctr"/>
          <a:lstStyle/>
          <a:p>
            <a:pPr indent="0" marL="0">
              <a:lnSpc>
                <a:spcPct val="115000"/>
              </a:lnSpc>
              <a:buNone/>
            </a:pPr>
            <a:r>
              <a:rPr lang="en-US" sz="780" dirty="0">
                <a:solidFill>
                  <a:srgbClr val="475569"/>
                </a:solidFill>
                <a:latin typeface="Segoe UI" pitchFamily="34" charset="0"/>
                <a:ea typeface="Segoe UI" pitchFamily="34" charset="-122"/>
                <a:cs typeface="Segoe UI" pitchFamily="34" charset="-120"/>
              </a:rPr>
              <a:t>Event-driven pickup dispatch and tamper-evident milestone traceability.</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ENGINEERING SCOPE</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04/15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Project Objectives: Technical &amp; Research Goals</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Specific software engineering and decision-support targets formulated for academic capstone execution</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481328"/>
            <a:ext cx="3703320" cy="896112"/>
          </a:xfrm>
          <a:prstGeom prst="roundRect">
            <a:avLst>
              <a:gd name="adj" fmla="val 8163"/>
            </a:avLst>
          </a:prstGeom>
          <a:solidFill>
            <a:srgbClr val="FFFFFF"/>
          </a:solidFill>
          <a:ln w="12700">
            <a:solidFill>
              <a:srgbClr val="E2E8F0"/>
            </a:solidFill>
            <a:prstDash val="solid"/>
          </a:ln>
        </p:spPr>
      </p:sp>
      <p:sp>
        <p:nvSpPr>
          <p:cNvPr id="13" name="Shape 11"/>
          <p:cNvSpPr/>
          <p:nvPr/>
        </p:nvSpPr>
        <p:spPr>
          <a:xfrm>
            <a:off x="868680" y="1682496"/>
            <a:ext cx="457200" cy="411480"/>
          </a:xfrm>
          <a:prstGeom prst="roundRect">
            <a:avLst>
              <a:gd name="adj" fmla="val 13333"/>
            </a:avLst>
          </a:prstGeom>
          <a:solidFill>
            <a:srgbClr val="DCFCE7"/>
          </a:solidFill>
          <a:ln w="12700">
            <a:solidFill>
              <a:srgbClr val="0D6938"/>
            </a:solidFill>
            <a:prstDash val="solid"/>
          </a:ln>
        </p:spPr>
      </p:sp>
      <p:sp>
        <p:nvSpPr>
          <p:cNvPr id="14" name="Text 12"/>
          <p:cNvSpPr/>
          <p:nvPr/>
        </p:nvSpPr>
        <p:spPr>
          <a:xfrm>
            <a:off x="868680" y="1682496"/>
            <a:ext cx="457200" cy="411480"/>
          </a:xfrm>
          <a:prstGeom prst="rect">
            <a:avLst/>
          </a:prstGeom>
          <a:noFill/>
          <a:ln/>
        </p:spPr>
        <p:txBody>
          <a:bodyPr wrap="square" rtlCol="0" anchor="ctr"/>
          <a:lstStyle/>
          <a:p>
            <a:pPr algn="ctr" indent="0" marL="0">
              <a:buNone/>
            </a:pPr>
            <a:r>
              <a:rPr lang="en-US" sz="1100" b="1" dirty="0">
                <a:solidFill>
                  <a:srgbClr val="064E2B"/>
                </a:solidFill>
                <a:latin typeface="Segoe UI" pitchFamily="34" charset="0"/>
                <a:ea typeface="Segoe UI" pitchFamily="34" charset="-122"/>
                <a:cs typeface="Segoe UI" pitchFamily="34" charset="-120"/>
              </a:rPr>
              <a:t>01</a:t>
            </a:r>
            <a:endParaRPr lang="en-US" sz="1100" dirty="0"/>
          </a:p>
        </p:txBody>
      </p:sp>
      <p:sp>
        <p:nvSpPr>
          <p:cNvPr id="15" name="Text 13"/>
          <p:cNvSpPr/>
          <p:nvPr/>
        </p:nvSpPr>
        <p:spPr>
          <a:xfrm>
            <a:off x="1417320" y="1591056"/>
            <a:ext cx="288036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Multi-Tenant Architecture</a:t>
            </a:r>
            <a:endParaRPr lang="en-US" sz="1050" dirty="0"/>
          </a:p>
        </p:txBody>
      </p:sp>
      <p:sp>
        <p:nvSpPr>
          <p:cNvPr id="16" name="Text 14"/>
          <p:cNvSpPr/>
          <p:nvPr/>
        </p:nvSpPr>
        <p:spPr>
          <a:xfrm>
            <a:off x="1417320" y="1828800"/>
            <a:ext cx="2880360" cy="475488"/>
          </a:xfrm>
          <a:prstGeom prst="rect">
            <a:avLst/>
          </a:prstGeom>
          <a:noFill/>
          <a:ln/>
        </p:spPr>
        <p:txBody>
          <a:bodyPr wrap="square" rtlCol="0" anchor="ctr"/>
          <a:lstStyle/>
          <a:p>
            <a:pPr indent="0" marL="0">
              <a:lnSpc>
                <a:spcPct val="115000"/>
              </a:lnSpc>
              <a:buNone/>
            </a:pPr>
            <a:r>
              <a:rPr lang="en-US" sz="850" dirty="0">
                <a:solidFill>
                  <a:srgbClr val="475569"/>
                </a:solidFill>
                <a:latin typeface="Segoe UI" pitchFamily="34" charset="0"/>
                <a:ea typeface="Segoe UI" pitchFamily="34" charset="-122"/>
                <a:cs typeface="Segoe UI" pitchFamily="34" charset="-120"/>
              </a:rPr>
              <a:t>Build a secure, role-based platform for Farmers, Buyers, Transporters, and Admins under a unified JWT auth umbrella.</a:t>
            </a:r>
            <a:endParaRPr lang="en-US" sz="850" dirty="0"/>
          </a:p>
        </p:txBody>
      </p:sp>
      <p:sp>
        <p:nvSpPr>
          <p:cNvPr id="17" name="Shape 15"/>
          <p:cNvSpPr/>
          <p:nvPr/>
        </p:nvSpPr>
        <p:spPr>
          <a:xfrm>
            <a:off x="4709160" y="1481328"/>
            <a:ext cx="3703320" cy="896112"/>
          </a:xfrm>
          <a:prstGeom prst="roundRect">
            <a:avLst>
              <a:gd name="adj" fmla="val 8163"/>
            </a:avLst>
          </a:prstGeom>
          <a:solidFill>
            <a:srgbClr val="FFFFFF"/>
          </a:solidFill>
          <a:ln w="12700">
            <a:solidFill>
              <a:srgbClr val="E2E8F0"/>
            </a:solidFill>
            <a:prstDash val="solid"/>
          </a:ln>
        </p:spPr>
      </p:sp>
      <p:sp>
        <p:nvSpPr>
          <p:cNvPr id="18" name="Shape 16"/>
          <p:cNvSpPr/>
          <p:nvPr/>
        </p:nvSpPr>
        <p:spPr>
          <a:xfrm>
            <a:off x="4846320" y="1682496"/>
            <a:ext cx="457200" cy="411480"/>
          </a:xfrm>
          <a:prstGeom prst="roundRect">
            <a:avLst>
              <a:gd name="adj" fmla="val 13333"/>
            </a:avLst>
          </a:prstGeom>
          <a:solidFill>
            <a:srgbClr val="DCFCE7"/>
          </a:solidFill>
          <a:ln w="12700">
            <a:solidFill>
              <a:srgbClr val="0D6938"/>
            </a:solidFill>
            <a:prstDash val="solid"/>
          </a:ln>
        </p:spPr>
      </p:sp>
      <p:sp>
        <p:nvSpPr>
          <p:cNvPr id="19" name="Text 17"/>
          <p:cNvSpPr/>
          <p:nvPr/>
        </p:nvSpPr>
        <p:spPr>
          <a:xfrm>
            <a:off x="4846320" y="1682496"/>
            <a:ext cx="457200" cy="411480"/>
          </a:xfrm>
          <a:prstGeom prst="rect">
            <a:avLst/>
          </a:prstGeom>
          <a:noFill/>
          <a:ln/>
        </p:spPr>
        <p:txBody>
          <a:bodyPr wrap="square" rtlCol="0" anchor="ctr"/>
          <a:lstStyle/>
          <a:p>
            <a:pPr algn="ctr" indent="0" marL="0">
              <a:buNone/>
            </a:pPr>
            <a:r>
              <a:rPr lang="en-US" sz="1100" b="1" dirty="0">
                <a:solidFill>
                  <a:srgbClr val="064E2B"/>
                </a:solidFill>
                <a:latin typeface="Segoe UI" pitchFamily="34" charset="0"/>
                <a:ea typeface="Segoe UI" pitchFamily="34" charset="-122"/>
                <a:cs typeface="Segoe UI" pitchFamily="34" charset="-120"/>
              </a:rPr>
              <a:t>02</a:t>
            </a:r>
            <a:endParaRPr lang="en-US" sz="1100" dirty="0"/>
          </a:p>
        </p:txBody>
      </p:sp>
      <p:sp>
        <p:nvSpPr>
          <p:cNvPr id="20" name="Text 18"/>
          <p:cNvSpPr/>
          <p:nvPr/>
        </p:nvSpPr>
        <p:spPr>
          <a:xfrm>
            <a:off x="5394960" y="1591056"/>
            <a:ext cx="288036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Explainable Matching Algorithm</a:t>
            </a:r>
            <a:endParaRPr lang="en-US" sz="1050" dirty="0"/>
          </a:p>
        </p:txBody>
      </p:sp>
      <p:sp>
        <p:nvSpPr>
          <p:cNvPr id="21" name="Text 19"/>
          <p:cNvSpPr/>
          <p:nvPr/>
        </p:nvSpPr>
        <p:spPr>
          <a:xfrm>
            <a:off x="5394960" y="1828800"/>
            <a:ext cx="2880360" cy="475488"/>
          </a:xfrm>
          <a:prstGeom prst="rect">
            <a:avLst/>
          </a:prstGeom>
          <a:noFill/>
          <a:ln/>
        </p:spPr>
        <p:txBody>
          <a:bodyPr wrap="square" rtlCol="0" anchor="ctr"/>
          <a:lstStyle/>
          <a:p>
            <a:pPr indent="0" marL="0">
              <a:lnSpc>
                <a:spcPct val="115000"/>
              </a:lnSpc>
              <a:buNone/>
            </a:pPr>
            <a:r>
              <a:rPr lang="en-US" sz="850" dirty="0">
                <a:solidFill>
                  <a:srgbClr val="475569"/>
                </a:solidFill>
                <a:latin typeface="Segoe UI" pitchFamily="34" charset="0"/>
                <a:ea typeface="Segoe UI" pitchFamily="34" charset="-122"/>
                <a:cs typeface="Segoe UI" pitchFamily="34" charset="-120"/>
              </a:rPr>
              <a:t>Develop a 0–100 multi-criteria weighted scoring model evaluating price, quality, volume, proximity, and timeline compatibility.</a:t>
            </a:r>
            <a:endParaRPr lang="en-US" sz="850" dirty="0"/>
          </a:p>
        </p:txBody>
      </p:sp>
      <p:sp>
        <p:nvSpPr>
          <p:cNvPr id="22" name="Shape 20"/>
          <p:cNvSpPr/>
          <p:nvPr/>
        </p:nvSpPr>
        <p:spPr>
          <a:xfrm>
            <a:off x="731520" y="2505456"/>
            <a:ext cx="3703320" cy="896112"/>
          </a:xfrm>
          <a:prstGeom prst="roundRect">
            <a:avLst>
              <a:gd name="adj" fmla="val 8163"/>
            </a:avLst>
          </a:prstGeom>
          <a:solidFill>
            <a:srgbClr val="FFFFFF"/>
          </a:solidFill>
          <a:ln w="12700">
            <a:solidFill>
              <a:srgbClr val="E2E8F0"/>
            </a:solidFill>
            <a:prstDash val="solid"/>
          </a:ln>
        </p:spPr>
      </p:sp>
      <p:sp>
        <p:nvSpPr>
          <p:cNvPr id="23" name="Shape 21"/>
          <p:cNvSpPr/>
          <p:nvPr/>
        </p:nvSpPr>
        <p:spPr>
          <a:xfrm>
            <a:off x="868680" y="2706624"/>
            <a:ext cx="457200" cy="411480"/>
          </a:xfrm>
          <a:prstGeom prst="roundRect">
            <a:avLst>
              <a:gd name="adj" fmla="val 13333"/>
            </a:avLst>
          </a:prstGeom>
          <a:solidFill>
            <a:srgbClr val="DCFCE7"/>
          </a:solidFill>
          <a:ln w="12700">
            <a:solidFill>
              <a:srgbClr val="0D6938"/>
            </a:solidFill>
            <a:prstDash val="solid"/>
          </a:ln>
        </p:spPr>
      </p:sp>
      <p:sp>
        <p:nvSpPr>
          <p:cNvPr id="24" name="Text 22"/>
          <p:cNvSpPr/>
          <p:nvPr/>
        </p:nvSpPr>
        <p:spPr>
          <a:xfrm>
            <a:off x="868680" y="2706624"/>
            <a:ext cx="457200" cy="411480"/>
          </a:xfrm>
          <a:prstGeom prst="rect">
            <a:avLst/>
          </a:prstGeom>
          <a:noFill/>
          <a:ln/>
        </p:spPr>
        <p:txBody>
          <a:bodyPr wrap="square" rtlCol="0" anchor="ctr"/>
          <a:lstStyle/>
          <a:p>
            <a:pPr algn="ctr" indent="0" marL="0">
              <a:buNone/>
            </a:pPr>
            <a:r>
              <a:rPr lang="en-US" sz="1100" b="1" dirty="0">
                <a:solidFill>
                  <a:srgbClr val="064E2B"/>
                </a:solidFill>
                <a:latin typeface="Segoe UI" pitchFamily="34" charset="0"/>
                <a:ea typeface="Segoe UI" pitchFamily="34" charset="-122"/>
                <a:cs typeface="Segoe UI" pitchFamily="34" charset="-120"/>
              </a:rPr>
              <a:t>03</a:t>
            </a:r>
            <a:endParaRPr lang="en-US" sz="1100" dirty="0"/>
          </a:p>
        </p:txBody>
      </p:sp>
      <p:sp>
        <p:nvSpPr>
          <p:cNvPr id="25" name="Text 23"/>
          <p:cNvSpPr/>
          <p:nvPr/>
        </p:nvSpPr>
        <p:spPr>
          <a:xfrm>
            <a:off x="1417320" y="2615184"/>
            <a:ext cx="288036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Predictive Demand Signaling</a:t>
            </a:r>
            <a:endParaRPr lang="en-US" sz="1050" dirty="0"/>
          </a:p>
        </p:txBody>
      </p:sp>
      <p:sp>
        <p:nvSpPr>
          <p:cNvPr id="26" name="Text 24"/>
          <p:cNvSpPr/>
          <p:nvPr/>
        </p:nvSpPr>
        <p:spPr>
          <a:xfrm>
            <a:off x="1417320" y="2852928"/>
            <a:ext cx="2880360" cy="475488"/>
          </a:xfrm>
          <a:prstGeom prst="rect">
            <a:avLst/>
          </a:prstGeom>
          <a:noFill/>
          <a:ln/>
        </p:spPr>
        <p:txBody>
          <a:bodyPr wrap="square" rtlCol="0" anchor="ctr"/>
          <a:lstStyle/>
          <a:p>
            <a:pPr indent="0" marL="0">
              <a:lnSpc>
                <a:spcPct val="115000"/>
              </a:lnSpc>
              <a:buNone/>
            </a:pPr>
            <a:r>
              <a:rPr lang="en-US" sz="850" dirty="0">
                <a:solidFill>
                  <a:srgbClr val="475569"/>
                </a:solidFill>
                <a:latin typeface="Segoe UI" pitchFamily="34" charset="0"/>
                <a:ea typeface="Segoe UI" pitchFamily="34" charset="-122"/>
                <a:cs typeface="Segoe UI" pitchFamily="34" charset="-120"/>
              </a:rPr>
              <a:t>Provide forward demand volume and price band visibility utilizing historical mandi spot prices and trend slopes.</a:t>
            </a:r>
            <a:endParaRPr lang="en-US" sz="850" dirty="0"/>
          </a:p>
        </p:txBody>
      </p:sp>
      <p:sp>
        <p:nvSpPr>
          <p:cNvPr id="27" name="Shape 25"/>
          <p:cNvSpPr/>
          <p:nvPr/>
        </p:nvSpPr>
        <p:spPr>
          <a:xfrm>
            <a:off x="4709160" y="2505456"/>
            <a:ext cx="3703320" cy="896112"/>
          </a:xfrm>
          <a:prstGeom prst="roundRect">
            <a:avLst>
              <a:gd name="adj" fmla="val 8163"/>
            </a:avLst>
          </a:prstGeom>
          <a:solidFill>
            <a:srgbClr val="FFFFFF"/>
          </a:solidFill>
          <a:ln w="12700">
            <a:solidFill>
              <a:srgbClr val="E2E8F0"/>
            </a:solidFill>
            <a:prstDash val="solid"/>
          </a:ln>
        </p:spPr>
      </p:sp>
      <p:sp>
        <p:nvSpPr>
          <p:cNvPr id="28" name="Shape 26"/>
          <p:cNvSpPr/>
          <p:nvPr/>
        </p:nvSpPr>
        <p:spPr>
          <a:xfrm>
            <a:off x="4846320" y="2706624"/>
            <a:ext cx="457200" cy="411480"/>
          </a:xfrm>
          <a:prstGeom prst="roundRect">
            <a:avLst>
              <a:gd name="adj" fmla="val 13333"/>
            </a:avLst>
          </a:prstGeom>
          <a:solidFill>
            <a:srgbClr val="DCFCE7"/>
          </a:solidFill>
          <a:ln w="12700">
            <a:solidFill>
              <a:srgbClr val="0D6938"/>
            </a:solidFill>
            <a:prstDash val="solid"/>
          </a:ln>
        </p:spPr>
      </p:sp>
      <p:sp>
        <p:nvSpPr>
          <p:cNvPr id="29" name="Text 27"/>
          <p:cNvSpPr/>
          <p:nvPr/>
        </p:nvSpPr>
        <p:spPr>
          <a:xfrm>
            <a:off x="4846320" y="2706624"/>
            <a:ext cx="457200" cy="411480"/>
          </a:xfrm>
          <a:prstGeom prst="rect">
            <a:avLst/>
          </a:prstGeom>
          <a:noFill/>
          <a:ln/>
        </p:spPr>
        <p:txBody>
          <a:bodyPr wrap="square" rtlCol="0" anchor="ctr"/>
          <a:lstStyle/>
          <a:p>
            <a:pPr algn="ctr" indent="0" marL="0">
              <a:buNone/>
            </a:pPr>
            <a:r>
              <a:rPr lang="en-US" sz="1100" b="1" dirty="0">
                <a:solidFill>
                  <a:srgbClr val="064E2B"/>
                </a:solidFill>
                <a:latin typeface="Segoe UI" pitchFamily="34" charset="0"/>
                <a:ea typeface="Segoe UI" pitchFamily="34" charset="-122"/>
                <a:cs typeface="Segoe UI" pitchFamily="34" charset="-120"/>
              </a:rPr>
              <a:t>04</a:t>
            </a:r>
            <a:endParaRPr lang="en-US" sz="1100" dirty="0"/>
          </a:p>
        </p:txBody>
      </p:sp>
      <p:sp>
        <p:nvSpPr>
          <p:cNvPr id="30" name="Text 28"/>
          <p:cNvSpPr/>
          <p:nvPr/>
        </p:nvSpPr>
        <p:spPr>
          <a:xfrm>
            <a:off x="5394960" y="2615184"/>
            <a:ext cx="288036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Shelf-Life Decay Monitoring</a:t>
            </a:r>
            <a:endParaRPr lang="en-US" sz="1050" dirty="0"/>
          </a:p>
        </p:txBody>
      </p:sp>
      <p:sp>
        <p:nvSpPr>
          <p:cNvPr id="31" name="Text 29"/>
          <p:cNvSpPr/>
          <p:nvPr/>
        </p:nvSpPr>
        <p:spPr>
          <a:xfrm>
            <a:off x="5394960" y="2852928"/>
            <a:ext cx="2880360" cy="475488"/>
          </a:xfrm>
          <a:prstGeom prst="rect">
            <a:avLst/>
          </a:prstGeom>
          <a:noFill/>
          <a:ln/>
        </p:spPr>
        <p:txBody>
          <a:bodyPr wrap="square" rtlCol="0" anchor="ctr"/>
          <a:lstStyle/>
          <a:p>
            <a:pPr indent="0" marL="0">
              <a:lnSpc>
                <a:spcPct val="115000"/>
              </a:lnSpc>
              <a:buNone/>
            </a:pPr>
            <a:r>
              <a:rPr lang="en-US" sz="850" dirty="0">
                <a:solidFill>
                  <a:srgbClr val="475569"/>
                </a:solidFill>
                <a:latin typeface="Segoe UI" pitchFamily="34" charset="0"/>
                <a:ea typeface="Segoe UI" pitchFamily="34" charset="-122"/>
                <a:cs typeface="Segoe UI" pitchFamily="34" charset="-120"/>
              </a:rPr>
              <a:t>Construct a freshness decay index categorizing crops into Fresh, Attention, and Critical tiers with actionable triggers.</a:t>
            </a:r>
            <a:endParaRPr lang="en-US" sz="850" dirty="0"/>
          </a:p>
        </p:txBody>
      </p:sp>
      <p:sp>
        <p:nvSpPr>
          <p:cNvPr id="32" name="Shape 30"/>
          <p:cNvSpPr/>
          <p:nvPr/>
        </p:nvSpPr>
        <p:spPr>
          <a:xfrm>
            <a:off x="731520" y="3529584"/>
            <a:ext cx="3703320" cy="896112"/>
          </a:xfrm>
          <a:prstGeom prst="roundRect">
            <a:avLst>
              <a:gd name="adj" fmla="val 8163"/>
            </a:avLst>
          </a:prstGeom>
          <a:solidFill>
            <a:srgbClr val="FFFFFF"/>
          </a:solidFill>
          <a:ln w="12700">
            <a:solidFill>
              <a:srgbClr val="E2E8F0"/>
            </a:solidFill>
            <a:prstDash val="solid"/>
          </a:ln>
        </p:spPr>
      </p:sp>
      <p:sp>
        <p:nvSpPr>
          <p:cNvPr id="33" name="Shape 31"/>
          <p:cNvSpPr/>
          <p:nvPr/>
        </p:nvSpPr>
        <p:spPr>
          <a:xfrm>
            <a:off x="868680" y="3730752"/>
            <a:ext cx="457200" cy="411480"/>
          </a:xfrm>
          <a:prstGeom prst="roundRect">
            <a:avLst>
              <a:gd name="adj" fmla="val 13333"/>
            </a:avLst>
          </a:prstGeom>
          <a:solidFill>
            <a:srgbClr val="DCFCE7"/>
          </a:solidFill>
          <a:ln w="12700">
            <a:solidFill>
              <a:srgbClr val="0D6938"/>
            </a:solidFill>
            <a:prstDash val="solid"/>
          </a:ln>
        </p:spPr>
      </p:sp>
      <p:sp>
        <p:nvSpPr>
          <p:cNvPr id="34" name="Text 32"/>
          <p:cNvSpPr/>
          <p:nvPr/>
        </p:nvSpPr>
        <p:spPr>
          <a:xfrm>
            <a:off x="868680" y="3730752"/>
            <a:ext cx="457200" cy="411480"/>
          </a:xfrm>
          <a:prstGeom prst="rect">
            <a:avLst/>
          </a:prstGeom>
          <a:noFill/>
          <a:ln/>
        </p:spPr>
        <p:txBody>
          <a:bodyPr wrap="square" rtlCol="0" anchor="ctr"/>
          <a:lstStyle/>
          <a:p>
            <a:pPr algn="ctr" indent="0" marL="0">
              <a:buNone/>
            </a:pPr>
            <a:r>
              <a:rPr lang="en-US" sz="1100" b="1" dirty="0">
                <a:solidFill>
                  <a:srgbClr val="064E2B"/>
                </a:solidFill>
                <a:latin typeface="Segoe UI" pitchFamily="34" charset="0"/>
                <a:ea typeface="Segoe UI" pitchFamily="34" charset="-122"/>
                <a:cs typeface="Segoe UI" pitchFamily="34" charset="-120"/>
              </a:rPr>
              <a:t>05</a:t>
            </a:r>
            <a:endParaRPr lang="en-US" sz="1100" dirty="0"/>
          </a:p>
        </p:txBody>
      </p:sp>
      <p:sp>
        <p:nvSpPr>
          <p:cNvPr id="35" name="Text 33"/>
          <p:cNvSpPr/>
          <p:nvPr/>
        </p:nvSpPr>
        <p:spPr>
          <a:xfrm>
            <a:off x="1417320" y="3639312"/>
            <a:ext cx="288036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Automated Logistics Dispatch</a:t>
            </a:r>
            <a:endParaRPr lang="en-US" sz="1050" dirty="0"/>
          </a:p>
        </p:txBody>
      </p:sp>
      <p:sp>
        <p:nvSpPr>
          <p:cNvPr id="36" name="Text 34"/>
          <p:cNvSpPr/>
          <p:nvPr/>
        </p:nvSpPr>
        <p:spPr>
          <a:xfrm>
            <a:off x="1417320" y="3877056"/>
            <a:ext cx="2880360" cy="475488"/>
          </a:xfrm>
          <a:prstGeom prst="rect">
            <a:avLst/>
          </a:prstGeom>
          <a:noFill/>
          <a:ln/>
        </p:spPr>
        <p:txBody>
          <a:bodyPr wrap="square" rtlCol="0" anchor="ctr"/>
          <a:lstStyle/>
          <a:p>
            <a:pPr indent="0" marL="0">
              <a:lnSpc>
                <a:spcPct val="115000"/>
              </a:lnSpc>
              <a:buNone/>
            </a:pPr>
            <a:r>
              <a:rPr lang="en-US" sz="850" dirty="0">
                <a:solidFill>
                  <a:srgbClr val="475569"/>
                </a:solidFill>
                <a:latin typeface="Segoe UI" pitchFamily="34" charset="0"/>
                <a:ea typeface="Segoe UI" pitchFamily="34" charset="-122"/>
                <a:cs typeface="Segoe UI" pitchFamily="34" charset="-120"/>
              </a:rPr>
              <a:t>Engineer an event-driven logistics pipeline automatically spawning atomic pickup requests when orders are marked Ready.</a:t>
            </a:r>
            <a:endParaRPr lang="en-US" sz="850" dirty="0"/>
          </a:p>
        </p:txBody>
      </p:sp>
      <p:sp>
        <p:nvSpPr>
          <p:cNvPr id="37" name="Shape 35"/>
          <p:cNvSpPr/>
          <p:nvPr/>
        </p:nvSpPr>
        <p:spPr>
          <a:xfrm>
            <a:off x="4709160" y="3529584"/>
            <a:ext cx="3703320" cy="896112"/>
          </a:xfrm>
          <a:prstGeom prst="roundRect">
            <a:avLst>
              <a:gd name="adj" fmla="val 8163"/>
            </a:avLst>
          </a:prstGeom>
          <a:solidFill>
            <a:srgbClr val="FFFFFF"/>
          </a:solidFill>
          <a:ln w="12700">
            <a:solidFill>
              <a:srgbClr val="E2E8F0"/>
            </a:solidFill>
            <a:prstDash val="solid"/>
          </a:ln>
        </p:spPr>
      </p:sp>
      <p:sp>
        <p:nvSpPr>
          <p:cNvPr id="38" name="Shape 36"/>
          <p:cNvSpPr/>
          <p:nvPr/>
        </p:nvSpPr>
        <p:spPr>
          <a:xfrm>
            <a:off x="4846320" y="3730752"/>
            <a:ext cx="457200" cy="411480"/>
          </a:xfrm>
          <a:prstGeom prst="roundRect">
            <a:avLst>
              <a:gd name="adj" fmla="val 13333"/>
            </a:avLst>
          </a:prstGeom>
          <a:solidFill>
            <a:srgbClr val="DCFCE7"/>
          </a:solidFill>
          <a:ln w="12700">
            <a:solidFill>
              <a:srgbClr val="0D6938"/>
            </a:solidFill>
            <a:prstDash val="solid"/>
          </a:ln>
        </p:spPr>
      </p:sp>
      <p:sp>
        <p:nvSpPr>
          <p:cNvPr id="39" name="Text 37"/>
          <p:cNvSpPr/>
          <p:nvPr/>
        </p:nvSpPr>
        <p:spPr>
          <a:xfrm>
            <a:off x="4846320" y="3730752"/>
            <a:ext cx="457200" cy="411480"/>
          </a:xfrm>
          <a:prstGeom prst="rect">
            <a:avLst/>
          </a:prstGeom>
          <a:noFill/>
          <a:ln/>
        </p:spPr>
        <p:txBody>
          <a:bodyPr wrap="square" rtlCol="0" anchor="ctr"/>
          <a:lstStyle/>
          <a:p>
            <a:pPr algn="ctr" indent="0" marL="0">
              <a:buNone/>
            </a:pPr>
            <a:r>
              <a:rPr lang="en-US" sz="1100" b="1" dirty="0">
                <a:solidFill>
                  <a:srgbClr val="064E2B"/>
                </a:solidFill>
                <a:latin typeface="Segoe UI" pitchFamily="34" charset="0"/>
                <a:ea typeface="Segoe UI" pitchFamily="34" charset="-122"/>
                <a:cs typeface="Segoe UI" pitchFamily="34" charset="-120"/>
              </a:rPr>
              <a:t>06</a:t>
            </a:r>
            <a:endParaRPr lang="en-US" sz="1100" dirty="0"/>
          </a:p>
        </p:txBody>
      </p:sp>
      <p:sp>
        <p:nvSpPr>
          <p:cNvPr id="40" name="Text 38"/>
          <p:cNvSpPr/>
          <p:nvPr/>
        </p:nvSpPr>
        <p:spPr>
          <a:xfrm>
            <a:off x="5394960" y="3639312"/>
            <a:ext cx="288036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Audit-Grade Traceability</a:t>
            </a:r>
            <a:endParaRPr lang="en-US" sz="1050" dirty="0"/>
          </a:p>
        </p:txBody>
      </p:sp>
      <p:sp>
        <p:nvSpPr>
          <p:cNvPr id="41" name="Text 39"/>
          <p:cNvSpPr/>
          <p:nvPr/>
        </p:nvSpPr>
        <p:spPr>
          <a:xfrm>
            <a:off x="5394960" y="3877056"/>
            <a:ext cx="2880360" cy="475488"/>
          </a:xfrm>
          <a:prstGeom prst="rect">
            <a:avLst/>
          </a:prstGeom>
          <a:noFill/>
          <a:ln/>
        </p:spPr>
        <p:txBody>
          <a:bodyPr wrap="square" rtlCol="0" anchor="ctr"/>
          <a:lstStyle/>
          <a:p>
            <a:pPr indent="0" marL="0">
              <a:lnSpc>
                <a:spcPct val="115000"/>
              </a:lnSpc>
              <a:buNone/>
            </a:pPr>
            <a:r>
              <a:rPr lang="en-US" sz="850" dirty="0">
                <a:solidFill>
                  <a:srgbClr val="475569"/>
                </a:solidFill>
                <a:latin typeface="Segoe UI" pitchFamily="34" charset="0"/>
                <a:ea typeface="Segoe UI" pitchFamily="34" charset="-122"/>
                <a:cs typeface="Segoe UI" pitchFamily="34" charset="-120"/>
              </a:rPr>
              <a:t>Establish an immutable milestone event ledger tracking physical crop states from harvesting to delivery and settlement.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SYSTEM ARCHITECTURE</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05/15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System Architecture: 3-Tier Full-Stack Decoupled Design</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Presentation, API routing, deterministic decision engines, and persistent document storage</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508760"/>
            <a:ext cx="2240280" cy="2103120"/>
          </a:xfrm>
          <a:prstGeom prst="roundRect">
            <a:avLst>
              <a:gd name="adj" fmla="val 3478"/>
            </a:avLst>
          </a:prstGeom>
          <a:solidFill>
            <a:srgbClr val="FFFFFF"/>
          </a:solidFill>
          <a:ln w="19050">
            <a:solidFill>
              <a:srgbClr val="0D6938"/>
            </a:solidFill>
            <a:prstDash val="solid"/>
          </a:ln>
        </p:spPr>
      </p:sp>
      <p:sp>
        <p:nvSpPr>
          <p:cNvPr id="13" name="Shape 11"/>
          <p:cNvSpPr/>
          <p:nvPr/>
        </p:nvSpPr>
        <p:spPr>
          <a:xfrm>
            <a:off x="868680" y="1645920"/>
            <a:ext cx="1965960" cy="274320"/>
          </a:xfrm>
          <a:prstGeom prst="roundRect">
            <a:avLst>
              <a:gd name="adj" fmla="val 16667"/>
            </a:avLst>
          </a:prstGeom>
          <a:solidFill>
            <a:srgbClr val="DCFCE7"/>
          </a:solidFill>
          <a:ln/>
        </p:spPr>
      </p:sp>
      <p:sp>
        <p:nvSpPr>
          <p:cNvPr id="14" name="Text 12"/>
          <p:cNvSpPr/>
          <p:nvPr/>
        </p:nvSpPr>
        <p:spPr>
          <a:xfrm>
            <a:off x="868680" y="1645920"/>
            <a:ext cx="1965960" cy="274320"/>
          </a:xfrm>
          <a:prstGeom prst="rect">
            <a:avLst/>
          </a:prstGeom>
          <a:noFill/>
          <a:ln/>
        </p:spPr>
        <p:txBody>
          <a:bodyPr wrap="square" rtlCol="0" anchor="ctr"/>
          <a:lstStyle/>
          <a:p>
            <a:pPr algn="ctr" indent="0" marL="0">
              <a:buNone/>
            </a:pPr>
            <a:r>
              <a:rPr lang="en-US" sz="800" b="1" dirty="0">
                <a:solidFill>
                  <a:srgbClr val="064E2B"/>
                </a:solidFill>
                <a:latin typeface="Segoe UI" pitchFamily="34" charset="0"/>
                <a:ea typeface="Segoe UI" pitchFamily="34" charset="-122"/>
                <a:cs typeface="Segoe UI" pitchFamily="34" charset="-120"/>
              </a:rPr>
              <a:t>PRESENTATION TIER (SPA)</a:t>
            </a:r>
            <a:endParaRPr lang="en-US" sz="800" dirty="0"/>
          </a:p>
        </p:txBody>
      </p:sp>
      <p:sp>
        <p:nvSpPr>
          <p:cNvPr id="15" name="Text 13"/>
          <p:cNvSpPr/>
          <p:nvPr/>
        </p:nvSpPr>
        <p:spPr>
          <a:xfrm>
            <a:off x="868680" y="2029968"/>
            <a:ext cx="1965960" cy="1463040"/>
          </a:xfrm>
          <a:prstGeom prst="rect">
            <a:avLst/>
          </a:prstGeom>
          <a:noFill/>
          <a:ln/>
        </p:spPr>
        <p:txBody>
          <a:bodyPr wrap="square" rtlCol="0" anchor="ctr"/>
          <a:lstStyle/>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React 18 Single Page App</a:t>
            </a:r>
            <a:endParaRPr lang="en-US" sz="900" dirty="0"/>
          </a:p>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Vite Fast Bundler</a:t>
            </a:r>
            <a:endParaRPr lang="en-US" sz="900" dirty="0"/>
          </a:p>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Tailwind CSS Utility Classes</a:t>
            </a:r>
            <a:endParaRPr lang="en-US" sz="900" dirty="0"/>
          </a:p>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React Router v6 Routing</a:t>
            </a:r>
            <a:endParaRPr lang="en-US" sz="900" dirty="0"/>
          </a:p>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Role-Protected Routes</a:t>
            </a:r>
            <a:endParaRPr lang="en-US" sz="900" dirty="0"/>
          </a:p>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Auth &amp; Orders Context APIs</a:t>
            </a:r>
            <a:endParaRPr lang="en-US" sz="900" dirty="0"/>
          </a:p>
        </p:txBody>
      </p:sp>
      <p:sp>
        <p:nvSpPr>
          <p:cNvPr id="16" name="Text 14"/>
          <p:cNvSpPr/>
          <p:nvPr/>
        </p:nvSpPr>
        <p:spPr>
          <a:xfrm>
            <a:off x="2971800" y="2194560"/>
            <a:ext cx="868680" cy="731520"/>
          </a:xfrm>
          <a:prstGeom prst="rect">
            <a:avLst/>
          </a:prstGeom>
          <a:noFill/>
          <a:ln/>
        </p:spPr>
        <p:txBody>
          <a:bodyPr wrap="square" rtlCol="0" anchor="ctr"/>
          <a:lstStyle/>
          <a:p>
            <a:pPr algn="ctr" indent="0" marL="0">
              <a:buNone/>
            </a:pPr>
            <a:r>
              <a:rPr lang="en-US" sz="800" b="1" dirty="0">
                <a:solidFill>
                  <a:srgbClr val="64748B"/>
                </a:solidFill>
                <a:latin typeface="Segoe UI" pitchFamily="34" charset="0"/>
                <a:ea typeface="Segoe UI" pitchFamily="34" charset="-122"/>
                <a:cs typeface="Segoe UI" pitchFamily="34" charset="-120"/>
              </a:rPr>
              <a:t>REST API</a:t>
            </a:r>
            <a:endParaRPr lang="en-US" sz="800" dirty="0"/>
          </a:p>
          <a:p>
            <a:pPr algn="ctr" indent="0" marL="0">
              <a:buNone/>
            </a:pPr>
            <a:r>
              <a:rPr lang="en-US" sz="800" b="1" dirty="0">
                <a:solidFill>
                  <a:srgbClr val="64748B"/>
                </a:solidFill>
                <a:latin typeface="Segoe UI" pitchFamily="34" charset="0"/>
                <a:ea typeface="Segoe UI" pitchFamily="34" charset="-122"/>
                <a:cs typeface="Segoe UI" pitchFamily="34" charset="-120"/>
              </a:rPr>
              <a:t>(Bearer JWT)</a:t>
            </a:r>
            <a:endParaRPr lang="en-US" sz="800" dirty="0"/>
          </a:p>
          <a:p>
            <a:pPr algn="ctr" indent="0" marL="0">
              <a:buNone/>
            </a:pPr>
            <a:r>
              <a:rPr lang="en-US" sz="800" b="1" dirty="0">
                <a:solidFill>
                  <a:srgbClr val="64748B"/>
                </a:solidFill>
                <a:latin typeface="Segoe UI" pitchFamily="34" charset="0"/>
                <a:ea typeface="Segoe UI" pitchFamily="34" charset="-122"/>
                <a:cs typeface="Segoe UI" pitchFamily="34" charset="-120"/>
              </a:rPr>
              <a:t>──────►</a:t>
            </a:r>
            <a:endParaRPr lang="en-US" sz="800" dirty="0"/>
          </a:p>
        </p:txBody>
      </p:sp>
      <p:sp>
        <p:nvSpPr>
          <p:cNvPr id="17" name="Shape 15"/>
          <p:cNvSpPr/>
          <p:nvPr/>
        </p:nvSpPr>
        <p:spPr>
          <a:xfrm>
            <a:off x="3886200" y="1508760"/>
            <a:ext cx="2423160" cy="2103120"/>
          </a:xfrm>
          <a:prstGeom prst="roundRect">
            <a:avLst>
              <a:gd name="adj" fmla="val 3478"/>
            </a:avLst>
          </a:prstGeom>
          <a:solidFill>
            <a:srgbClr val="FFFFFF"/>
          </a:solidFill>
          <a:ln w="19050">
            <a:solidFill>
              <a:srgbClr val="0284C7"/>
            </a:solidFill>
            <a:prstDash val="solid"/>
          </a:ln>
        </p:spPr>
      </p:sp>
      <p:sp>
        <p:nvSpPr>
          <p:cNvPr id="18" name="Shape 16"/>
          <p:cNvSpPr/>
          <p:nvPr/>
        </p:nvSpPr>
        <p:spPr>
          <a:xfrm>
            <a:off x="4023360" y="1645920"/>
            <a:ext cx="2148840" cy="274320"/>
          </a:xfrm>
          <a:prstGeom prst="roundRect">
            <a:avLst>
              <a:gd name="adj" fmla="val 16667"/>
            </a:avLst>
          </a:prstGeom>
          <a:solidFill>
            <a:srgbClr val="E0F2FE"/>
          </a:solidFill>
          <a:ln/>
        </p:spPr>
      </p:sp>
      <p:sp>
        <p:nvSpPr>
          <p:cNvPr id="19" name="Text 17"/>
          <p:cNvSpPr/>
          <p:nvPr/>
        </p:nvSpPr>
        <p:spPr>
          <a:xfrm>
            <a:off x="4023360" y="1645920"/>
            <a:ext cx="2148840" cy="274320"/>
          </a:xfrm>
          <a:prstGeom prst="rect">
            <a:avLst/>
          </a:prstGeom>
          <a:noFill/>
          <a:ln/>
        </p:spPr>
        <p:txBody>
          <a:bodyPr wrap="square" rtlCol="0" anchor="ctr"/>
          <a:lstStyle/>
          <a:p>
            <a:pPr algn="ctr" indent="0" marL="0">
              <a:buNone/>
            </a:pPr>
            <a:r>
              <a:rPr lang="en-US" sz="800" b="1" dirty="0">
                <a:solidFill>
                  <a:srgbClr val="0284C7"/>
                </a:solidFill>
                <a:latin typeface="Segoe UI" pitchFamily="34" charset="0"/>
                <a:ea typeface="Segoe UI" pitchFamily="34" charset="-122"/>
                <a:cs typeface="Segoe UI" pitchFamily="34" charset="-120"/>
              </a:rPr>
              <a:t>APPLICATION &amp; API TIER</a:t>
            </a:r>
            <a:endParaRPr lang="en-US" sz="800" dirty="0"/>
          </a:p>
        </p:txBody>
      </p:sp>
      <p:sp>
        <p:nvSpPr>
          <p:cNvPr id="20" name="Text 18"/>
          <p:cNvSpPr/>
          <p:nvPr/>
        </p:nvSpPr>
        <p:spPr>
          <a:xfrm>
            <a:off x="4023360" y="2029968"/>
            <a:ext cx="2148840" cy="1463040"/>
          </a:xfrm>
          <a:prstGeom prst="rect">
            <a:avLst/>
          </a:prstGeom>
          <a:noFill/>
          <a:ln/>
        </p:spPr>
        <p:txBody>
          <a:bodyPr wrap="square" rtlCol="0" anchor="ctr"/>
          <a:lstStyle/>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Node.js &amp; Express.js Server</a:t>
            </a:r>
            <a:endParaRPr lang="en-US" sz="900" dirty="0"/>
          </a:p>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Stateless JWT Authentication</a:t>
            </a:r>
            <a:endParaRPr lang="en-US" sz="900" dirty="0"/>
          </a:p>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Role-Based Access Control</a:t>
            </a:r>
            <a:endParaRPr lang="en-US" sz="900" dirty="0"/>
          </a:p>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Order State Machine</a:t>
            </a:r>
            <a:endParaRPr lang="en-US" sz="900" dirty="0"/>
          </a:p>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Decision Engines (Rule Stubs)</a:t>
            </a:r>
            <a:endParaRPr lang="en-US" sz="900" dirty="0"/>
          </a:p>
          <a:p>
            <a:pPr indent="0" marL="0">
              <a:lnSpc>
                <a:spcPct val="120000"/>
              </a:lnSpc>
              <a:buNone/>
            </a:pPr>
            <a:r>
              <a:rPr lang="en-US" sz="900" dirty="0">
                <a:solidFill>
                  <a:srgbClr val="334155"/>
                </a:solidFill>
                <a:latin typeface="Segoe UI" pitchFamily="34" charset="0"/>
                <a:ea typeface="Segoe UI" pitchFamily="34" charset="-122"/>
                <a:cs typeface="Segoe UI" pitchFamily="34" charset="-120"/>
              </a:rPr>
              <a:t>• Idempotent Traceability Service</a:t>
            </a:r>
            <a:endParaRPr lang="en-US" sz="900" dirty="0"/>
          </a:p>
        </p:txBody>
      </p:sp>
      <p:sp>
        <p:nvSpPr>
          <p:cNvPr id="21" name="Text 19"/>
          <p:cNvSpPr/>
          <p:nvPr/>
        </p:nvSpPr>
        <p:spPr>
          <a:xfrm>
            <a:off x="6309360" y="2194560"/>
            <a:ext cx="777240" cy="731520"/>
          </a:xfrm>
          <a:prstGeom prst="rect">
            <a:avLst/>
          </a:prstGeom>
          <a:noFill/>
          <a:ln/>
        </p:spPr>
        <p:txBody>
          <a:bodyPr wrap="square" rtlCol="0" anchor="ctr"/>
          <a:lstStyle/>
          <a:p>
            <a:pPr algn="ctr" indent="0" marL="0">
              <a:buNone/>
            </a:pPr>
            <a:r>
              <a:rPr lang="en-US" sz="800" b="1" dirty="0">
                <a:solidFill>
                  <a:srgbClr val="64748B"/>
                </a:solidFill>
                <a:latin typeface="Segoe UI" pitchFamily="34" charset="0"/>
                <a:ea typeface="Segoe UI" pitchFamily="34" charset="-122"/>
                <a:cs typeface="Segoe UI" pitchFamily="34" charset="-120"/>
              </a:rPr>
              <a:t>Mongoose</a:t>
            </a:r>
            <a:endParaRPr lang="en-US" sz="800" dirty="0"/>
          </a:p>
          <a:p>
            <a:pPr algn="ctr" indent="0" marL="0">
              <a:buNone/>
            </a:pPr>
            <a:r>
              <a:rPr lang="en-US" sz="800" b="1" dirty="0">
                <a:solidFill>
                  <a:srgbClr val="64748B"/>
                </a:solidFill>
                <a:latin typeface="Segoe UI" pitchFamily="34" charset="0"/>
                <a:ea typeface="Segoe UI" pitchFamily="34" charset="-122"/>
                <a:cs typeface="Segoe UI" pitchFamily="34" charset="-120"/>
              </a:rPr>
              <a:t>ODM</a:t>
            </a:r>
            <a:endParaRPr lang="en-US" sz="800" dirty="0"/>
          </a:p>
          <a:p>
            <a:pPr algn="ctr" indent="0" marL="0">
              <a:buNone/>
            </a:pPr>
            <a:r>
              <a:rPr lang="en-US" sz="800" b="1" dirty="0">
                <a:solidFill>
                  <a:srgbClr val="64748B"/>
                </a:solidFill>
                <a:latin typeface="Segoe UI" pitchFamily="34" charset="0"/>
                <a:ea typeface="Segoe UI" pitchFamily="34" charset="-122"/>
                <a:cs typeface="Segoe UI" pitchFamily="34" charset="-120"/>
              </a:rPr>
              <a:t>──────►</a:t>
            </a:r>
            <a:endParaRPr lang="en-US" sz="800" dirty="0"/>
          </a:p>
        </p:txBody>
      </p:sp>
      <p:sp>
        <p:nvSpPr>
          <p:cNvPr id="22" name="Shape 20"/>
          <p:cNvSpPr/>
          <p:nvPr/>
        </p:nvSpPr>
        <p:spPr>
          <a:xfrm>
            <a:off x="7132320" y="1508760"/>
            <a:ext cx="1280160" cy="2103120"/>
          </a:xfrm>
          <a:prstGeom prst="roundRect">
            <a:avLst>
              <a:gd name="adj" fmla="val 5714"/>
            </a:avLst>
          </a:prstGeom>
          <a:solidFill>
            <a:srgbClr val="FFFFFF"/>
          </a:solidFill>
          <a:ln w="19050">
            <a:solidFill>
              <a:srgbClr val="7C3AED"/>
            </a:solidFill>
            <a:prstDash val="solid"/>
          </a:ln>
        </p:spPr>
      </p:sp>
      <p:sp>
        <p:nvSpPr>
          <p:cNvPr id="23" name="Shape 21"/>
          <p:cNvSpPr/>
          <p:nvPr/>
        </p:nvSpPr>
        <p:spPr>
          <a:xfrm>
            <a:off x="7223760" y="1645920"/>
            <a:ext cx="1097280" cy="274320"/>
          </a:xfrm>
          <a:prstGeom prst="roundRect">
            <a:avLst>
              <a:gd name="adj" fmla="val 16667"/>
            </a:avLst>
          </a:prstGeom>
          <a:solidFill>
            <a:srgbClr val="EDE9FE"/>
          </a:solidFill>
          <a:ln/>
        </p:spPr>
      </p:sp>
      <p:sp>
        <p:nvSpPr>
          <p:cNvPr id="24" name="Text 22"/>
          <p:cNvSpPr/>
          <p:nvPr/>
        </p:nvSpPr>
        <p:spPr>
          <a:xfrm>
            <a:off x="7223760" y="1645920"/>
            <a:ext cx="1097280" cy="274320"/>
          </a:xfrm>
          <a:prstGeom prst="rect">
            <a:avLst/>
          </a:prstGeom>
          <a:noFill/>
          <a:ln/>
        </p:spPr>
        <p:txBody>
          <a:bodyPr wrap="square" rtlCol="0" anchor="ctr"/>
          <a:lstStyle/>
          <a:p>
            <a:pPr algn="ctr" indent="0" marL="0">
              <a:buNone/>
            </a:pPr>
            <a:r>
              <a:rPr lang="en-US" sz="800" b="1" dirty="0">
                <a:solidFill>
                  <a:srgbClr val="7C3AED"/>
                </a:solidFill>
                <a:latin typeface="Segoe UI" pitchFamily="34" charset="0"/>
                <a:ea typeface="Segoe UI" pitchFamily="34" charset="-122"/>
                <a:cs typeface="Segoe UI" pitchFamily="34" charset="-120"/>
              </a:rPr>
              <a:t>DATA TIER</a:t>
            </a:r>
            <a:endParaRPr lang="en-US" sz="800" dirty="0"/>
          </a:p>
        </p:txBody>
      </p:sp>
      <p:sp>
        <p:nvSpPr>
          <p:cNvPr id="25" name="Text 23"/>
          <p:cNvSpPr/>
          <p:nvPr/>
        </p:nvSpPr>
        <p:spPr>
          <a:xfrm>
            <a:off x="7178040" y="2011680"/>
            <a:ext cx="1188720" cy="1508760"/>
          </a:xfrm>
          <a:prstGeom prst="rect">
            <a:avLst/>
          </a:prstGeom>
          <a:noFill/>
          <a:ln/>
        </p:spPr>
        <p:txBody>
          <a:bodyPr wrap="square" rtlCol="0" anchor="ctr"/>
          <a:lstStyle/>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MongoDB Atlas</a:t>
            </a:r>
            <a:endParaRPr lang="en-US" sz="850" dirty="0"/>
          </a:p>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Cloud Store</a:t>
            </a:r>
            <a:endParaRPr lang="en-US" sz="850" dirty="0"/>
          </a:p>
          <a:p>
            <a:pPr algn="ctr" indent="0" marL="0">
              <a:lnSpc>
                <a:spcPct val="115000"/>
              </a:lnSpc>
              <a:buNone/>
            </a:pPr>
            <a:endParaRPr lang="en-US" sz="850" dirty="0"/>
          </a:p>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 Users</a:t>
            </a:r>
            <a:endParaRPr lang="en-US" sz="850" dirty="0"/>
          </a:p>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 Crops</a:t>
            </a:r>
            <a:endParaRPr lang="en-US" sz="850" dirty="0"/>
          </a:p>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 Demands</a:t>
            </a:r>
            <a:endParaRPr lang="en-US" sz="850" dirty="0"/>
          </a:p>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 Bookings</a:t>
            </a:r>
            <a:endParaRPr lang="en-US" sz="850" dirty="0"/>
          </a:p>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 Orders</a:t>
            </a:r>
            <a:endParaRPr lang="en-US" sz="850" dirty="0"/>
          </a:p>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 Trips</a:t>
            </a:r>
            <a:endParaRPr lang="en-US" sz="850" dirty="0"/>
          </a:p>
          <a:p>
            <a:pPr algn="ctr" indent="0" marL="0">
              <a:lnSpc>
                <a:spcPct val="115000"/>
              </a:lnSpc>
              <a:buNone/>
            </a:pPr>
            <a:r>
              <a:rPr lang="en-US" sz="850" dirty="0">
                <a:solidFill>
                  <a:srgbClr val="334155"/>
                </a:solidFill>
                <a:latin typeface="Segoe UI" pitchFamily="34" charset="0"/>
                <a:ea typeface="Segoe UI" pitchFamily="34" charset="-122"/>
                <a:cs typeface="Segoe UI" pitchFamily="34" charset="-120"/>
              </a:rPr>
              <a:t>• TraceEvents</a:t>
            </a:r>
            <a:endParaRPr lang="en-US" sz="850" dirty="0"/>
          </a:p>
        </p:txBody>
      </p:sp>
      <p:sp>
        <p:nvSpPr>
          <p:cNvPr id="26" name="Shape 24"/>
          <p:cNvSpPr/>
          <p:nvPr/>
        </p:nvSpPr>
        <p:spPr>
          <a:xfrm>
            <a:off x="731520" y="3794760"/>
            <a:ext cx="7680960" cy="822960"/>
          </a:xfrm>
          <a:prstGeom prst="roundRect">
            <a:avLst>
              <a:gd name="adj" fmla="val 8889"/>
            </a:avLst>
          </a:prstGeom>
          <a:solidFill>
            <a:srgbClr val="FFFFFF"/>
          </a:solidFill>
          <a:ln w="12700">
            <a:solidFill>
              <a:srgbClr val="E2E8F0"/>
            </a:solidFill>
            <a:prstDash val="solid"/>
          </a:ln>
        </p:spPr>
      </p:sp>
      <p:sp>
        <p:nvSpPr>
          <p:cNvPr id="27" name="Text 25"/>
          <p:cNvSpPr/>
          <p:nvPr/>
        </p:nvSpPr>
        <p:spPr>
          <a:xfrm>
            <a:off x="914400" y="3886200"/>
            <a:ext cx="7315200" cy="640080"/>
          </a:xfrm>
          <a:prstGeom prst="rect">
            <a:avLst/>
          </a:prstGeom>
          <a:noFill/>
          <a:ln/>
        </p:spPr>
        <p:txBody>
          <a:bodyPr wrap="square" rtlCol="0" anchor="ctr"/>
          <a:lstStyle/>
          <a:p>
            <a:pPr indent="0" marL="0">
              <a:lnSpc>
                <a:spcPct val="115000"/>
              </a:lnSpc>
              <a:buNone/>
            </a:pPr>
            <a:r>
              <a:rPr lang="en-US" sz="900" b="1" dirty="0">
                <a:solidFill>
                  <a:srgbClr val="0D6938"/>
                </a:solidFill>
                <a:latin typeface="Segoe UI" pitchFamily="34" charset="0"/>
                <a:ea typeface="Segoe UI" pitchFamily="34" charset="-122"/>
                <a:cs typeface="Segoe UI" pitchFamily="34" charset="-120"/>
              </a:rPr>
              <a:t>• Cloud Deployment Infrastructure: </a:t>
            </a:r>
            <a:pPr indent="0" marL="0">
              <a:lnSpc>
                <a:spcPct val="115000"/>
              </a:lnSpc>
              <a:buNone/>
            </a:pPr>
            <a:r>
              <a:rPr lang="en-US" sz="900" dirty="0">
                <a:solidFill>
                  <a:srgbClr val="334155"/>
                </a:solidFill>
                <a:latin typeface="Segoe UI" pitchFamily="34" charset="0"/>
                <a:ea typeface="Segoe UI" pitchFamily="34" charset="-122"/>
                <a:cs typeface="Segoe UI" pitchFamily="34" charset="-120"/>
              </a:rPr>
              <a:t>Frontend hosted on Vercel SPA  •  Backend deployed on Render  •  Database on MongoDB Atlas Distributed Replica Set.
</a:t>
            </a:r>
            <a:pPr indent="0" marL="0">
              <a:lnSpc>
                <a:spcPct val="115000"/>
              </a:lnSpc>
              <a:buNone/>
            </a:pPr>
            <a:r>
              <a:rPr lang="en-US" sz="900" b="1" dirty="0">
                <a:solidFill>
                  <a:srgbClr val="0D6938"/>
                </a:solidFill>
                <a:latin typeface="Segoe UI" pitchFamily="34" charset="0"/>
                <a:ea typeface="Segoe UI" pitchFamily="34" charset="-122"/>
                <a:cs typeface="Segoe UI" pitchFamily="34" charset="-120"/>
              </a:rPr>
              <a:t>• Security Architecture: </a:t>
            </a:r>
            <a:pPr indent="0" marL="0">
              <a:lnSpc>
                <a:spcPct val="115000"/>
              </a:lnSpc>
              <a:buNone/>
            </a:pPr>
            <a:r>
              <a:rPr lang="en-US" sz="900" dirty="0">
                <a:solidFill>
                  <a:srgbClr val="334155"/>
                </a:solidFill>
                <a:latin typeface="Segoe UI" pitchFamily="34" charset="0"/>
                <a:ea typeface="Segoe UI" pitchFamily="34" charset="-122"/>
                <a:cs typeface="Segoe UI" pitchFamily="34" charset="-120"/>
              </a:rPr>
              <a:t>Every API request is validated via Bearer JWT tokens with bcrypt password hashing and granular role enforcement.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ROLE MATRIX</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06/15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User Roles &amp; Functional Module Matrix</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Granular access control and feature partitioning tailored to specific supply-chain workflows</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508760"/>
            <a:ext cx="1874520" cy="3108960"/>
          </a:xfrm>
          <a:prstGeom prst="roundRect">
            <a:avLst>
              <a:gd name="adj" fmla="val 3902"/>
            </a:avLst>
          </a:prstGeom>
          <a:solidFill>
            <a:srgbClr val="FFFFFF"/>
          </a:solidFill>
          <a:ln w="12700">
            <a:solidFill>
              <a:srgbClr val="E2E8F0"/>
            </a:solidFill>
            <a:prstDash val="solid"/>
          </a:ln>
        </p:spPr>
      </p:sp>
      <p:sp>
        <p:nvSpPr>
          <p:cNvPr id="13" name="Shape 11"/>
          <p:cNvSpPr/>
          <p:nvPr/>
        </p:nvSpPr>
        <p:spPr>
          <a:xfrm>
            <a:off x="822960" y="1627632"/>
            <a:ext cx="1691640" cy="457200"/>
          </a:xfrm>
          <a:prstGeom prst="roundRect">
            <a:avLst>
              <a:gd name="adj" fmla="val 12000"/>
            </a:avLst>
          </a:prstGeom>
          <a:solidFill>
            <a:srgbClr val="DCFCE7"/>
          </a:solidFill>
          <a:ln/>
        </p:spPr>
      </p:sp>
      <p:sp>
        <p:nvSpPr>
          <p:cNvPr id="14" name="Text 12"/>
          <p:cNvSpPr/>
          <p:nvPr/>
        </p:nvSpPr>
        <p:spPr>
          <a:xfrm>
            <a:off x="822960" y="1664208"/>
            <a:ext cx="1691640" cy="201168"/>
          </a:xfrm>
          <a:prstGeom prst="rect">
            <a:avLst/>
          </a:prstGeom>
          <a:noFill/>
          <a:ln/>
        </p:spPr>
        <p:txBody>
          <a:bodyPr wrap="square" rtlCol="0" anchor="ctr"/>
          <a:lstStyle/>
          <a:p>
            <a:pPr algn="ctr" indent="0" marL="0">
              <a:buNone/>
            </a:pPr>
            <a:r>
              <a:rPr lang="en-US" sz="850" b="1" dirty="0">
                <a:solidFill>
                  <a:srgbClr val="0D6938"/>
                </a:solidFill>
                <a:latin typeface="Segoe UI" pitchFamily="34" charset="0"/>
                <a:ea typeface="Segoe UI" pitchFamily="34" charset="-122"/>
                <a:cs typeface="Segoe UI" pitchFamily="34" charset="-120"/>
              </a:rPr>
              <a:t>🌾 Farmer Module</a:t>
            </a:r>
            <a:endParaRPr lang="en-US" sz="850" dirty="0"/>
          </a:p>
        </p:txBody>
      </p:sp>
      <p:sp>
        <p:nvSpPr>
          <p:cNvPr id="15" name="Text 13"/>
          <p:cNvSpPr/>
          <p:nvPr/>
        </p:nvSpPr>
        <p:spPr>
          <a:xfrm>
            <a:off x="822960" y="1865376"/>
            <a:ext cx="1691640" cy="182880"/>
          </a:xfrm>
          <a:prstGeom prst="rect">
            <a:avLst/>
          </a:prstGeom>
          <a:noFill/>
          <a:ln/>
        </p:spPr>
        <p:txBody>
          <a:bodyPr wrap="square" rtlCol="0" anchor="ctr"/>
          <a:lstStyle/>
          <a:p>
            <a:pPr algn="ctr" indent="0" marL="0">
              <a:buNone/>
            </a:pPr>
            <a:r>
              <a:rPr lang="en-US" sz="680" dirty="0">
                <a:solidFill>
                  <a:srgbClr val="64748B"/>
                </a:solidFill>
                <a:latin typeface="Segoe UI" pitchFamily="34" charset="0"/>
                <a:ea typeface="Segoe UI" pitchFamily="34" charset="-122"/>
                <a:cs typeface="Segoe UI" pitchFamily="34" charset="-120"/>
              </a:rPr>
              <a:t>ROLE: FARMER</a:t>
            </a:r>
            <a:endParaRPr lang="en-US" sz="680" dirty="0"/>
          </a:p>
        </p:txBody>
      </p:sp>
      <p:sp>
        <p:nvSpPr>
          <p:cNvPr id="16" name="Text 14"/>
          <p:cNvSpPr/>
          <p:nvPr/>
        </p:nvSpPr>
        <p:spPr>
          <a:xfrm>
            <a:off x="868680" y="2194560"/>
            <a:ext cx="1600200" cy="2286000"/>
          </a:xfrm>
          <a:prstGeom prst="rect">
            <a:avLst/>
          </a:prstGeom>
          <a:noFill/>
          <a:ln/>
        </p:spPr>
        <p:txBody>
          <a:bodyPr wrap="square" rtlCol="0" anchor="ctr"/>
          <a:lstStyle/>
          <a:p>
            <a:pPr indent="0" marL="0">
              <a:lnSpc>
                <a:spcPct val="115000"/>
              </a:lnSpc>
              <a:buNone/>
            </a:pPr>
            <a:r>
              <a:rPr lang="en-US" sz="880" dirty="0">
                <a:solidFill>
                  <a:srgbClr val="334155"/>
                </a:solidFill>
                <a:latin typeface="Segoe UI" pitchFamily="34" charset="0"/>
                <a:ea typeface="Segoe UI" pitchFamily="34" charset="-122"/>
                <a:cs typeface="Segoe UI" pitchFamily="34" charset="-120"/>
              </a:rPr>
              <a:t>• Crop inventory CRUD &amp; batches
• Market demand board &amp; prices
• AI Centre (Buyer match, plan)
• Shelf-life spoilage monitoring
• Order fulfillment (Ready stage)
</a:t>
            </a:r>
            <a:endParaRPr lang="en-US" sz="880" dirty="0"/>
          </a:p>
        </p:txBody>
      </p:sp>
      <p:sp>
        <p:nvSpPr>
          <p:cNvPr id="17" name="Shape 15"/>
          <p:cNvSpPr/>
          <p:nvPr/>
        </p:nvSpPr>
        <p:spPr>
          <a:xfrm>
            <a:off x="2697480" y="1508760"/>
            <a:ext cx="1874520" cy="3108960"/>
          </a:xfrm>
          <a:prstGeom prst="roundRect">
            <a:avLst>
              <a:gd name="adj" fmla="val 3902"/>
            </a:avLst>
          </a:prstGeom>
          <a:solidFill>
            <a:srgbClr val="FFFFFF"/>
          </a:solidFill>
          <a:ln w="12700">
            <a:solidFill>
              <a:srgbClr val="E2E8F0"/>
            </a:solidFill>
            <a:prstDash val="solid"/>
          </a:ln>
        </p:spPr>
      </p:sp>
      <p:sp>
        <p:nvSpPr>
          <p:cNvPr id="18" name="Shape 16"/>
          <p:cNvSpPr/>
          <p:nvPr/>
        </p:nvSpPr>
        <p:spPr>
          <a:xfrm>
            <a:off x="2788920" y="1627632"/>
            <a:ext cx="1691640" cy="457200"/>
          </a:xfrm>
          <a:prstGeom prst="roundRect">
            <a:avLst>
              <a:gd name="adj" fmla="val 12000"/>
            </a:avLst>
          </a:prstGeom>
          <a:solidFill>
            <a:srgbClr val="E0F2FE"/>
          </a:solidFill>
          <a:ln/>
        </p:spPr>
      </p:sp>
      <p:sp>
        <p:nvSpPr>
          <p:cNvPr id="19" name="Text 17"/>
          <p:cNvSpPr/>
          <p:nvPr/>
        </p:nvSpPr>
        <p:spPr>
          <a:xfrm>
            <a:off x="2788920" y="1664208"/>
            <a:ext cx="1691640" cy="201168"/>
          </a:xfrm>
          <a:prstGeom prst="rect">
            <a:avLst/>
          </a:prstGeom>
          <a:noFill/>
          <a:ln/>
        </p:spPr>
        <p:txBody>
          <a:bodyPr wrap="square" rtlCol="0" anchor="ctr"/>
          <a:lstStyle/>
          <a:p>
            <a:pPr algn="ctr" indent="0" marL="0">
              <a:buNone/>
            </a:pPr>
            <a:r>
              <a:rPr lang="en-US" sz="850" b="1" dirty="0">
                <a:solidFill>
                  <a:srgbClr val="0284C7"/>
                </a:solidFill>
                <a:latin typeface="Segoe UI" pitchFamily="34" charset="0"/>
                <a:ea typeface="Segoe UI" pitchFamily="34" charset="-122"/>
                <a:cs typeface="Segoe UI" pitchFamily="34" charset="-120"/>
              </a:rPr>
              <a:t>🏢 Buyer Module</a:t>
            </a:r>
            <a:endParaRPr lang="en-US" sz="850" dirty="0"/>
          </a:p>
        </p:txBody>
      </p:sp>
      <p:sp>
        <p:nvSpPr>
          <p:cNvPr id="20" name="Text 18"/>
          <p:cNvSpPr/>
          <p:nvPr/>
        </p:nvSpPr>
        <p:spPr>
          <a:xfrm>
            <a:off x="2788920" y="1865376"/>
            <a:ext cx="1691640" cy="182880"/>
          </a:xfrm>
          <a:prstGeom prst="rect">
            <a:avLst/>
          </a:prstGeom>
          <a:noFill/>
          <a:ln/>
        </p:spPr>
        <p:txBody>
          <a:bodyPr wrap="square" rtlCol="0" anchor="ctr"/>
          <a:lstStyle/>
          <a:p>
            <a:pPr algn="ctr" indent="0" marL="0">
              <a:buNone/>
            </a:pPr>
            <a:r>
              <a:rPr lang="en-US" sz="680" dirty="0">
                <a:solidFill>
                  <a:srgbClr val="64748B"/>
                </a:solidFill>
                <a:latin typeface="Segoe UI" pitchFamily="34" charset="0"/>
                <a:ea typeface="Segoe UI" pitchFamily="34" charset="-122"/>
                <a:cs typeface="Segoe UI" pitchFamily="34" charset="-120"/>
              </a:rPr>
              <a:t>ROLE: BUYER</a:t>
            </a:r>
            <a:endParaRPr lang="en-US" sz="680" dirty="0"/>
          </a:p>
        </p:txBody>
      </p:sp>
      <p:sp>
        <p:nvSpPr>
          <p:cNvPr id="21" name="Text 19"/>
          <p:cNvSpPr/>
          <p:nvPr/>
        </p:nvSpPr>
        <p:spPr>
          <a:xfrm>
            <a:off x="2834640" y="2194560"/>
            <a:ext cx="1600200" cy="2286000"/>
          </a:xfrm>
          <a:prstGeom prst="rect">
            <a:avLst/>
          </a:prstGeom>
          <a:noFill/>
          <a:ln/>
        </p:spPr>
        <p:txBody>
          <a:bodyPr wrap="square" rtlCol="0" anchor="ctr"/>
          <a:lstStyle/>
          <a:p>
            <a:pPr indent="0" marL="0">
              <a:lnSpc>
                <a:spcPct val="115000"/>
              </a:lnSpc>
              <a:buNone/>
            </a:pPr>
            <a:r>
              <a:rPr lang="en-US" sz="880" dirty="0">
                <a:solidFill>
                  <a:srgbClr val="334155"/>
                </a:solidFill>
                <a:latin typeface="Segoe UI" pitchFamily="34" charset="0"/>
                <a:ea typeface="Segoe UI" pitchFamily="34" charset="-122"/>
                <a:cs typeface="Segoe UI" pitchFamily="34" charset="-120"/>
              </a:rPr>
              <a:t>• Marketplace produce discovery
• Broadcast procurement needs
• Algorithmic match recommendations
• Direct farm booking modal
• Order delivery milestone tracking
</a:t>
            </a:r>
            <a:endParaRPr lang="en-US" sz="880" dirty="0"/>
          </a:p>
        </p:txBody>
      </p:sp>
      <p:sp>
        <p:nvSpPr>
          <p:cNvPr id="22" name="Shape 20"/>
          <p:cNvSpPr/>
          <p:nvPr/>
        </p:nvSpPr>
        <p:spPr>
          <a:xfrm>
            <a:off x="4663440" y="1508760"/>
            <a:ext cx="1874520" cy="3108960"/>
          </a:xfrm>
          <a:prstGeom prst="roundRect">
            <a:avLst>
              <a:gd name="adj" fmla="val 3902"/>
            </a:avLst>
          </a:prstGeom>
          <a:solidFill>
            <a:srgbClr val="FFFFFF"/>
          </a:solidFill>
          <a:ln w="12700">
            <a:solidFill>
              <a:srgbClr val="E2E8F0"/>
            </a:solidFill>
            <a:prstDash val="solid"/>
          </a:ln>
        </p:spPr>
      </p:sp>
      <p:sp>
        <p:nvSpPr>
          <p:cNvPr id="23" name="Shape 21"/>
          <p:cNvSpPr/>
          <p:nvPr/>
        </p:nvSpPr>
        <p:spPr>
          <a:xfrm>
            <a:off x="4754880" y="1627632"/>
            <a:ext cx="1691640" cy="457200"/>
          </a:xfrm>
          <a:prstGeom prst="roundRect">
            <a:avLst>
              <a:gd name="adj" fmla="val 12000"/>
            </a:avLst>
          </a:prstGeom>
          <a:solidFill>
            <a:srgbClr val="FEF3C7"/>
          </a:solidFill>
          <a:ln/>
        </p:spPr>
      </p:sp>
      <p:sp>
        <p:nvSpPr>
          <p:cNvPr id="24" name="Text 22"/>
          <p:cNvSpPr/>
          <p:nvPr/>
        </p:nvSpPr>
        <p:spPr>
          <a:xfrm>
            <a:off x="4754880" y="1664208"/>
            <a:ext cx="1691640" cy="201168"/>
          </a:xfrm>
          <a:prstGeom prst="rect">
            <a:avLst/>
          </a:prstGeom>
          <a:noFill/>
          <a:ln/>
        </p:spPr>
        <p:txBody>
          <a:bodyPr wrap="square" rtlCol="0" anchor="ctr"/>
          <a:lstStyle/>
          <a:p>
            <a:pPr algn="ctr" indent="0" marL="0">
              <a:buNone/>
            </a:pPr>
            <a:r>
              <a:rPr lang="en-US" sz="850" b="1" dirty="0">
                <a:solidFill>
                  <a:srgbClr val="D97706"/>
                </a:solidFill>
                <a:latin typeface="Segoe UI" pitchFamily="34" charset="0"/>
                <a:ea typeface="Segoe UI" pitchFamily="34" charset="-122"/>
                <a:cs typeface="Segoe UI" pitchFamily="34" charset="-120"/>
              </a:rPr>
              <a:t>🚛 Transporter Module</a:t>
            </a:r>
            <a:endParaRPr lang="en-US" sz="850" dirty="0"/>
          </a:p>
        </p:txBody>
      </p:sp>
      <p:sp>
        <p:nvSpPr>
          <p:cNvPr id="25" name="Text 23"/>
          <p:cNvSpPr/>
          <p:nvPr/>
        </p:nvSpPr>
        <p:spPr>
          <a:xfrm>
            <a:off x="4754880" y="1865376"/>
            <a:ext cx="1691640" cy="182880"/>
          </a:xfrm>
          <a:prstGeom prst="rect">
            <a:avLst/>
          </a:prstGeom>
          <a:noFill/>
          <a:ln/>
        </p:spPr>
        <p:txBody>
          <a:bodyPr wrap="square" rtlCol="0" anchor="ctr"/>
          <a:lstStyle/>
          <a:p>
            <a:pPr algn="ctr" indent="0" marL="0">
              <a:buNone/>
            </a:pPr>
            <a:r>
              <a:rPr lang="en-US" sz="680" dirty="0">
                <a:solidFill>
                  <a:srgbClr val="64748B"/>
                </a:solidFill>
                <a:latin typeface="Segoe UI" pitchFamily="34" charset="0"/>
                <a:ea typeface="Segoe UI" pitchFamily="34" charset="-122"/>
                <a:cs typeface="Segoe UI" pitchFamily="34" charset="-120"/>
              </a:rPr>
              <a:t>ROLE: TRANSPORTER</a:t>
            </a:r>
            <a:endParaRPr lang="en-US" sz="680" dirty="0"/>
          </a:p>
        </p:txBody>
      </p:sp>
      <p:sp>
        <p:nvSpPr>
          <p:cNvPr id="26" name="Text 24"/>
          <p:cNvSpPr/>
          <p:nvPr/>
        </p:nvSpPr>
        <p:spPr>
          <a:xfrm>
            <a:off x="4800600" y="2194560"/>
            <a:ext cx="1600200" cy="2286000"/>
          </a:xfrm>
          <a:prstGeom prst="rect">
            <a:avLst/>
          </a:prstGeom>
          <a:noFill/>
          <a:ln/>
        </p:spPr>
        <p:txBody>
          <a:bodyPr wrap="square" rtlCol="0" anchor="ctr"/>
          <a:lstStyle/>
          <a:p>
            <a:pPr indent="0" marL="0">
              <a:lnSpc>
                <a:spcPct val="115000"/>
              </a:lnSpc>
              <a:buNone/>
            </a:pPr>
            <a:r>
              <a:rPr lang="en-US" sz="880" dirty="0">
                <a:solidFill>
                  <a:srgbClr val="334155"/>
                </a:solidFill>
                <a:latin typeface="Segoe UI" pitchFamily="34" charset="0"/>
                <a:ea typeface="Segoe UI" pitchFamily="34" charset="-122"/>
                <a:cs typeface="Segoe UI" pitchFamily="34" charset="-120"/>
              </a:rPr>
              <a:t>• Open pickup request job board
• Atomic single-driver job lock
• Active Trips delivery pipeline
• Route heuristics &amp; capacity
• Trip freight earnings ledger
</a:t>
            </a:r>
            <a:endParaRPr lang="en-US" sz="880" dirty="0"/>
          </a:p>
        </p:txBody>
      </p:sp>
      <p:sp>
        <p:nvSpPr>
          <p:cNvPr id="27" name="Shape 25"/>
          <p:cNvSpPr/>
          <p:nvPr/>
        </p:nvSpPr>
        <p:spPr>
          <a:xfrm>
            <a:off x="6629400" y="1508760"/>
            <a:ext cx="1874520" cy="3108960"/>
          </a:xfrm>
          <a:prstGeom prst="roundRect">
            <a:avLst>
              <a:gd name="adj" fmla="val 3902"/>
            </a:avLst>
          </a:prstGeom>
          <a:solidFill>
            <a:srgbClr val="FFFFFF"/>
          </a:solidFill>
          <a:ln w="12700">
            <a:solidFill>
              <a:srgbClr val="E2E8F0"/>
            </a:solidFill>
            <a:prstDash val="solid"/>
          </a:ln>
        </p:spPr>
      </p:sp>
      <p:sp>
        <p:nvSpPr>
          <p:cNvPr id="28" name="Shape 26"/>
          <p:cNvSpPr/>
          <p:nvPr/>
        </p:nvSpPr>
        <p:spPr>
          <a:xfrm>
            <a:off x="6720840" y="1627632"/>
            <a:ext cx="1691640" cy="457200"/>
          </a:xfrm>
          <a:prstGeom prst="roundRect">
            <a:avLst>
              <a:gd name="adj" fmla="val 12000"/>
            </a:avLst>
          </a:prstGeom>
          <a:solidFill>
            <a:srgbClr val="EDE9FE"/>
          </a:solidFill>
          <a:ln/>
        </p:spPr>
      </p:sp>
      <p:sp>
        <p:nvSpPr>
          <p:cNvPr id="29" name="Text 27"/>
          <p:cNvSpPr/>
          <p:nvPr/>
        </p:nvSpPr>
        <p:spPr>
          <a:xfrm>
            <a:off x="6720840" y="1664208"/>
            <a:ext cx="1691640" cy="201168"/>
          </a:xfrm>
          <a:prstGeom prst="rect">
            <a:avLst/>
          </a:prstGeom>
          <a:noFill/>
          <a:ln/>
        </p:spPr>
        <p:txBody>
          <a:bodyPr wrap="square" rtlCol="0" anchor="ctr"/>
          <a:lstStyle/>
          <a:p>
            <a:pPr algn="ctr" indent="0" marL="0">
              <a:buNone/>
            </a:pPr>
            <a:r>
              <a:rPr lang="en-US" sz="850" b="1" dirty="0">
                <a:solidFill>
                  <a:srgbClr val="7C3AED"/>
                </a:solidFill>
                <a:latin typeface="Segoe UI" pitchFamily="34" charset="0"/>
                <a:ea typeface="Segoe UI" pitchFamily="34" charset="-122"/>
                <a:cs typeface="Segoe UI" pitchFamily="34" charset="-120"/>
              </a:rPr>
              <a:t>⚙️ Admin Module</a:t>
            </a:r>
            <a:endParaRPr lang="en-US" sz="850" dirty="0"/>
          </a:p>
        </p:txBody>
      </p:sp>
      <p:sp>
        <p:nvSpPr>
          <p:cNvPr id="30" name="Text 28"/>
          <p:cNvSpPr/>
          <p:nvPr/>
        </p:nvSpPr>
        <p:spPr>
          <a:xfrm>
            <a:off x="6720840" y="1865376"/>
            <a:ext cx="1691640" cy="182880"/>
          </a:xfrm>
          <a:prstGeom prst="rect">
            <a:avLst/>
          </a:prstGeom>
          <a:noFill/>
          <a:ln/>
        </p:spPr>
        <p:txBody>
          <a:bodyPr wrap="square" rtlCol="0" anchor="ctr"/>
          <a:lstStyle/>
          <a:p>
            <a:pPr algn="ctr" indent="0" marL="0">
              <a:buNone/>
            </a:pPr>
            <a:r>
              <a:rPr lang="en-US" sz="680" dirty="0">
                <a:solidFill>
                  <a:srgbClr val="64748B"/>
                </a:solidFill>
                <a:latin typeface="Segoe UI" pitchFamily="34" charset="0"/>
                <a:ea typeface="Segoe UI" pitchFamily="34" charset="-122"/>
                <a:cs typeface="Segoe UI" pitchFamily="34" charset="-120"/>
              </a:rPr>
              <a:t>ROLE: ADMIN</a:t>
            </a:r>
            <a:endParaRPr lang="en-US" sz="680" dirty="0"/>
          </a:p>
        </p:txBody>
      </p:sp>
      <p:sp>
        <p:nvSpPr>
          <p:cNvPr id="31" name="Text 29"/>
          <p:cNvSpPr/>
          <p:nvPr/>
        </p:nvSpPr>
        <p:spPr>
          <a:xfrm>
            <a:off x="6766560" y="2194560"/>
            <a:ext cx="1600200" cy="2286000"/>
          </a:xfrm>
          <a:prstGeom prst="rect">
            <a:avLst/>
          </a:prstGeom>
          <a:noFill/>
          <a:ln/>
        </p:spPr>
        <p:txBody>
          <a:bodyPr wrap="square" rtlCol="0" anchor="ctr"/>
          <a:lstStyle/>
          <a:p>
            <a:pPr indent="0" marL="0">
              <a:lnSpc>
                <a:spcPct val="115000"/>
              </a:lnSpc>
              <a:buNone/>
            </a:pPr>
            <a:r>
              <a:rPr lang="en-US" sz="880" dirty="0">
                <a:solidFill>
                  <a:srgbClr val="334155"/>
                </a:solidFill>
                <a:latin typeface="Segoe UI" pitchFamily="34" charset="0"/>
                <a:ea typeface="Segoe UI" pitchFamily="34" charset="-122"/>
                <a:cs typeface="Segoe UI" pitchFamily="34" charset="-120"/>
              </a:rPr>
              <a:t>• User KYC &amp; farm verification
• System analytics &amp; KPI metrics
• Order &amp; payment audit trail
• Traceability ledger explorer
• Platform dispute resolution
</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STAKEHOLDER MODULE</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07/15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Farmer Module: Crop Management &amp; Demand-Linked Fulfillment</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Empowering agricultural producers with inventory control, demand visibility, and order staging</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481328"/>
            <a:ext cx="4846320" cy="3127248"/>
          </a:xfrm>
          <a:prstGeom prst="roundRect">
            <a:avLst>
              <a:gd name="adj" fmla="val 2339"/>
            </a:avLst>
          </a:prstGeom>
          <a:solidFill>
            <a:srgbClr val="FFFFFF"/>
          </a:solidFill>
          <a:ln w="12700">
            <a:solidFill>
              <a:srgbClr val="E2E8F0"/>
            </a:solidFill>
            <a:prstDash val="solid"/>
          </a:ln>
        </p:spPr>
      </p:sp>
      <p:sp>
        <p:nvSpPr>
          <p:cNvPr id="13" name="Text 11"/>
          <p:cNvSpPr/>
          <p:nvPr/>
        </p:nvSpPr>
        <p:spPr>
          <a:xfrm>
            <a:off x="914400" y="1627632"/>
            <a:ext cx="4480560" cy="2834640"/>
          </a:xfrm>
          <a:prstGeom prst="rect">
            <a:avLst/>
          </a:prstGeom>
          <a:noFill/>
          <a:ln/>
        </p:spPr>
        <p:txBody>
          <a:bodyPr wrap="square" rtlCol="0" anchor="ctr"/>
          <a:lstStyle/>
          <a:p>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Crop Management: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Add, edit, and catalog crop listings with harvest dates, expected quantities, quality grades, and target prices.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Market Demand Explorer: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Inspect forward buyer requirements and current mandi price bands before harvesting.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AI Decision Centre: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Access explainable recommendations for matched buyers, harvest planning, and shelf-life alerts.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Order Fulfillment Pipeline: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Review and accept buyer bookings; advance accepted orders from Confirmed ➔ Preparing ➔ Ready for Pickup.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Farm Profile &amp; Settlement Info: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Maintain verified farm coordinates, bank accounts, and payout notification settings.</a:t>
            </a:r>
            <a:endParaRPr lang="en-US" sz="980" dirty="0"/>
          </a:p>
        </p:txBody>
      </p:sp>
      <p:sp>
        <p:nvSpPr>
          <p:cNvPr id="14" name="Shape 12"/>
          <p:cNvSpPr/>
          <p:nvPr/>
        </p:nvSpPr>
        <p:spPr>
          <a:xfrm>
            <a:off x="5760720" y="1481328"/>
            <a:ext cx="2651760" cy="3127248"/>
          </a:xfrm>
          <a:prstGeom prst="roundRect">
            <a:avLst>
              <a:gd name="adj" fmla="val 2759"/>
            </a:avLst>
          </a:prstGeom>
          <a:solidFill>
            <a:srgbClr val="FFFFFF"/>
          </a:solidFill>
          <a:ln w="12700">
            <a:solidFill>
              <a:srgbClr val="E2E8F0"/>
            </a:solidFill>
            <a:prstDash val="solid"/>
          </a:ln>
        </p:spPr>
      </p:sp>
      <p:sp>
        <p:nvSpPr>
          <p:cNvPr id="15" name="Shape 13"/>
          <p:cNvSpPr/>
          <p:nvPr/>
        </p:nvSpPr>
        <p:spPr>
          <a:xfrm>
            <a:off x="5897880" y="1627632"/>
            <a:ext cx="2377440" cy="256032"/>
          </a:xfrm>
          <a:prstGeom prst="roundRect">
            <a:avLst>
              <a:gd name="adj" fmla="val 17857"/>
            </a:avLst>
          </a:prstGeom>
          <a:solidFill>
            <a:srgbClr val="DCFCE7"/>
          </a:solidFill>
          <a:ln/>
        </p:spPr>
      </p:sp>
      <p:sp>
        <p:nvSpPr>
          <p:cNvPr id="16" name="Text 14"/>
          <p:cNvSpPr/>
          <p:nvPr/>
        </p:nvSpPr>
        <p:spPr>
          <a:xfrm>
            <a:off x="5897880" y="1627632"/>
            <a:ext cx="2377440" cy="256032"/>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FARMER STAGING LIFECYCLE</a:t>
            </a:r>
            <a:endParaRPr lang="en-US" sz="750" dirty="0"/>
          </a:p>
        </p:txBody>
      </p:sp>
      <p:sp>
        <p:nvSpPr>
          <p:cNvPr id="17" name="Shape 15"/>
          <p:cNvSpPr/>
          <p:nvPr/>
        </p:nvSpPr>
        <p:spPr>
          <a:xfrm>
            <a:off x="5897880" y="2029968"/>
            <a:ext cx="2377440" cy="475488"/>
          </a:xfrm>
          <a:prstGeom prst="roundRect">
            <a:avLst>
              <a:gd name="adj" fmla="val 11538"/>
            </a:avLst>
          </a:prstGeom>
          <a:solidFill>
            <a:srgbClr val="F8FAFC"/>
          </a:solidFill>
          <a:ln w="12700">
            <a:solidFill>
              <a:srgbClr val="E2E8F0"/>
            </a:solidFill>
            <a:prstDash val="solid"/>
          </a:ln>
        </p:spPr>
      </p:sp>
      <p:sp>
        <p:nvSpPr>
          <p:cNvPr id="18" name="Text 16"/>
          <p:cNvSpPr/>
          <p:nvPr/>
        </p:nvSpPr>
        <p:spPr>
          <a:xfrm>
            <a:off x="5989320" y="2084832"/>
            <a:ext cx="2194560" cy="182880"/>
          </a:xfrm>
          <a:prstGeom prst="rect">
            <a:avLst/>
          </a:prstGeom>
          <a:noFill/>
          <a:ln/>
        </p:spPr>
        <p:txBody>
          <a:bodyPr wrap="square" rtlCol="0" anchor="ctr"/>
          <a:lstStyle/>
          <a:p>
            <a:pPr indent="0" marL="0">
              <a:buNone/>
            </a:pPr>
            <a:r>
              <a:rPr lang="en-US" sz="900" b="1" dirty="0">
                <a:solidFill>
                  <a:srgbClr val="0D6938"/>
                </a:solidFill>
                <a:latin typeface="Segoe UI" pitchFamily="34" charset="0"/>
                <a:ea typeface="Segoe UI" pitchFamily="34" charset="-122"/>
                <a:cs typeface="Segoe UI" pitchFamily="34" charset="-120"/>
              </a:rPr>
              <a:t>1. Booking Placed</a:t>
            </a:r>
            <a:endParaRPr lang="en-US" sz="900" dirty="0"/>
          </a:p>
        </p:txBody>
      </p:sp>
      <p:sp>
        <p:nvSpPr>
          <p:cNvPr id="19" name="Text 17"/>
          <p:cNvSpPr/>
          <p:nvPr/>
        </p:nvSpPr>
        <p:spPr>
          <a:xfrm>
            <a:off x="5989320" y="228600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Buyer reserves quantity</a:t>
            </a:r>
            <a:endParaRPr lang="en-US" sz="750" dirty="0"/>
          </a:p>
        </p:txBody>
      </p:sp>
      <p:sp>
        <p:nvSpPr>
          <p:cNvPr id="20" name="Shape 18"/>
          <p:cNvSpPr/>
          <p:nvPr/>
        </p:nvSpPr>
        <p:spPr>
          <a:xfrm>
            <a:off x="5897880" y="2624328"/>
            <a:ext cx="2377440" cy="475488"/>
          </a:xfrm>
          <a:prstGeom prst="roundRect">
            <a:avLst>
              <a:gd name="adj" fmla="val 11538"/>
            </a:avLst>
          </a:prstGeom>
          <a:solidFill>
            <a:srgbClr val="F8FAFC"/>
          </a:solidFill>
          <a:ln w="12700">
            <a:solidFill>
              <a:srgbClr val="E2E8F0"/>
            </a:solidFill>
            <a:prstDash val="solid"/>
          </a:ln>
        </p:spPr>
      </p:sp>
      <p:sp>
        <p:nvSpPr>
          <p:cNvPr id="21" name="Text 19"/>
          <p:cNvSpPr/>
          <p:nvPr/>
        </p:nvSpPr>
        <p:spPr>
          <a:xfrm>
            <a:off x="5989320" y="2679192"/>
            <a:ext cx="2194560" cy="182880"/>
          </a:xfrm>
          <a:prstGeom prst="rect">
            <a:avLst/>
          </a:prstGeom>
          <a:noFill/>
          <a:ln/>
        </p:spPr>
        <p:txBody>
          <a:bodyPr wrap="square" rtlCol="0" anchor="ctr"/>
          <a:lstStyle/>
          <a:p>
            <a:pPr indent="0" marL="0">
              <a:buNone/>
            </a:pPr>
            <a:r>
              <a:rPr lang="en-US" sz="900" b="1" dirty="0">
                <a:solidFill>
                  <a:srgbClr val="0D6938"/>
                </a:solidFill>
                <a:latin typeface="Segoe UI" pitchFamily="34" charset="0"/>
                <a:ea typeface="Segoe UI" pitchFamily="34" charset="-122"/>
                <a:cs typeface="Segoe UI" pitchFamily="34" charset="-120"/>
              </a:rPr>
              <a:t>2. Farmer Accepts</a:t>
            </a:r>
            <a:endParaRPr lang="en-US" sz="900" dirty="0"/>
          </a:p>
        </p:txBody>
      </p:sp>
      <p:sp>
        <p:nvSpPr>
          <p:cNvPr id="22" name="Text 20"/>
          <p:cNvSpPr/>
          <p:nvPr/>
        </p:nvSpPr>
        <p:spPr>
          <a:xfrm>
            <a:off x="5989320" y="288036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Order confirmed &amp; locked</a:t>
            </a:r>
            <a:endParaRPr lang="en-US" sz="750" dirty="0"/>
          </a:p>
        </p:txBody>
      </p:sp>
      <p:sp>
        <p:nvSpPr>
          <p:cNvPr id="23" name="Shape 21"/>
          <p:cNvSpPr/>
          <p:nvPr/>
        </p:nvSpPr>
        <p:spPr>
          <a:xfrm>
            <a:off x="5897880" y="3218688"/>
            <a:ext cx="2377440" cy="475488"/>
          </a:xfrm>
          <a:prstGeom prst="roundRect">
            <a:avLst>
              <a:gd name="adj" fmla="val 11538"/>
            </a:avLst>
          </a:prstGeom>
          <a:solidFill>
            <a:srgbClr val="F8FAFC"/>
          </a:solidFill>
          <a:ln w="12700">
            <a:solidFill>
              <a:srgbClr val="E2E8F0"/>
            </a:solidFill>
            <a:prstDash val="solid"/>
          </a:ln>
        </p:spPr>
      </p:sp>
      <p:sp>
        <p:nvSpPr>
          <p:cNvPr id="24" name="Text 22"/>
          <p:cNvSpPr/>
          <p:nvPr/>
        </p:nvSpPr>
        <p:spPr>
          <a:xfrm>
            <a:off x="5989320" y="3273552"/>
            <a:ext cx="2194560" cy="182880"/>
          </a:xfrm>
          <a:prstGeom prst="rect">
            <a:avLst/>
          </a:prstGeom>
          <a:noFill/>
          <a:ln/>
        </p:spPr>
        <p:txBody>
          <a:bodyPr wrap="square" rtlCol="0" anchor="ctr"/>
          <a:lstStyle/>
          <a:p>
            <a:pPr indent="0" marL="0">
              <a:buNone/>
            </a:pPr>
            <a:r>
              <a:rPr lang="en-US" sz="900" b="1" dirty="0">
                <a:solidFill>
                  <a:srgbClr val="0D6938"/>
                </a:solidFill>
                <a:latin typeface="Segoe UI" pitchFamily="34" charset="0"/>
                <a:ea typeface="Segoe UI" pitchFamily="34" charset="-122"/>
                <a:cs typeface="Segoe UI" pitchFamily="34" charset="-120"/>
              </a:rPr>
              <a:t>3. Preparing Crop</a:t>
            </a:r>
            <a:endParaRPr lang="en-US" sz="900" dirty="0"/>
          </a:p>
        </p:txBody>
      </p:sp>
      <p:sp>
        <p:nvSpPr>
          <p:cNvPr id="25" name="Text 23"/>
          <p:cNvSpPr/>
          <p:nvPr/>
        </p:nvSpPr>
        <p:spPr>
          <a:xfrm>
            <a:off x="5989320" y="347472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Harvesting &amp; packing</a:t>
            </a:r>
            <a:endParaRPr lang="en-US" sz="750" dirty="0"/>
          </a:p>
        </p:txBody>
      </p:sp>
      <p:sp>
        <p:nvSpPr>
          <p:cNvPr id="26" name="Shape 24"/>
          <p:cNvSpPr/>
          <p:nvPr/>
        </p:nvSpPr>
        <p:spPr>
          <a:xfrm>
            <a:off x="5897880" y="3813048"/>
            <a:ext cx="2377440" cy="475488"/>
          </a:xfrm>
          <a:prstGeom prst="roundRect">
            <a:avLst>
              <a:gd name="adj" fmla="val 11538"/>
            </a:avLst>
          </a:prstGeom>
          <a:solidFill>
            <a:srgbClr val="F8FAFC"/>
          </a:solidFill>
          <a:ln w="12700">
            <a:solidFill>
              <a:srgbClr val="E2E8F0"/>
            </a:solidFill>
            <a:prstDash val="solid"/>
          </a:ln>
        </p:spPr>
      </p:sp>
      <p:sp>
        <p:nvSpPr>
          <p:cNvPr id="27" name="Text 25"/>
          <p:cNvSpPr/>
          <p:nvPr/>
        </p:nvSpPr>
        <p:spPr>
          <a:xfrm>
            <a:off x="5989320" y="3867912"/>
            <a:ext cx="2194560" cy="182880"/>
          </a:xfrm>
          <a:prstGeom prst="rect">
            <a:avLst/>
          </a:prstGeom>
          <a:noFill/>
          <a:ln/>
        </p:spPr>
        <p:txBody>
          <a:bodyPr wrap="square" rtlCol="0" anchor="ctr"/>
          <a:lstStyle/>
          <a:p>
            <a:pPr indent="0" marL="0">
              <a:buNone/>
            </a:pPr>
            <a:r>
              <a:rPr lang="en-US" sz="900" b="1" dirty="0">
                <a:solidFill>
                  <a:srgbClr val="0D6938"/>
                </a:solidFill>
                <a:latin typeface="Segoe UI" pitchFamily="34" charset="0"/>
                <a:ea typeface="Segoe UI" pitchFamily="34" charset="-122"/>
                <a:cs typeface="Segoe UI" pitchFamily="34" charset="-120"/>
              </a:rPr>
              <a:t>4. Ready for Pickup</a:t>
            </a:r>
            <a:endParaRPr lang="en-US" sz="900" dirty="0"/>
          </a:p>
        </p:txBody>
      </p:sp>
      <p:sp>
        <p:nvSpPr>
          <p:cNvPr id="28" name="Text 26"/>
          <p:cNvSpPr/>
          <p:nvPr/>
        </p:nvSpPr>
        <p:spPr>
          <a:xfrm>
            <a:off x="5989320" y="406908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Auto-triggers transporter job</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STAKEHOLDER MODULE</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08/15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Buyer Module: Discovery, Procurement &amp; Delivery Tracking</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Streamlining institutional procurement from verified farm gates with full milestone visibility</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481328"/>
            <a:ext cx="4846320" cy="3127248"/>
          </a:xfrm>
          <a:prstGeom prst="roundRect">
            <a:avLst>
              <a:gd name="adj" fmla="val 2339"/>
            </a:avLst>
          </a:prstGeom>
          <a:solidFill>
            <a:srgbClr val="FFFFFF"/>
          </a:solidFill>
          <a:ln w="12700">
            <a:solidFill>
              <a:srgbClr val="E2E8F0"/>
            </a:solidFill>
            <a:prstDash val="solid"/>
          </a:ln>
        </p:spPr>
      </p:sp>
      <p:sp>
        <p:nvSpPr>
          <p:cNvPr id="13" name="Text 11"/>
          <p:cNvSpPr/>
          <p:nvPr/>
        </p:nvSpPr>
        <p:spPr>
          <a:xfrm>
            <a:off x="914400" y="1627632"/>
            <a:ext cx="4480560" cy="2834640"/>
          </a:xfrm>
          <a:prstGeom prst="rect">
            <a:avLst/>
          </a:prstGeom>
          <a:noFill/>
          <a:ln/>
        </p:spPr>
        <p:txBody>
          <a:bodyPr wrap="square" rtlCol="0" anchor="ctr"/>
          <a:lstStyle/>
          <a:p>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Marketplace Discovery: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Browse active crop batches with multi-parameter filters for category, grade, location radius, and target price.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Requirements Broadcasting: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Broadcast procurement needs (crop type, volume, target price, required deadline) to verified farmers.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Direct Crop Booking: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Reserve crops directly with instant quantity validation to prevent overselling.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Order &amp; Delivery Tracking: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Monitor real-time transit status milestones from farm pickup to warehouse dock arrival.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Payments &amp; Traceability: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Track invoice settlements and verify complete farm-to-fork batch traceability.</a:t>
            </a:r>
            <a:endParaRPr lang="en-US" sz="980" dirty="0"/>
          </a:p>
        </p:txBody>
      </p:sp>
      <p:sp>
        <p:nvSpPr>
          <p:cNvPr id="14" name="Shape 12"/>
          <p:cNvSpPr/>
          <p:nvPr/>
        </p:nvSpPr>
        <p:spPr>
          <a:xfrm>
            <a:off x="5760720" y="1481328"/>
            <a:ext cx="2651760" cy="3127248"/>
          </a:xfrm>
          <a:prstGeom prst="roundRect">
            <a:avLst>
              <a:gd name="adj" fmla="val 2759"/>
            </a:avLst>
          </a:prstGeom>
          <a:solidFill>
            <a:srgbClr val="FFFFFF"/>
          </a:solidFill>
          <a:ln w="12700">
            <a:solidFill>
              <a:srgbClr val="E2E8F0"/>
            </a:solidFill>
            <a:prstDash val="solid"/>
          </a:ln>
        </p:spPr>
      </p:sp>
      <p:sp>
        <p:nvSpPr>
          <p:cNvPr id="15" name="Shape 13"/>
          <p:cNvSpPr/>
          <p:nvPr/>
        </p:nvSpPr>
        <p:spPr>
          <a:xfrm>
            <a:off x="5897880" y="1627632"/>
            <a:ext cx="2377440" cy="256032"/>
          </a:xfrm>
          <a:prstGeom prst="roundRect">
            <a:avLst>
              <a:gd name="adj" fmla="val 17857"/>
            </a:avLst>
          </a:prstGeom>
          <a:solidFill>
            <a:srgbClr val="E0F2FE"/>
          </a:solidFill>
          <a:ln/>
        </p:spPr>
      </p:sp>
      <p:sp>
        <p:nvSpPr>
          <p:cNvPr id="16" name="Text 14"/>
          <p:cNvSpPr/>
          <p:nvPr/>
        </p:nvSpPr>
        <p:spPr>
          <a:xfrm>
            <a:off x="5897880" y="1627632"/>
            <a:ext cx="2377440" cy="256032"/>
          </a:xfrm>
          <a:prstGeom prst="rect">
            <a:avLst/>
          </a:prstGeom>
          <a:noFill/>
          <a:ln/>
        </p:spPr>
        <p:txBody>
          <a:bodyPr wrap="square" rtlCol="0" anchor="ctr"/>
          <a:lstStyle/>
          <a:p>
            <a:pPr algn="ctr" indent="0" marL="0">
              <a:buNone/>
            </a:pPr>
            <a:r>
              <a:rPr lang="en-US" sz="750" b="1" dirty="0">
                <a:solidFill>
                  <a:srgbClr val="0284C7"/>
                </a:solidFill>
                <a:latin typeface="Segoe UI" pitchFamily="34" charset="0"/>
                <a:ea typeface="Segoe UI" pitchFamily="34" charset="-122"/>
                <a:cs typeface="Segoe UI" pitchFamily="34" charset="-120"/>
              </a:rPr>
              <a:t>BUYER PROCUREMENT STAGES</a:t>
            </a:r>
            <a:endParaRPr lang="en-US" sz="750" dirty="0"/>
          </a:p>
        </p:txBody>
      </p:sp>
      <p:sp>
        <p:nvSpPr>
          <p:cNvPr id="17" name="Shape 15"/>
          <p:cNvSpPr/>
          <p:nvPr/>
        </p:nvSpPr>
        <p:spPr>
          <a:xfrm>
            <a:off x="5897880" y="2029968"/>
            <a:ext cx="2377440" cy="475488"/>
          </a:xfrm>
          <a:prstGeom prst="roundRect">
            <a:avLst>
              <a:gd name="adj" fmla="val 11538"/>
            </a:avLst>
          </a:prstGeom>
          <a:solidFill>
            <a:srgbClr val="F8FAFC"/>
          </a:solidFill>
          <a:ln w="12700">
            <a:solidFill>
              <a:srgbClr val="E2E8F0"/>
            </a:solidFill>
            <a:prstDash val="solid"/>
          </a:ln>
        </p:spPr>
      </p:sp>
      <p:sp>
        <p:nvSpPr>
          <p:cNvPr id="18" name="Text 16"/>
          <p:cNvSpPr/>
          <p:nvPr/>
        </p:nvSpPr>
        <p:spPr>
          <a:xfrm>
            <a:off x="5989320" y="2084832"/>
            <a:ext cx="2194560" cy="182880"/>
          </a:xfrm>
          <a:prstGeom prst="rect">
            <a:avLst/>
          </a:prstGeom>
          <a:noFill/>
          <a:ln/>
        </p:spPr>
        <p:txBody>
          <a:bodyPr wrap="square" rtlCol="0" anchor="ctr"/>
          <a:lstStyle/>
          <a:p>
            <a:pPr indent="0" marL="0">
              <a:buNone/>
            </a:pPr>
            <a:r>
              <a:rPr lang="en-US" sz="900" b="1" dirty="0">
                <a:solidFill>
                  <a:srgbClr val="0284C7"/>
                </a:solidFill>
                <a:latin typeface="Segoe UI" pitchFamily="34" charset="0"/>
                <a:ea typeface="Segoe UI" pitchFamily="34" charset="-122"/>
                <a:cs typeface="Segoe UI" pitchFamily="34" charset="-120"/>
              </a:rPr>
              <a:t>1. Discover / Post</a:t>
            </a:r>
            <a:endParaRPr lang="en-US" sz="900" dirty="0"/>
          </a:p>
        </p:txBody>
      </p:sp>
      <p:sp>
        <p:nvSpPr>
          <p:cNvPr id="19" name="Text 17"/>
          <p:cNvSpPr/>
          <p:nvPr/>
        </p:nvSpPr>
        <p:spPr>
          <a:xfrm>
            <a:off x="5989320" y="228600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Browse crops or broadcast need</a:t>
            </a:r>
            <a:endParaRPr lang="en-US" sz="750" dirty="0"/>
          </a:p>
        </p:txBody>
      </p:sp>
      <p:sp>
        <p:nvSpPr>
          <p:cNvPr id="20" name="Shape 18"/>
          <p:cNvSpPr/>
          <p:nvPr/>
        </p:nvSpPr>
        <p:spPr>
          <a:xfrm>
            <a:off x="5897880" y="2624328"/>
            <a:ext cx="2377440" cy="475488"/>
          </a:xfrm>
          <a:prstGeom prst="roundRect">
            <a:avLst>
              <a:gd name="adj" fmla="val 11538"/>
            </a:avLst>
          </a:prstGeom>
          <a:solidFill>
            <a:srgbClr val="F8FAFC"/>
          </a:solidFill>
          <a:ln w="12700">
            <a:solidFill>
              <a:srgbClr val="E2E8F0"/>
            </a:solidFill>
            <a:prstDash val="solid"/>
          </a:ln>
        </p:spPr>
      </p:sp>
      <p:sp>
        <p:nvSpPr>
          <p:cNvPr id="21" name="Text 19"/>
          <p:cNvSpPr/>
          <p:nvPr/>
        </p:nvSpPr>
        <p:spPr>
          <a:xfrm>
            <a:off x="5989320" y="2679192"/>
            <a:ext cx="2194560" cy="182880"/>
          </a:xfrm>
          <a:prstGeom prst="rect">
            <a:avLst/>
          </a:prstGeom>
          <a:noFill/>
          <a:ln/>
        </p:spPr>
        <p:txBody>
          <a:bodyPr wrap="square" rtlCol="0" anchor="ctr"/>
          <a:lstStyle/>
          <a:p>
            <a:pPr indent="0" marL="0">
              <a:buNone/>
            </a:pPr>
            <a:r>
              <a:rPr lang="en-US" sz="900" b="1" dirty="0">
                <a:solidFill>
                  <a:srgbClr val="0284C7"/>
                </a:solidFill>
                <a:latin typeface="Segoe UI" pitchFamily="34" charset="0"/>
                <a:ea typeface="Segoe UI" pitchFamily="34" charset="-122"/>
                <a:cs typeface="Segoe UI" pitchFamily="34" charset="-120"/>
              </a:rPr>
              <a:t>2. Reserve Quantity</a:t>
            </a:r>
            <a:endParaRPr lang="en-US" sz="900" dirty="0"/>
          </a:p>
        </p:txBody>
      </p:sp>
      <p:sp>
        <p:nvSpPr>
          <p:cNvPr id="22" name="Text 20"/>
          <p:cNvSpPr/>
          <p:nvPr/>
        </p:nvSpPr>
        <p:spPr>
          <a:xfrm>
            <a:off x="5989320" y="288036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BookingModal locks stock</a:t>
            </a:r>
            <a:endParaRPr lang="en-US" sz="750" dirty="0"/>
          </a:p>
        </p:txBody>
      </p:sp>
      <p:sp>
        <p:nvSpPr>
          <p:cNvPr id="23" name="Shape 21"/>
          <p:cNvSpPr/>
          <p:nvPr/>
        </p:nvSpPr>
        <p:spPr>
          <a:xfrm>
            <a:off x="5897880" y="3218688"/>
            <a:ext cx="2377440" cy="475488"/>
          </a:xfrm>
          <a:prstGeom prst="roundRect">
            <a:avLst>
              <a:gd name="adj" fmla="val 11538"/>
            </a:avLst>
          </a:prstGeom>
          <a:solidFill>
            <a:srgbClr val="F8FAFC"/>
          </a:solidFill>
          <a:ln w="12700">
            <a:solidFill>
              <a:srgbClr val="E2E8F0"/>
            </a:solidFill>
            <a:prstDash val="solid"/>
          </a:ln>
        </p:spPr>
      </p:sp>
      <p:sp>
        <p:nvSpPr>
          <p:cNvPr id="24" name="Text 22"/>
          <p:cNvSpPr/>
          <p:nvPr/>
        </p:nvSpPr>
        <p:spPr>
          <a:xfrm>
            <a:off x="5989320" y="3273552"/>
            <a:ext cx="2194560" cy="182880"/>
          </a:xfrm>
          <a:prstGeom prst="rect">
            <a:avLst/>
          </a:prstGeom>
          <a:noFill/>
          <a:ln/>
        </p:spPr>
        <p:txBody>
          <a:bodyPr wrap="square" rtlCol="0" anchor="ctr"/>
          <a:lstStyle/>
          <a:p>
            <a:pPr indent="0" marL="0">
              <a:buNone/>
            </a:pPr>
            <a:r>
              <a:rPr lang="en-US" sz="900" b="1" dirty="0">
                <a:solidFill>
                  <a:srgbClr val="0284C7"/>
                </a:solidFill>
                <a:latin typeface="Segoe UI" pitchFamily="34" charset="0"/>
                <a:ea typeface="Segoe UI" pitchFamily="34" charset="-122"/>
                <a:cs typeface="Segoe UI" pitchFamily="34" charset="-120"/>
              </a:rPr>
              <a:t>3. Track Dispatch</a:t>
            </a:r>
            <a:endParaRPr lang="en-US" sz="900" dirty="0"/>
          </a:p>
        </p:txBody>
      </p:sp>
      <p:sp>
        <p:nvSpPr>
          <p:cNvPr id="25" name="Text 23"/>
          <p:cNvSpPr/>
          <p:nvPr/>
        </p:nvSpPr>
        <p:spPr>
          <a:xfrm>
            <a:off x="5989320" y="347472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Monitor transporter transit</a:t>
            </a:r>
            <a:endParaRPr lang="en-US" sz="750" dirty="0"/>
          </a:p>
        </p:txBody>
      </p:sp>
      <p:sp>
        <p:nvSpPr>
          <p:cNvPr id="26" name="Shape 24"/>
          <p:cNvSpPr/>
          <p:nvPr/>
        </p:nvSpPr>
        <p:spPr>
          <a:xfrm>
            <a:off x="5897880" y="3813048"/>
            <a:ext cx="2377440" cy="475488"/>
          </a:xfrm>
          <a:prstGeom prst="roundRect">
            <a:avLst>
              <a:gd name="adj" fmla="val 11538"/>
            </a:avLst>
          </a:prstGeom>
          <a:solidFill>
            <a:srgbClr val="F8FAFC"/>
          </a:solidFill>
          <a:ln w="12700">
            <a:solidFill>
              <a:srgbClr val="E2E8F0"/>
            </a:solidFill>
            <a:prstDash val="solid"/>
          </a:ln>
        </p:spPr>
      </p:sp>
      <p:sp>
        <p:nvSpPr>
          <p:cNvPr id="27" name="Text 25"/>
          <p:cNvSpPr/>
          <p:nvPr/>
        </p:nvSpPr>
        <p:spPr>
          <a:xfrm>
            <a:off x="5989320" y="3867912"/>
            <a:ext cx="2194560" cy="182880"/>
          </a:xfrm>
          <a:prstGeom prst="rect">
            <a:avLst/>
          </a:prstGeom>
          <a:noFill/>
          <a:ln/>
        </p:spPr>
        <p:txBody>
          <a:bodyPr wrap="square" rtlCol="0" anchor="ctr"/>
          <a:lstStyle/>
          <a:p>
            <a:pPr indent="0" marL="0">
              <a:buNone/>
            </a:pPr>
            <a:r>
              <a:rPr lang="en-US" sz="900" b="1" dirty="0">
                <a:solidFill>
                  <a:srgbClr val="0284C7"/>
                </a:solidFill>
                <a:latin typeface="Segoe UI" pitchFamily="34" charset="0"/>
                <a:ea typeface="Segoe UI" pitchFamily="34" charset="-122"/>
                <a:cs typeface="Segoe UI" pitchFamily="34" charset="-120"/>
              </a:rPr>
              <a:t>4. Receive &amp; Settle</a:t>
            </a:r>
            <a:endParaRPr lang="en-US" sz="900" dirty="0"/>
          </a:p>
        </p:txBody>
      </p:sp>
      <p:sp>
        <p:nvSpPr>
          <p:cNvPr id="28" name="Text 26"/>
          <p:cNvSpPr/>
          <p:nvPr/>
        </p:nvSpPr>
        <p:spPr>
          <a:xfrm>
            <a:off x="5989320" y="406908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Verify batch &amp; release payment</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STAKEHOLDER MODULE</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09/15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Transporter Module: Rural Logistics &amp; Trip Execution</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Closing the first-mile and mid-mile gap through automated pickup dispatch and delivery tracking</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481328"/>
            <a:ext cx="4846320" cy="3127248"/>
          </a:xfrm>
          <a:prstGeom prst="roundRect">
            <a:avLst>
              <a:gd name="adj" fmla="val 2339"/>
            </a:avLst>
          </a:prstGeom>
          <a:solidFill>
            <a:srgbClr val="FFFFFF"/>
          </a:solidFill>
          <a:ln w="12700">
            <a:solidFill>
              <a:srgbClr val="E2E8F0"/>
            </a:solidFill>
            <a:prstDash val="solid"/>
          </a:ln>
        </p:spPr>
      </p:sp>
      <p:sp>
        <p:nvSpPr>
          <p:cNvPr id="13" name="Text 11"/>
          <p:cNvSpPr/>
          <p:nvPr/>
        </p:nvSpPr>
        <p:spPr>
          <a:xfrm>
            <a:off x="914400" y="1627632"/>
            <a:ext cx="4480560" cy="2834640"/>
          </a:xfrm>
          <a:prstGeom prst="rect">
            <a:avLst/>
          </a:prstGeom>
          <a:noFill/>
          <a:ln/>
        </p:spPr>
        <p:txBody>
          <a:bodyPr wrap="square" rtlCol="0" anchor="ctr"/>
          <a:lstStyle/>
          <a:p>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Automated Pickup Requests: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Orders reaching "Ready for Pickup" automatically appear on the transporter job board.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Atomic Job Acceptance: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Transporters accept jobs with atomic database locking, preventing multiple drivers from claiming the same pickup.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Delivery Lifecycle Management: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Drivers update trip milestones: Picked Up ➔ In Transit ➔ Delivered.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Freight Earnings Ledger: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Automatically generates earnings records based on consignment weight and transit distance.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Fleet &amp; Vehicle Profile: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Maintains vehicle payload capacity and driver verification details.</a:t>
            </a:r>
            <a:endParaRPr lang="en-US" sz="980" dirty="0"/>
          </a:p>
        </p:txBody>
      </p:sp>
      <p:sp>
        <p:nvSpPr>
          <p:cNvPr id="14" name="Shape 12"/>
          <p:cNvSpPr/>
          <p:nvPr/>
        </p:nvSpPr>
        <p:spPr>
          <a:xfrm>
            <a:off x="5760720" y="1481328"/>
            <a:ext cx="2651760" cy="3127248"/>
          </a:xfrm>
          <a:prstGeom prst="roundRect">
            <a:avLst>
              <a:gd name="adj" fmla="val 2759"/>
            </a:avLst>
          </a:prstGeom>
          <a:solidFill>
            <a:srgbClr val="FFFFFF"/>
          </a:solidFill>
          <a:ln w="12700">
            <a:solidFill>
              <a:srgbClr val="E2E8F0"/>
            </a:solidFill>
            <a:prstDash val="solid"/>
          </a:ln>
        </p:spPr>
      </p:sp>
      <p:sp>
        <p:nvSpPr>
          <p:cNvPr id="15" name="Shape 13"/>
          <p:cNvSpPr/>
          <p:nvPr/>
        </p:nvSpPr>
        <p:spPr>
          <a:xfrm>
            <a:off x="5897880" y="1627632"/>
            <a:ext cx="2377440" cy="256032"/>
          </a:xfrm>
          <a:prstGeom prst="roundRect">
            <a:avLst>
              <a:gd name="adj" fmla="val 17857"/>
            </a:avLst>
          </a:prstGeom>
          <a:solidFill>
            <a:srgbClr val="FEF3C7"/>
          </a:solidFill>
          <a:ln/>
        </p:spPr>
      </p:sp>
      <p:sp>
        <p:nvSpPr>
          <p:cNvPr id="16" name="Text 14"/>
          <p:cNvSpPr/>
          <p:nvPr/>
        </p:nvSpPr>
        <p:spPr>
          <a:xfrm>
            <a:off x="5897880" y="1627632"/>
            <a:ext cx="2377440" cy="256032"/>
          </a:xfrm>
          <a:prstGeom prst="rect">
            <a:avLst/>
          </a:prstGeom>
          <a:noFill/>
          <a:ln/>
        </p:spPr>
        <p:txBody>
          <a:bodyPr wrap="square" rtlCol="0" anchor="ctr"/>
          <a:lstStyle/>
          <a:p>
            <a:pPr algn="ctr" indent="0" marL="0">
              <a:buNone/>
            </a:pPr>
            <a:r>
              <a:rPr lang="en-US" sz="750" b="1" dirty="0">
                <a:solidFill>
                  <a:srgbClr val="D97706"/>
                </a:solidFill>
                <a:latin typeface="Segoe UI" pitchFamily="34" charset="0"/>
                <a:ea typeface="Segoe UI" pitchFamily="34" charset="-122"/>
                <a:cs typeface="Segoe UI" pitchFamily="34" charset="-120"/>
              </a:rPr>
              <a:t>TRANSPORTER WORKFLOW</a:t>
            </a:r>
            <a:endParaRPr lang="en-US" sz="750" dirty="0"/>
          </a:p>
        </p:txBody>
      </p:sp>
      <p:sp>
        <p:nvSpPr>
          <p:cNvPr id="17" name="Shape 15"/>
          <p:cNvSpPr/>
          <p:nvPr/>
        </p:nvSpPr>
        <p:spPr>
          <a:xfrm>
            <a:off x="5897880" y="2029968"/>
            <a:ext cx="2377440" cy="475488"/>
          </a:xfrm>
          <a:prstGeom prst="roundRect">
            <a:avLst>
              <a:gd name="adj" fmla="val 11538"/>
            </a:avLst>
          </a:prstGeom>
          <a:solidFill>
            <a:srgbClr val="F8FAFC"/>
          </a:solidFill>
          <a:ln w="12700">
            <a:solidFill>
              <a:srgbClr val="E2E8F0"/>
            </a:solidFill>
            <a:prstDash val="solid"/>
          </a:ln>
        </p:spPr>
      </p:sp>
      <p:sp>
        <p:nvSpPr>
          <p:cNvPr id="18" name="Text 16"/>
          <p:cNvSpPr/>
          <p:nvPr/>
        </p:nvSpPr>
        <p:spPr>
          <a:xfrm>
            <a:off x="5989320" y="2084832"/>
            <a:ext cx="2194560" cy="182880"/>
          </a:xfrm>
          <a:prstGeom prst="rect">
            <a:avLst/>
          </a:prstGeom>
          <a:noFill/>
          <a:ln/>
        </p:spPr>
        <p:txBody>
          <a:bodyPr wrap="square" rtlCol="0" anchor="ctr"/>
          <a:lstStyle/>
          <a:p>
            <a:pPr indent="0" marL="0">
              <a:buNone/>
            </a:pPr>
            <a:r>
              <a:rPr lang="en-US" sz="900" b="1" dirty="0">
                <a:solidFill>
                  <a:srgbClr val="D97706"/>
                </a:solidFill>
                <a:latin typeface="Segoe UI" pitchFamily="34" charset="0"/>
                <a:ea typeface="Segoe UI" pitchFamily="34" charset="-122"/>
                <a:cs typeface="Segoe UI" pitchFamily="34" charset="-120"/>
              </a:rPr>
              <a:t>1. Pickup Request</a:t>
            </a:r>
            <a:endParaRPr lang="en-US" sz="900" dirty="0"/>
          </a:p>
        </p:txBody>
      </p:sp>
      <p:sp>
        <p:nvSpPr>
          <p:cNvPr id="19" name="Text 17"/>
          <p:cNvSpPr/>
          <p:nvPr/>
        </p:nvSpPr>
        <p:spPr>
          <a:xfrm>
            <a:off x="5989320" y="228600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Order marked ready by farmer</a:t>
            </a:r>
            <a:endParaRPr lang="en-US" sz="750" dirty="0"/>
          </a:p>
        </p:txBody>
      </p:sp>
      <p:sp>
        <p:nvSpPr>
          <p:cNvPr id="20" name="Shape 18"/>
          <p:cNvSpPr/>
          <p:nvPr/>
        </p:nvSpPr>
        <p:spPr>
          <a:xfrm>
            <a:off x="5897880" y="2624328"/>
            <a:ext cx="2377440" cy="475488"/>
          </a:xfrm>
          <a:prstGeom prst="roundRect">
            <a:avLst>
              <a:gd name="adj" fmla="val 11538"/>
            </a:avLst>
          </a:prstGeom>
          <a:solidFill>
            <a:srgbClr val="F8FAFC"/>
          </a:solidFill>
          <a:ln w="12700">
            <a:solidFill>
              <a:srgbClr val="E2E8F0"/>
            </a:solidFill>
            <a:prstDash val="solid"/>
          </a:ln>
        </p:spPr>
      </p:sp>
      <p:sp>
        <p:nvSpPr>
          <p:cNvPr id="21" name="Text 19"/>
          <p:cNvSpPr/>
          <p:nvPr/>
        </p:nvSpPr>
        <p:spPr>
          <a:xfrm>
            <a:off x="5989320" y="2679192"/>
            <a:ext cx="2194560" cy="182880"/>
          </a:xfrm>
          <a:prstGeom prst="rect">
            <a:avLst/>
          </a:prstGeom>
          <a:noFill/>
          <a:ln/>
        </p:spPr>
        <p:txBody>
          <a:bodyPr wrap="square" rtlCol="0" anchor="ctr"/>
          <a:lstStyle/>
          <a:p>
            <a:pPr indent="0" marL="0">
              <a:buNone/>
            </a:pPr>
            <a:r>
              <a:rPr lang="en-US" sz="900" b="1" dirty="0">
                <a:solidFill>
                  <a:srgbClr val="D97706"/>
                </a:solidFill>
                <a:latin typeface="Segoe UI" pitchFamily="34" charset="0"/>
                <a:ea typeface="Segoe UI" pitchFamily="34" charset="-122"/>
                <a:cs typeface="Segoe UI" pitchFamily="34" charset="-120"/>
              </a:rPr>
              <a:t>2. Accept Job</a:t>
            </a:r>
            <a:endParaRPr lang="en-US" sz="900" dirty="0"/>
          </a:p>
        </p:txBody>
      </p:sp>
      <p:sp>
        <p:nvSpPr>
          <p:cNvPr id="22" name="Text 20"/>
          <p:cNvSpPr/>
          <p:nvPr/>
        </p:nvSpPr>
        <p:spPr>
          <a:xfrm>
            <a:off x="5989320" y="288036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Atomic concurrency lock</a:t>
            </a:r>
            <a:endParaRPr lang="en-US" sz="750" dirty="0"/>
          </a:p>
        </p:txBody>
      </p:sp>
      <p:sp>
        <p:nvSpPr>
          <p:cNvPr id="23" name="Shape 21"/>
          <p:cNvSpPr/>
          <p:nvPr/>
        </p:nvSpPr>
        <p:spPr>
          <a:xfrm>
            <a:off x="5897880" y="3218688"/>
            <a:ext cx="2377440" cy="475488"/>
          </a:xfrm>
          <a:prstGeom prst="roundRect">
            <a:avLst>
              <a:gd name="adj" fmla="val 11538"/>
            </a:avLst>
          </a:prstGeom>
          <a:solidFill>
            <a:srgbClr val="F8FAFC"/>
          </a:solidFill>
          <a:ln w="12700">
            <a:solidFill>
              <a:srgbClr val="E2E8F0"/>
            </a:solidFill>
            <a:prstDash val="solid"/>
          </a:ln>
        </p:spPr>
      </p:sp>
      <p:sp>
        <p:nvSpPr>
          <p:cNvPr id="24" name="Text 22"/>
          <p:cNvSpPr/>
          <p:nvPr/>
        </p:nvSpPr>
        <p:spPr>
          <a:xfrm>
            <a:off x="5989320" y="3273552"/>
            <a:ext cx="2194560" cy="182880"/>
          </a:xfrm>
          <a:prstGeom prst="rect">
            <a:avLst/>
          </a:prstGeom>
          <a:noFill/>
          <a:ln/>
        </p:spPr>
        <p:txBody>
          <a:bodyPr wrap="square" rtlCol="0" anchor="ctr"/>
          <a:lstStyle/>
          <a:p>
            <a:pPr indent="0" marL="0">
              <a:buNone/>
            </a:pPr>
            <a:r>
              <a:rPr lang="en-US" sz="900" b="1" dirty="0">
                <a:solidFill>
                  <a:srgbClr val="D97706"/>
                </a:solidFill>
                <a:latin typeface="Segoe UI" pitchFamily="34" charset="0"/>
                <a:ea typeface="Segoe UI" pitchFamily="34" charset="-122"/>
                <a:cs typeface="Segoe UI" pitchFamily="34" charset="-120"/>
              </a:rPr>
              <a:t>3. Picked Up</a:t>
            </a:r>
            <a:endParaRPr lang="en-US" sz="900" dirty="0"/>
          </a:p>
        </p:txBody>
      </p:sp>
      <p:sp>
        <p:nvSpPr>
          <p:cNvPr id="25" name="Text 23"/>
          <p:cNvSpPr/>
          <p:nvPr/>
        </p:nvSpPr>
        <p:spPr>
          <a:xfrm>
            <a:off x="5989320" y="347472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Farm-gate loading confirmed</a:t>
            </a:r>
            <a:endParaRPr lang="en-US" sz="750" dirty="0"/>
          </a:p>
        </p:txBody>
      </p:sp>
      <p:sp>
        <p:nvSpPr>
          <p:cNvPr id="26" name="Shape 24"/>
          <p:cNvSpPr/>
          <p:nvPr/>
        </p:nvSpPr>
        <p:spPr>
          <a:xfrm>
            <a:off x="5897880" y="3813048"/>
            <a:ext cx="2377440" cy="475488"/>
          </a:xfrm>
          <a:prstGeom prst="roundRect">
            <a:avLst>
              <a:gd name="adj" fmla="val 11538"/>
            </a:avLst>
          </a:prstGeom>
          <a:solidFill>
            <a:srgbClr val="F8FAFC"/>
          </a:solidFill>
          <a:ln w="12700">
            <a:solidFill>
              <a:srgbClr val="E2E8F0"/>
            </a:solidFill>
            <a:prstDash val="solid"/>
          </a:ln>
        </p:spPr>
      </p:sp>
      <p:sp>
        <p:nvSpPr>
          <p:cNvPr id="27" name="Text 25"/>
          <p:cNvSpPr/>
          <p:nvPr/>
        </p:nvSpPr>
        <p:spPr>
          <a:xfrm>
            <a:off x="5989320" y="3867912"/>
            <a:ext cx="2194560" cy="182880"/>
          </a:xfrm>
          <a:prstGeom prst="rect">
            <a:avLst/>
          </a:prstGeom>
          <a:noFill/>
          <a:ln/>
        </p:spPr>
        <p:txBody>
          <a:bodyPr wrap="square" rtlCol="0" anchor="ctr"/>
          <a:lstStyle/>
          <a:p>
            <a:pPr indent="0" marL="0">
              <a:buNone/>
            </a:pPr>
            <a:r>
              <a:rPr lang="en-US" sz="900" b="1" dirty="0">
                <a:solidFill>
                  <a:srgbClr val="D97706"/>
                </a:solidFill>
                <a:latin typeface="Segoe UI" pitchFamily="34" charset="0"/>
                <a:ea typeface="Segoe UI" pitchFamily="34" charset="-122"/>
                <a:cs typeface="Segoe UI" pitchFamily="34" charset="-120"/>
              </a:rPr>
              <a:t>4. Delivered</a:t>
            </a:r>
            <a:endParaRPr lang="en-US" sz="900" dirty="0"/>
          </a:p>
        </p:txBody>
      </p:sp>
      <p:sp>
        <p:nvSpPr>
          <p:cNvPr id="28" name="Text 26"/>
          <p:cNvSpPr/>
          <p:nvPr/>
        </p:nvSpPr>
        <p:spPr>
          <a:xfrm>
            <a:off x="5989320" y="4069080"/>
            <a:ext cx="219456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Warehouse receipt &amp; freight fee</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INTELLIGENCE ARCHITECTURE</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10/15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AI Decision-Support Architecture: Explainability by Design</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Deterministic and explainable algorithms assisting supply-chain decisions without black-box risk</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481328"/>
            <a:ext cx="3703320" cy="1078992"/>
          </a:xfrm>
          <a:prstGeom prst="roundRect">
            <a:avLst>
              <a:gd name="adj" fmla="val 6780"/>
            </a:avLst>
          </a:prstGeom>
          <a:solidFill>
            <a:srgbClr val="FFFFFF"/>
          </a:solidFill>
          <a:ln w="12700">
            <a:solidFill>
              <a:srgbClr val="E2E8F0"/>
            </a:solidFill>
            <a:prstDash val="solid"/>
          </a:ln>
        </p:spPr>
      </p:sp>
      <p:sp>
        <p:nvSpPr>
          <p:cNvPr id="13" name="Shape 11"/>
          <p:cNvSpPr/>
          <p:nvPr/>
        </p:nvSpPr>
        <p:spPr>
          <a:xfrm>
            <a:off x="868680" y="1618488"/>
            <a:ext cx="411480" cy="365760"/>
          </a:xfrm>
          <a:prstGeom prst="roundRect">
            <a:avLst>
              <a:gd name="adj" fmla="val 12500"/>
            </a:avLst>
          </a:prstGeom>
          <a:solidFill>
            <a:srgbClr val="DCFCE7"/>
          </a:solidFill>
          <a:ln/>
        </p:spPr>
      </p:sp>
      <p:sp>
        <p:nvSpPr>
          <p:cNvPr id="14" name="Text 12"/>
          <p:cNvSpPr/>
          <p:nvPr/>
        </p:nvSpPr>
        <p:spPr>
          <a:xfrm>
            <a:off x="868680" y="1618488"/>
            <a:ext cx="411480" cy="365760"/>
          </a:xfrm>
          <a:prstGeom prst="rect">
            <a:avLst/>
          </a:prstGeom>
          <a:noFill/>
          <a:ln/>
        </p:spPr>
        <p:txBody>
          <a:bodyPr wrap="square" rtlCol="0" anchor="ctr"/>
          <a:lstStyle/>
          <a:p>
            <a:pPr algn="ctr" indent="0" marL="0">
              <a:buNone/>
            </a:pPr>
            <a:r>
              <a:rPr lang="en-US" sz="1000" b="1" dirty="0">
                <a:solidFill>
                  <a:srgbClr val="0D6938"/>
                </a:solidFill>
                <a:latin typeface="Segoe UI" pitchFamily="34" charset="0"/>
                <a:ea typeface="Segoe UI" pitchFamily="34" charset="-122"/>
                <a:cs typeface="Segoe UI" pitchFamily="34" charset="-120"/>
              </a:rPr>
              <a:t>01</a:t>
            </a:r>
            <a:endParaRPr lang="en-US" sz="1000" dirty="0"/>
          </a:p>
        </p:txBody>
      </p:sp>
      <p:sp>
        <p:nvSpPr>
          <p:cNvPr id="15" name="Text 13"/>
          <p:cNvSpPr/>
          <p:nvPr/>
        </p:nvSpPr>
        <p:spPr>
          <a:xfrm>
            <a:off x="1371600" y="1618488"/>
            <a:ext cx="2926080" cy="256032"/>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Buyer–Farmer Matching</a:t>
            </a:r>
            <a:endParaRPr lang="en-US" sz="1100" dirty="0"/>
          </a:p>
        </p:txBody>
      </p:sp>
      <p:sp>
        <p:nvSpPr>
          <p:cNvPr id="16" name="Text 14"/>
          <p:cNvSpPr/>
          <p:nvPr/>
        </p:nvSpPr>
        <p:spPr>
          <a:xfrm>
            <a:off x="1371600" y="1892808"/>
            <a:ext cx="2926080" cy="566928"/>
          </a:xfrm>
          <a:prstGeom prst="rect">
            <a:avLst/>
          </a:prstGeom>
          <a:noFill/>
          <a:ln/>
        </p:spPr>
        <p:txBody>
          <a:bodyPr wrap="square" rtlCol="0" anchor="ctr"/>
          <a:lstStyle/>
          <a:p>
            <a:pPr indent="0" marL="0">
              <a:lnSpc>
                <a:spcPct val="115000"/>
              </a:lnSpc>
              <a:buNone/>
            </a:pPr>
            <a:r>
              <a:rPr lang="en-US" sz="850" dirty="0">
                <a:solidFill>
                  <a:srgbClr val="475569"/>
                </a:solidFill>
                <a:latin typeface="Segoe UI" pitchFamily="34" charset="0"/>
                <a:ea typeface="Segoe UI" pitchFamily="34" charset="-122"/>
                <a:cs typeface="Segoe UI" pitchFamily="34" charset="-120"/>
              </a:rPr>
              <a:t>Ranks buyer requirements against farmer crops using an explainable multi-factor scoring model (0–100) with explicit reasoning vectors.</a:t>
            </a:r>
            <a:endParaRPr lang="en-US" sz="850" dirty="0"/>
          </a:p>
        </p:txBody>
      </p:sp>
      <p:sp>
        <p:nvSpPr>
          <p:cNvPr id="17" name="Shape 15"/>
          <p:cNvSpPr/>
          <p:nvPr/>
        </p:nvSpPr>
        <p:spPr>
          <a:xfrm>
            <a:off x="4709160" y="1481328"/>
            <a:ext cx="3703320" cy="1078992"/>
          </a:xfrm>
          <a:prstGeom prst="roundRect">
            <a:avLst>
              <a:gd name="adj" fmla="val 6780"/>
            </a:avLst>
          </a:prstGeom>
          <a:solidFill>
            <a:srgbClr val="FFFFFF"/>
          </a:solidFill>
          <a:ln w="12700">
            <a:solidFill>
              <a:srgbClr val="E2E8F0"/>
            </a:solidFill>
            <a:prstDash val="solid"/>
          </a:ln>
        </p:spPr>
      </p:sp>
      <p:sp>
        <p:nvSpPr>
          <p:cNvPr id="18" name="Shape 16"/>
          <p:cNvSpPr/>
          <p:nvPr/>
        </p:nvSpPr>
        <p:spPr>
          <a:xfrm>
            <a:off x="4846320" y="1618488"/>
            <a:ext cx="411480" cy="365760"/>
          </a:xfrm>
          <a:prstGeom prst="roundRect">
            <a:avLst>
              <a:gd name="adj" fmla="val 12500"/>
            </a:avLst>
          </a:prstGeom>
          <a:solidFill>
            <a:srgbClr val="E0F2FE"/>
          </a:solidFill>
          <a:ln/>
        </p:spPr>
      </p:sp>
      <p:sp>
        <p:nvSpPr>
          <p:cNvPr id="19" name="Text 17"/>
          <p:cNvSpPr/>
          <p:nvPr/>
        </p:nvSpPr>
        <p:spPr>
          <a:xfrm>
            <a:off x="4846320" y="1618488"/>
            <a:ext cx="411480" cy="365760"/>
          </a:xfrm>
          <a:prstGeom prst="rect">
            <a:avLst/>
          </a:prstGeom>
          <a:noFill/>
          <a:ln/>
        </p:spPr>
        <p:txBody>
          <a:bodyPr wrap="square" rtlCol="0" anchor="ctr"/>
          <a:lstStyle/>
          <a:p>
            <a:pPr algn="ctr" indent="0" marL="0">
              <a:buNone/>
            </a:pPr>
            <a:r>
              <a:rPr lang="en-US" sz="1000" b="1" dirty="0">
                <a:solidFill>
                  <a:srgbClr val="0284C7"/>
                </a:solidFill>
                <a:latin typeface="Segoe UI" pitchFamily="34" charset="0"/>
                <a:ea typeface="Segoe UI" pitchFamily="34" charset="-122"/>
                <a:cs typeface="Segoe UI" pitchFamily="34" charset="-120"/>
              </a:rPr>
              <a:t>02</a:t>
            </a:r>
            <a:endParaRPr lang="en-US" sz="1000" dirty="0"/>
          </a:p>
        </p:txBody>
      </p:sp>
      <p:sp>
        <p:nvSpPr>
          <p:cNvPr id="20" name="Text 18"/>
          <p:cNvSpPr/>
          <p:nvPr/>
        </p:nvSpPr>
        <p:spPr>
          <a:xfrm>
            <a:off x="5349240" y="1618488"/>
            <a:ext cx="2926080" cy="256032"/>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Demand Forecasting</a:t>
            </a:r>
            <a:endParaRPr lang="en-US" sz="1100" dirty="0"/>
          </a:p>
        </p:txBody>
      </p:sp>
      <p:sp>
        <p:nvSpPr>
          <p:cNvPr id="21" name="Text 19"/>
          <p:cNvSpPr/>
          <p:nvPr/>
        </p:nvSpPr>
        <p:spPr>
          <a:xfrm>
            <a:off x="5349240" y="1892808"/>
            <a:ext cx="2926080" cy="566928"/>
          </a:xfrm>
          <a:prstGeom prst="rect">
            <a:avLst/>
          </a:prstGeom>
          <a:noFill/>
          <a:ln/>
        </p:spPr>
        <p:txBody>
          <a:bodyPr wrap="square" rtlCol="0" anchor="ctr"/>
          <a:lstStyle/>
          <a:p>
            <a:pPr indent="0" marL="0">
              <a:lnSpc>
                <a:spcPct val="115000"/>
              </a:lnSpc>
              <a:buNone/>
            </a:pPr>
            <a:r>
              <a:rPr lang="en-US" sz="850" dirty="0">
                <a:solidFill>
                  <a:srgbClr val="475569"/>
                </a:solidFill>
                <a:latin typeface="Segoe UI" pitchFamily="34" charset="0"/>
                <a:ea typeface="Segoe UI" pitchFamily="34" charset="-122"/>
                <a:cs typeface="Segoe UI" pitchFamily="34" charset="-120"/>
              </a:rPr>
              <a:t>Analyzes historical mandi arrival data and price trends using weighted moving averages to project future volume and price bands.</a:t>
            </a:r>
            <a:endParaRPr lang="en-US" sz="850" dirty="0"/>
          </a:p>
        </p:txBody>
      </p:sp>
      <p:sp>
        <p:nvSpPr>
          <p:cNvPr id="22" name="Shape 20"/>
          <p:cNvSpPr/>
          <p:nvPr/>
        </p:nvSpPr>
        <p:spPr>
          <a:xfrm>
            <a:off x="731520" y="2688336"/>
            <a:ext cx="3703320" cy="1078992"/>
          </a:xfrm>
          <a:prstGeom prst="roundRect">
            <a:avLst>
              <a:gd name="adj" fmla="val 6780"/>
            </a:avLst>
          </a:prstGeom>
          <a:solidFill>
            <a:srgbClr val="FFFFFF"/>
          </a:solidFill>
          <a:ln w="12700">
            <a:solidFill>
              <a:srgbClr val="E2E8F0"/>
            </a:solidFill>
            <a:prstDash val="solid"/>
          </a:ln>
        </p:spPr>
      </p:sp>
      <p:sp>
        <p:nvSpPr>
          <p:cNvPr id="23" name="Shape 21"/>
          <p:cNvSpPr/>
          <p:nvPr/>
        </p:nvSpPr>
        <p:spPr>
          <a:xfrm>
            <a:off x="868680" y="2825496"/>
            <a:ext cx="411480" cy="365760"/>
          </a:xfrm>
          <a:prstGeom prst="roundRect">
            <a:avLst>
              <a:gd name="adj" fmla="val 12500"/>
            </a:avLst>
          </a:prstGeom>
          <a:solidFill>
            <a:srgbClr val="FEF3C7"/>
          </a:solidFill>
          <a:ln/>
        </p:spPr>
      </p:sp>
      <p:sp>
        <p:nvSpPr>
          <p:cNvPr id="24" name="Text 22"/>
          <p:cNvSpPr/>
          <p:nvPr/>
        </p:nvSpPr>
        <p:spPr>
          <a:xfrm>
            <a:off x="868680" y="2825496"/>
            <a:ext cx="411480" cy="365760"/>
          </a:xfrm>
          <a:prstGeom prst="rect">
            <a:avLst/>
          </a:prstGeom>
          <a:noFill/>
          <a:ln/>
        </p:spPr>
        <p:txBody>
          <a:bodyPr wrap="square" rtlCol="0" anchor="ctr"/>
          <a:lstStyle/>
          <a:p>
            <a:pPr algn="ctr" indent="0" marL="0">
              <a:buNone/>
            </a:pPr>
            <a:r>
              <a:rPr lang="en-US" sz="1000" b="1" dirty="0">
                <a:solidFill>
                  <a:srgbClr val="D97706"/>
                </a:solidFill>
                <a:latin typeface="Segoe UI" pitchFamily="34" charset="0"/>
                <a:ea typeface="Segoe UI" pitchFamily="34" charset="-122"/>
                <a:cs typeface="Segoe UI" pitchFamily="34" charset="-120"/>
              </a:rPr>
              <a:t>03</a:t>
            </a:r>
            <a:endParaRPr lang="en-US" sz="1000" dirty="0"/>
          </a:p>
        </p:txBody>
      </p:sp>
      <p:sp>
        <p:nvSpPr>
          <p:cNvPr id="25" name="Text 23"/>
          <p:cNvSpPr/>
          <p:nvPr/>
        </p:nvSpPr>
        <p:spPr>
          <a:xfrm>
            <a:off x="1371600" y="2825496"/>
            <a:ext cx="2926080" cy="256032"/>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Shelf-Life &amp; Wastage Prevention</a:t>
            </a:r>
            <a:endParaRPr lang="en-US" sz="1100" dirty="0"/>
          </a:p>
        </p:txBody>
      </p:sp>
      <p:sp>
        <p:nvSpPr>
          <p:cNvPr id="26" name="Text 24"/>
          <p:cNvSpPr/>
          <p:nvPr/>
        </p:nvSpPr>
        <p:spPr>
          <a:xfrm>
            <a:off x="1371600" y="3099816"/>
            <a:ext cx="2926080" cy="566928"/>
          </a:xfrm>
          <a:prstGeom prst="rect">
            <a:avLst/>
          </a:prstGeom>
          <a:noFill/>
          <a:ln/>
        </p:spPr>
        <p:txBody>
          <a:bodyPr wrap="square" rtlCol="0" anchor="ctr"/>
          <a:lstStyle/>
          <a:p>
            <a:pPr indent="0" marL="0">
              <a:lnSpc>
                <a:spcPct val="115000"/>
              </a:lnSpc>
              <a:buNone/>
            </a:pPr>
            <a:r>
              <a:rPr lang="en-US" sz="850" dirty="0">
                <a:solidFill>
                  <a:srgbClr val="475569"/>
                </a:solidFill>
                <a:latin typeface="Segoe UI" pitchFamily="34" charset="0"/>
                <a:ea typeface="Segoe UI" pitchFamily="34" charset="-122"/>
                <a:cs typeface="Segoe UI" pitchFamily="34" charset="-120"/>
              </a:rPr>
              <a:t>Calculates remaining freshness based on crop perishability, classifying risk into Fresh, Attention, and Critical with action triggers.</a:t>
            </a:r>
            <a:endParaRPr lang="en-US" sz="850" dirty="0"/>
          </a:p>
        </p:txBody>
      </p:sp>
      <p:sp>
        <p:nvSpPr>
          <p:cNvPr id="27" name="Shape 25"/>
          <p:cNvSpPr/>
          <p:nvPr/>
        </p:nvSpPr>
        <p:spPr>
          <a:xfrm>
            <a:off x="4709160" y="2688336"/>
            <a:ext cx="3703320" cy="1078992"/>
          </a:xfrm>
          <a:prstGeom prst="roundRect">
            <a:avLst>
              <a:gd name="adj" fmla="val 6780"/>
            </a:avLst>
          </a:prstGeom>
          <a:solidFill>
            <a:srgbClr val="FFFFFF"/>
          </a:solidFill>
          <a:ln w="12700">
            <a:solidFill>
              <a:srgbClr val="E2E8F0"/>
            </a:solidFill>
            <a:prstDash val="solid"/>
          </a:ln>
        </p:spPr>
      </p:sp>
      <p:sp>
        <p:nvSpPr>
          <p:cNvPr id="28" name="Shape 26"/>
          <p:cNvSpPr/>
          <p:nvPr/>
        </p:nvSpPr>
        <p:spPr>
          <a:xfrm>
            <a:off x="4846320" y="2825496"/>
            <a:ext cx="411480" cy="365760"/>
          </a:xfrm>
          <a:prstGeom prst="roundRect">
            <a:avLst>
              <a:gd name="adj" fmla="val 12500"/>
            </a:avLst>
          </a:prstGeom>
          <a:solidFill>
            <a:srgbClr val="EDE9FE"/>
          </a:solidFill>
          <a:ln/>
        </p:spPr>
      </p:sp>
      <p:sp>
        <p:nvSpPr>
          <p:cNvPr id="29" name="Text 27"/>
          <p:cNvSpPr/>
          <p:nvPr/>
        </p:nvSpPr>
        <p:spPr>
          <a:xfrm>
            <a:off x="4846320" y="2825496"/>
            <a:ext cx="411480" cy="365760"/>
          </a:xfrm>
          <a:prstGeom prst="rect">
            <a:avLst/>
          </a:prstGeom>
          <a:noFill/>
          <a:ln/>
        </p:spPr>
        <p:txBody>
          <a:bodyPr wrap="square" rtlCol="0" anchor="ctr"/>
          <a:lstStyle/>
          <a:p>
            <a:pPr algn="ctr" indent="0" marL="0">
              <a:buNone/>
            </a:pPr>
            <a:r>
              <a:rPr lang="en-US" sz="1000" b="1" dirty="0">
                <a:solidFill>
                  <a:srgbClr val="7C3AED"/>
                </a:solidFill>
                <a:latin typeface="Segoe UI" pitchFamily="34" charset="0"/>
                <a:ea typeface="Segoe UI" pitchFamily="34" charset="-122"/>
                <a:cs typeface="Segoe UI" pitchFamily="34" charset="-120"/>
              </a:rPr>
              <a:t>04</a:t>
            </a:r>
            <a:endParaRPr lang="en-US" sz="1000" dirty="0"/>
          </a:p>
        </p:txBody>
      </p:sp>
      <p:sp>
        <p:nvSpPr>
          <p:cNvPr id="30" name="Text 28"/>
          <p:cNvSpPr/>
          <p:nvPr/>
        </p:nvSpPr>
        <p:spPr>
          <a:xfrm>
            <a:off x="5349240" y="2825496"/>
            <a:ext cx="2926080" cy="256032"/>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Route &amp; Pickup Optimization</a:t>
            </a:r>
            <a:endParaRPr lang="en-US" sz="1100" dirty="0"/>
          </a:p>
        </p:txBody>
      </p:sp>
      <p:sp>
        <p:nvSpPr>
          <p:cNvPr id="31" name="Text 29"/>
          <p:cNvSpPr/>
          <p:nvPr/>
        </p:nvSpPr>
        <p:spPr>
          <a:xfrm>
            <a:off x="5349240" y="3099816"/>
            <a:ext cx="2926080" cy="566928"/>
          </a:xfrm>
          <a:prstGeom prst="rect">
            <a:avLst/>
          </a:prstGeom>
          <a:noFill/>
          <a:ln/>
        </p:spPr>
        <p:txBody>
          <a:bodyPr wrap="square" rtlCol="0" anchor="ctr"/>
          <a:lstStyle/>
          <a:p>
            <a:pPr indent="0" marL="0">
              <a:lnSpc>
                <a:spcPct val="115000"/>
              </a:lnSpc>
              <a:buNone/>
            </a:pPr>
            <a:r>
              <a:rPr lang="en-US" sz="850" dirty="0">
                <a:solidFill>
                  <a:srgbClr val="475569"/>
                </a:solidFill>
                <a:latin typeface="Segoe UI" pitchFamily="34" charset="0"/>
                <a:ea typeface="Segoe UI" pitchFamily="34" charset="-122"/>
                <a:cs typeface="Segoe UI" pitchFamily="34" charset="-120"/>
              </a:rPr>
              <a:t>Clusters farm pickup requests to maximize truck capacity while prioritizing urgent perishable batches for earliest collection.</a:t>
            </a:r>
            <a:endParaRPr lang="en-US" sz="850" dirty="0"/>
          </a:p>
        </p:txBody>
      </p:sp>
      <p:sp>
        <p:nvSpPr>
          <p:cNvPr id="32" name="Shape 30"/>
          <p:cNvSpPr/>
          <p:nvPr/>
        </p:nvSpPr>
        <p:spPr>
          <a:xfrm>
            <a:off x="731520" y="4023360"/>
            <a:ext cx="7680960" cy="594360"/>
          </a:xfrm>
          <a:prstGeom prst="roundRect">
            <a:avLst>
              <a:gd name="adj" fmla="val 9231"/>
            </a:avLst>
          </a:prstGeom>
          <a:solidFill>
            <a:srgbClr val="F0FDF4"/>
          </a:solidFill>
          <a:ln w="12700">
            <a:solidFill>
              <a:srgbClr val="A7F3D0"/>
            </a:solidFill>
            <a:prstDash val="solid"/>
          </a:ln>
        </p:spPr>
      </p:sp>
      <p:sp>
        <p:nvSpPr>
          <p:cNvPr id="33" name="Text 31"/>
          <p:cNvSpPr/>
          <p:nvPr/>
        </p:nvSpPr>
        <p:spPr>
          <a:xfrm>
            <a:off x="914400" y="4041648"/>
            <a:ext cx="7315200" cy="548640"/>
          </a:xfrm>
          <a:prstGeom prst="rect">
            <a:avLst/>
          </a:prstGeom>
          <a:noFill/>
          <a:ln/>
        </p:spPr>
        <p:txBody>
          <a:bodyPr wrap="square" rtlCol="0" anchor="ctr"/>
          <a:lstStyle/>
          <a:p>
            <a:pPr algn="ctr" indent="0" marL="0">
              <a:buNone/>
            </a:pPr>
            <a:r>
              <a:rPr lang="en-US" sz="850" b="1" dirty="0">
                <a:solidFill>
                  <a:srgbClr val="064E2B"/>
                </a:solidFill>
                <a:latin typeface="Segoe UI" pitchFamily="34" charset="0"/>
                <a:ea typeface="Segoe UI" pitchFamily="34" charset="-122"/>
                <a:cs typeface="Segoe UI" pitchFamily="34" charset="-120"/>
              </a:rPr>
              <a:t>Core Engineering Principle: We deliberately employ explainable mathematical scoring rather than generative chatbots. In B2B agricultural trade, stakeholders require deterministic, auditable decisions rather than non-deterministic text generation.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DECISION ENGINE 1</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11/15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Buyer–Farmer Matching: Multi-Criteria Weighted Model</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Formal mathematical formulation for ranking produce compatibility against procurement specifications</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481328"/>
            <a:ext cx="4480560" cy="3127248"/>
          </a:xfrm>
          <a:prstGeom prst="roundRect">
            <a:avLst>
              <a:gd name="adj" fmla="val 2339"/>
            </a:avLst>
          </a:prstGeom>
          <a:solidFill>
            <a:srgbClr val="FFFFFF"/>
          </a:solidFill>
          <a:ln w="12700">
            <a:solidFill>
              <a:srgbClr val="E2E8F0"/>
            </a:solidFill>
            <a:prstDash val="solid"/>
          </a:ln>
        </p:spPr>
      </p:sp>
      <p:sp>
        <p:nvSpPr>
          <p:cNvPr id="13" name="Text 11"/>
          <p:cNvSpPr/>
          <p:nvPr/>
        </p:nvSpPr>
        <p:spPr>
          <a:xfrm>
            <a:off x="914400" y="1609344"/>
            <a:ext cx="4114800" cy="228600"/>
          </a:xfrm>
          <a:prstGeom prst="rect">
            <a:avLst/>
          </a:prstGeom>
          <a:noFill/>
          <a:ln/>
        </p:spPr>
        <p:txBody>
          <a:bodyPr wrap="square" rtlCol="0" anchor="ctr"/>
          <a:lstStyle/>
          <a:p>
            <a:pPr indent="0" marL="0">
              <a:buNone/>
            </a:pPr>
            <a:r>
              <a:rPr lang="en-US" sz="900" b="1" dirty="0">
                <a:solidFill>
                  <a:srgbClr val="0D6938"/>
                </a:solidFill>
                <a:latin typeface="Segoe UI" pitchFamily="34" charset="0"/>
                <a:ea typeface="Segoe UI" pitchFamily="34" charset="-122"/>
                <a:cs typeface="Segoe UI" pitchFamily="34" charset="-120"/>
              </a:rPr>
              <a:t>COMPOSITE MATCH FORMULATION: S = ∑ ( w_i • s_i )</a:t>
            </a:r>
            <a:endParaRPr lang="en-US" sz="900" dirty="0"/>
          </a:p>
        </p:txBody>
      </p:sp>
      <p:sp>
        <p:nvSpPr>
          <p:cNvPr id="14" name="Text 12"/>
          <p:cNvSpPr/>
          <p:nvPr/>
        </p:nvSpPr>
        <p:spPr>
          <a:xfrm>
            <a:off x="914400" y="1938528"/>
            <a:ext cx="1920240" cy="320040"/>
          </a:xfrm>
          <a:prstGeom prst="rect">
            <a:avLst/>
          </a:prstGeom>
          <a:noFill/>
          <a:ln/>
        </p:spPr>
        <p:txBody>
          <a:bodyPr wrap="square" rtlCol="0" anchor="ctr"/>
          <a:lstStyle/>
          <a:p>
            <a:pPr indent="0" marL="0">
              <a:buNone/>
            </a:pPr>
            <a:r>
              <a:rPr lang="en-US" sz="950" b="1" dirty="0">
                <a:solidFill>
                  <a:srgbClr val="0F172A"/>
                </a:solidFill>
                <a:latin typeface="Segoe UI" pitchFamily="34" charset="0"/>
                <a:ea typeface="Segoe UI" pitchFamily="34" charset="-122"/>
                <a:cs typeface="Segoe UI" pitchFamily="34" charset="-120"/>
              </a:rPr>
              <a:t>• Price Compatibility (25%):</a:t>
            </a:r>
            <a:endParaRPr lang="en-US" sz="950" dirty="0"/>
          </a:p>
        </p:txBody>
      </p:sp>
      <p:sp>
        <p:nvSpPr>
          <p:cNvPr id="15" name="Text 13"/>
          <p:cNvSpPr/>
          <p:nvPr/>
        </p:nvSpPr>
        <p:spPr>
          <a:xfrm>
            <a:off x="2834640" y="1938528"/>
            <a:ext cx="2286000" cy="320040"/>
          </a:xfrm>
          <a:prstGeom prst="rect">
            <a:avLst/>
          </a:prstGeom>
          <a:noFill/>
          <a:ln/>
        </p:spPr>
        <p:txBody>
          <a:bodyPr wrap="square" rtlCol="0" anchor="ctr"/>
          <a:lstStyle/>
          <a:p>
            <a:pPr indent="0" marL="0">
              <a:buNone/>
            </a:pPr>
            <a:r>
              <a:rPr lang="en-US" sz="880" dirty="0">
                <a:solidFill>
                  <a:srgbClr val="475569"/>
                </a:solidFill>
                <a:latin typeface="Segoe UI" pitchFamily="34" charset="0"/>
                <a:ea typeface="Segoe UI" pitchFamily="34" charset="-122"/>
                <a:cs typeface="Segoe UI" pitchFamily="34" charset="-120"/>
              </a:rPr>
              <a:t>Buyer offer vs farmer minimum acceptable price</a:t>
            </a:r>
            <a:endParaRPr lang="en-US" sz="880" dirty="0"/>
          </a:p>
        </p:txBody>
      </p:sp>
      <p:sp>
        <p:nvSpPr>
          <p:cNvPr id="16" name="Text 14"/>
          <p:cNvSpPr/>
          <p:nvPr/>
        </p:nvSpPr>
        <p:spPr>
          <a:xfrm>
            <a:off x="914400" y="2359152"/>
            <a:ext cx="1920240" cy="320040"/>
          </a:xfrm>
          <a:prstGeom prst="rect">
            <a:avLst/>
          </a:prstGeom>
          <a:noFill/>
          <a:ln/>
        </p:spPr>
        <p:txBody>
          <a:bodyPr wrap="square" rtlCol="0" anchor="ctr"/>
          <a:lstStyle/>
          <a:p>
            <a:pPr indent="0" marL="0">
              <a:buNone/>
            </a:pPr>
            <a:r>
              <a:rPr lang="en-US" sz="950" b="1" dirty="0">
                <a:solidFill>
                  <a:srgbClr val="0F172A"/>
                </a:solidFill>
                <a:latin typeface="Segoe UI" pitchFamily="34" charset="0"/>
                <a:ea typeface="Segoe UI" pitchFamily="34" charset="-122"/>
                <a:cs typeface="Segoe UI" pitchFamily="34" charset="-120"/>
              </a:rPr>
              <a:t>• Quality Grade Match (20%):</a:t>
            </a:r>
            <a:endParaRPr lang="en-US" sz="950" dirty="0"/>
          </a:p>
        </p:txBody>
      </p:sp>
      <p:sp>
        <p:nvSpPr>
          <p:cNvPr id="17" name="Text 15"/>
          <p:cNvSpPr/>
          <p:nvPr/>
        </p:nvSpPr>
        <p:spPr>
          <a:xfrm>
            <a:off x="2834640" y="2359152"/>
            <a:ext cx="2286000" cy="320040"/>
          </a:xfrm>
          <a:prstGeom prst="rect">
            <a:avLst/>
          </a:prstGeom>
          <a:noFill/>
          <a:ln/>
        </p:spPr>
        <p:txBody>
          <a:bodyPr wrap="square" rtlCol="0" anchor="ctr"/>
          <a:lstStyle/>
          <a:p>
            <a:pPr indent="0" marL="0">
              <a:buNone/>
            </a:pPr>
            <a:r>
              <a:rPr lang="en-US" sz="880" dirty="0">
                <a:solidFill>
                  <a:srgbClr val="475569"/>
                </a:solidFill>
                <a:latin typeface="Segoe UI" pitchFamily="34" charset="0"/>
                <a:ea typeface="Segoe UI" pitchFamily="34" charset="-122"/>
                <a:cs typeface="Segoe UI" pitchFamily="34" charset="-120"/>
              </a:rPr>
              <a:t>Exact or compatible quality grade alignment</a:t>
            </a:r>
            <a:endParaRPr lang="en-US" sz="880" dirty="0"/>
          </a:p>
        </p:txBody>
      </p:sp>
      <p:sp>
        <p:nvSpPr>
          <p:cNvPr id="18" name="Text 16"/>
          <p:cNvSpPr/>
          <p:nvPr/>
        </p:nvSpPr>
        <p:spPr>
          <a:xfrm>
            <a:off x="914400" y="2779776"/>
            <a:ext cx="1920240" cy="320040"/>
          </a:xfrm>
          <a:prstGeom prst="rect">
            <a:avLst/>
          </a:prstGeom>
          <a:noFill/>
          <a:ln/>
        </p:spPr>
        <p:txBody>
          <a:bodyPr wrap="square" rtlCol="0" anchor="ctr"/>
          <a:lstStyle/>
          <a:p>
            <a:pPr indent="0" marL="0">
              <a:buNone/>
            </a:pPr>
            <a:r>
              <a:rPr lang="en-US" sz="950" b="1" dirty="0">
                <a:solidFill>
                  <a:srgbClr val="0F172A"/>
                </a:solidFill>
                <a:latin typeface="Segoe UI" pitchFamily="34" charset="0"/>
                <a:ea typeface="Segoe UI" pitchFamily="34" charset="-122"/>
                <a:cs typeface="Segoe UI" pitchFamily="34" charset="-120"/>
              </a:rPr>
              <a:t>• Quantity Fulfillment (20%):</a:t>
            </a:r>
            <a:endParaRPr lang="en-US" sz="950" dirty="0"/>
          </a:p>
        </p:txBody>
      </p:sp>
      <p:sp>
        <p:nvSpPr>
          <p:cNvPr id="19" name="Text 17"/>
          <p:cNvSpPr/>
          <p:nvPr/>
        </p:nvSpPr>
        <p:spPr>
          <a:xfrm>
            <a:off x="2834640" y="2779776"/>
            <a:ext cx="2286000" cy="320040"/>
          </a:xfrm>
          <a:prstGeom prst="rect">
            <a:avLst/>
          </a:prstGeom>
          <a:noFill/>
          <a:ln/>
        </p:spPr>
        <p:txBody>
          <a:bodyPr wrap="square" rtlCol="0" anchor="ctr"/>
          <a:lstStyle/>
          <a:p>
            <a:pPr indent="0" marL="0">
              <a:buNone/>
            </a:pPr>
            <a:r>
              <a:rPr lang="en-US" sz="880" dirty="0">
                <a:solidFill>
                  <a:srgbClr val="475569"/>
                </a:solidFill>
                <a:latin typeface="Segoe UI" pitchFamily="34" charset="0"/>
                <a:ea typeface="Segoe UI" pitchFamily="34" charset="-122"/>
                <a:cs typeface="Segoe UI" pitchFamily="34" charset="-120"/>
              </a:rPr>
              <a:t>Proportion of buyer order volume satisfied</a:t>
            </a:r>
            <a:endParaRPr lang="en-US" sz="880" dirty="0"/>
          </a:p>
        </p:txBody>
      </p:sp>
      <p:sp>
        <p:nvSpPr>
          <p:cNvPr id="20" name="Text 18"/>
          <p:cNvSpPr/>
          <p:nvPr/>
        </p:nvSpPr>
        <p:spPr>
          <a:xfrm>
            <a:off x="914400" y="3200400"/>
            <a:ext cx="1920240" cy="320040"/>
          </a:xfrm>
          <a:prstGeom prst="rect">
            <a:avLst/>
          </a:prstGeom>
          <a:noFill/>
          <a:ln/>
        </p:spPr>
        <p:txBody>
          <a:bodyPr wrap="square" rtlCol="0" anchor="ctr"/>
          <a:lstStyle/>
          <a:p>
            <a:pPr indent="0" marL="0">
              <a:buNone/>
            </a:pPr>
            <a:r>
              <a:rPr lang="en-US" sz="950" b="1" dirty="0">
                <a:solidFill>
                  <a:srgbClr val="0F172A"/>
                </a:solidFill>
                <a:latin typeface="Segoe UI" pitchFamily="34" charset="0"/>
                <a:ea typeface="Segoe UI" pitchFamily="34" charset="-122"/>
                <a:cs typeface="Segoe UI" pitchFamily="34" charset="-120"/>
              </a:rPr>
              <a:t>• Location Proximity (15%):</a:t>
            </a:r>
            <a:endParaRPr lang="en-US" sz="950" dirty="0"/>
          </a:p>
        </p:txBody>
      </p:sp>
      <p:sp>
        <p:nvSpPr>
          <p:cNvPr id="21" name="Text 19"/>
          <p:cNvSpPr/>
          <p:nvPr/>
        </p:nvSpPr>
        <p:spPr>
          <a:xfrm>
            <a:off x="2834640" y="3200400"/>
            <a:ext cx="2286000" cy="320040"/>
          </a:xfrm>
          <a:prstGeom prst="rect">
            <a:avLst/>
          </a:prstGeom>
          <a:noFill/>
          <a:ln/>
        </p:spPr>
        <p:txBody>
          <a:bodyPr wrap="square" rtlCol="0" anchor="ctr"/>
          <a:lstStyle/>
          <a:p>
            <a:pPr indent="0" marL="0">
              <a:buNone/>
            </a:pPr>
            <a:r>
              <a:rPr lang="en-US" sz="880" dirty="0">
                <a:solidFill>
                  <a:srgbClr val="475569"/>
                </a:solidFill>
                <a:latin typeface="Segoe UI" pitchFamily="34" charset="0"/>
                <a:ea typeface="Segoe UI" pitchFamily="34" charset="-122"/>
                <a:cs typeface="Segoe UI" pitchFamily="34" charset="-120"/>
              </a:rPr>
              <a:t>Haversine distance between farm and buyer hub</a:t>
            </a:r>
            <a:endParaRPr lang="en-US" sz="880" dirty="0"/>
          </a:p>
        </p:txBody>
      </p:sp>
      <p:sp>
        <p:nvSpPr>
          <p:cNvPr id="22" name="Text 20"/>
          <p:cNvSpPr/>
          <p:nvPr/>
        </p:nvSpPr>
        <p:spPr>
          <a:xfrm>
            <a:off x="914400" y="3621024"/>
            <a:ext cx="1920240" cy="320040"/>
          </a:xfrm>
          <a:prstGeom prst="rect">
            <a:avLst/>
          </a:prstGeom>
          <a:noFill/>
          <a:ln/>
        </p:spPr>
        <p:txBody>
          <a:bodyPr wrap="square" rtlCol="0" anchor="ctr"/>
          <a:lstStyle/>
          <a:p>
            <a:pPr indent="0" marL="0">
              <a:buNone/>
            </a:pPr>
            <a:r>
              <a:rPr lang="en-US" sz="950" b="1" dirty="0">
                <a:solidFill>
                  <a:srgbClr val="0F172A"/>
                </a:solidFill>
                <a:latin typeface="Segoe UI" pitchFamily="34" charset="0"/>
                <a:ea typeface="Segoe UI" pitchFamily="34" charset="-122"/>
                <a:cs typeface="Segoe UI" pitchFamily="34" charset="-120"/>
              </a:rPr>
              <a:t>• Date Suitability (10%):</a:t>
            </a:r>
            <a:endParaRPr lang="en-US" sz="950" dirty="0"/>
          </a:p>
        </p:txBody>
      </p:sp>
      <p:sp>
        <p:nvSpPr>
          <p:cNvPr id="23" name="Text 21"/>
          <p:cNvSpPr/>
          <p:nvPr/>
        </p:nvSpPr>
        <p:spPr>
          <a:xfrm>
            <a:off x="2834640" y="3621024"/>
            <a:ext cx="2286000" cy="320040"/>
          </a:xfrm>
          <a:prstGeom prst="rect">
            <a:avLst/>
          </a:prstGeom>
          <a:noFill/>
          <a:ln/>
        </p:spPr>
        <p:txBody>
          <a:bodyPr wrap="square" rtlCol="0" anchor="ctr"/>
          <a:lstStyle/>
          <a:p>
            <a:pPr indent="0" marL="0">
              <a:buNone/>
            </a:pPr>
            <a:r>
              <a:rPr lang="en-US" sz="880" dirty="0">
                <a:solidFill>
                  <a:srgbClr val="475569"/>
                </a:solidFill>
                <a:latin typeface="Segoe UI" pitchFamily="34" charset="0"/>
                <a:ea typeface="Segoe UI" pitchFamily="34" charset="-122"/>
                <a:cs typeface="Segoe UI" pitchFamily="34" charset="-120"/>
              </a:rPr>
              <a:t>Harvest readiness date vs delivery deadline</a:t>
            </a:r>
            <a:endParaRPr lang="en-US" sz="880" dirty="0"/>
          </a:p>
        </p:txBody>
      </p:sp>
      <p:sp>
        <p:nvSpPr>
          <p:cNvPr id="24" name="Text 22"/>
          <p:cNvSpPr/>
          <p:nvPr/>
        </p:nvSpPr>
        <p:spPr>
          <a:xfrm>
            <a:off x="914400" y="4041648"/>
            <a:ext cx="1920240" cy="320040"/>
          </a:xfrm>
          <a:prstGeom prst="rect">
            <a:avLst/>
          </a:prstGeom>
          <a:noFill/>
          <a:ln/>
        </p:spPr>
        <p:txBody>
          <a:bodyPr wrap="square" rtlCol="0" anchor="ctr"/>
          <a:lstStyle/>
          <a:p>
            <a:pPr indent="0" marL="0">
              <a:buNone/>
            </a:pPr>
            <a:r>
              <a:rPr lang="en-US" sz="950" b="1" dirty="0">
                <a:solidFill>
                  <a:srgbClr val="0F172A"/>
                </a:solidFill>
                <a:latin typeface="Segoe UI" pitchFamily="34" charset="0"/>
                <a:ea typeface="Segoe UI" pitchFamily="34" charset="-122"/>
                <a:cs typeface="Segoe UI" pitchFamily="34" charset="-120"/>
              </a:rPr>
              <a:t>• Farmer Reliability (10%):</a:t>
            </a:r>
            <a:endParaRPr lang="en-US" sz="950" dirty="0"/>
          </a:p>
        </p:txBody>
      </p:sp>
      <p:sp>
        <p:nvSpPr>
          <p:cNvPr id="25" name="Text 23"/>
          <p:cNvSpPr/>
          <p:nvPr/>
        </p:nvSpPr>
        <p:spPr>
          <a:xfrm>
            <a:off x="2834640" y="4041648"/>
            <a:ext cx="2286000" cy="320040"/>
          </a:xfrm>
          <a:prstGeom prst="rect">
            <a:avLst/>
          </a:prstGeom>
          <a:noFill/>
          <a:ln/>
        </p:spPr>
        <p:txBody>
          <a:bodyPr wrap="square" rtlCol="0" anchor="ctr"/>
          <a:lstStyle/>
          <a:p>
            <a:pPr indent="0" marL="0">
              <a:buNone/>
            </a:pPr>
            <a:r>
              <a:rPr lang="en-US" sz="880" dirty="0">
                <a:solidFill>
                  <a:srgbClr val="475569"/>
                </a:solidFill>
                <a:latin typeface="Segoe UI" pitchFamily="34" charset="0"/>
                <a:ea typeface="Segoe UI" pitchFamily="34" charset="-122"/>
                <a:cs typeface="Segoe UI" pitchFamily="34" charset="-120"/>
              </a:rPr>
              <a:t>Historical fulfillment track record &amp; verification</a:t>
            </a:r>
            <a:endParaRPr lang="en-US" sz="880" dirty="0"/>
          </a:p>
        </p:txBody>
      </p:sp>
      <p:sp>
        <p:nvSpPr>
          <p:cNvPr id="26" name="Shape 24"/>
          <p:cNvSpPr/>
          <p:nvPr/>
        </p:nvSpPr>
        <p:spPr>
          <a:xfrm>
            <a:off x="5394960" y="1481328"/>
            <a:ext cx="3017520" cy="3127248"/>
          </a:xfrm>
          <a:prstGeom prst="roundRect">
            <a:avLst>
              <a:gd name="adj" fmla="val 2424"/>
            </a:avLst>
          </a:prstGeom>
          <a:solidFill>
            <a:srgbClr val="FFFFFF"/>
          </a:solidFill>
          <a:ln w="12700">
            <a:solidFill>
              <a:srgbClr val="E2E8F0"/>
            </a:solidFill>
            <a:prstDash val="solid"/>
          </a:ln>
        </p:spPr>
      </p:sp>
      <p:sp>
        <p:nvSpPr>
          <p:cNvPr id="27" name="Shape 25"/>
          <p:cNvSpPr/>
          <p:nvPr/>
        </p:nvSpPr>
        <p:spPr>
          <a:xfrm>
            <a:off x="5532120" y="1627632"/>
            <a:ext cx="2743200" cy="256032"/>
          </a:xfrm>
          <a:prstGeom prst="roundRect">
            <a:avLst>
              <a:gd name="adj" fmla="val 17857"/>
            </a:avLst>
          </a:prstGeom>
          <a:solidFill>
            <a:srgbClr val="DCFCE7"/>
          </a:solidFill>
          <a:ln/>
        </p:spPr>
      </p:sp>
      <p:sp>
        <p:nvSpPr>
          <p:cNvPr id="28" name="Text 26"/>
          <p:cNvSpPr/>
          <p:nvPr/>
        </p:nvSpPr>
        <p:spPr>
          <a:xfrm>
            <a:off x="5532120" y="1627632"/>
            <a:ext cx="2743200" cy="256032"/>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EXPLAINABLE RECOMMENDATION OUTPUT</a:t>
            </a:r>
            <a:endParaRPr lang="en-US" sz="750" dirty="0"/>
          </a:p>
        </p:txBody>
      </p:sp>
      <p:sp>
        <p:nvSpPr>
          <p:cNvPr id="29" name="Shape 27"/>
          <p:cNvSpPr/>
          <p:nvPr/>
        </p:nvSpPr>
        <p:spPr>
          <a:xfrm>
            <a:off x="5532120" y="1993392"/>
            <a:ext cx="2743200" cy="548640"/>
          </a:xfrm>
          <a:prstGeom prst="roundRect">
            <a:avLst>
              <a:gd name="adj" fmla="val 10000"/>
            </a:avLst>
          </a:prstGeom>
          <a:solidFill>
            <a:srgbClr val="F8FAFC"/>
          </a:solidFill>
          <a:ln w="12700">
            <a:solidFill>
              <a:srgbClr val="0D6938"/>
            </a:solidFill>
            <a:prstDash val="solid"/>
          </a:ln>
        </p:spPr>
      </p:sp>
      <p:sp>
        <p:nvSpPr>
          <p:cNvPr id="30" name="Text 28"/>
          <p:cNvSpPr/>
          <p:nvPr/>
        </p:nvSpPr>
        <p:spPr>
          <a:xfrm>
            <a:off x="5532120" y="1993392"/>
            <a:ext cx="2743200" cy="548640"/>
          </a:xfrm>
          <a:prstGeom prst="rect">
            <a:avLst/>
          </a:prstGeom>
          <a:noFill/>
          <a:ln/>
        </p:spPr>
        <p:txBody>
          <a:bodyPr wrap="square" rtlCol="0" anchor="ctr"/>
          <a:lstStyle/>
          <a:p>
            <a:pPr algn="ctr" indent="0" marL="0">
              <a:buNone/>
            </a:pPr>
            <a:r>
              <a:rPr lang="en-US" sz="950" b="1" dirty="0">
                <a:solidFill>
                  <a:srgbClr val="0D6938"/>
                </a:solidFill>
                <a:latin typeface="Segoe UI" pitchFamily="34" charset="0"/>
                <a:ea typeface="Segoe UI" pitchFamily="34" charset="-122"/>
                <a:cs typeface="Segoe UI" pitchFamily="34" charset="-120"/>
              </a:rPr>
              <a:t>Match Score: 92 / 100</a:t>
            </a:r>
            <a:endParaRPr lang="en-US" sz="950" dirty="0"/>
          </a:p>
          <a:p>
            <a:pPr algn="ctr" indent="0" marL="0">
              <a:buNone/>
            </a:pPr>
            <a:r>
              <a:rPr lang="en-US" sz="950" b="1" dirty="0">
                <a:solidFill>
                  <a:srgbClr val="0D6938"/>
                </a:solidFill>
                <a:latin typeface="Segoe UI" pitchFamily="34" charset="0"/>
                <a:ea typeface="Segoe UI" pitchFamily="34" charset="-122"/>
                <a:cs typeface="Segoe UI" pitchFamily="34" charset="-120"/>
              </a:rPr>
              <a:t>Crop: Tomato  •  Buyer: FreshMart Pvt Ltd</a:t>
            </a:r>
            <a:endParaRPr lang="en-US" sz="950" dirty="0"/>
          </a:p>
        </p:txBody>
      </p:sp>
      <p:sp>
        <p:nvSpPr>
          <p:cNvPr id="31" name="Text 29"/>
          <p:cNvSpPr/>
          <p:nvPr/>
        </p:nvSpPr>
        <p:spPr>
          <a:xfrm>
            <a:off x="5532120" y="2651760"/>
            <a:ext cx="2743200" cy="228600"/>
          </a:xfrm>
          <a:prstGeom prst="rect">
            <a:avLst/>
          </a:prstGeom>
          <a:noFill/>
          <a:ln/>
        </p:spPr>
        <p:txBody>
          <a:bodyPr wrap="square" rtlCol="0" anchor="ctr"/>
          <a:lstStyle/>
          <a:p>
            <a:pPr indent="0" marL="0">
              <a:buNone/>
            </a:pPr>
            <a:r>
              <a:rPr lang="en-US" sz="850" b="1" dirty="0">
                <a:solidFill>
                  <a:srgbClr val="0F172A"/>
                </a:solidFill>
                <a:latin typeface="Segoe UI" pitchFamily="34" charset="0"/>
                <a:ea typeface="Segoe UI" pitchFamily="34" charset="-122"/>
                <a:cs typeface="Segoe UI" pitchFamily="34" charset="-120"/>
              </a:rPr>
              <a:t>Explicit Rationale Provided to Farmer:</a:t>
            </a:r>
            <a:endParaRPr lang="en-US" sz="850" dirty="0"/>
          </a:p>
        </p:txBody>
      </p:sp>
      <p:sp>
        <p:nvSpPr>
          <p:cNvPr id="32" name="Text 30"/>
          <p:cNvSpPr/>
          <p:nvPr/>
        </p:nvSpPr>
        <p:spPr>
          <a:xfrm>
            <a:off x="5532120" y="2926080"/>
            <a:ext cx="2743200" cy="1463040"/>
          </a:xfrm>
          <a:prstGeom prst="rect">
            <a:avLst/>
          </a:prstGeom>
          <a:noFill/>
          <a:ln/>
        </p:spPr>
        <p:txBody>
          <a:bodyPr wrap="square" rtlCol="0" anchor="ctr"/>
          <a:lstStyle/>
          <a:p>
            <a:pPr indent="0" marL="0">
              <a:lnSpc>
                <a:spcPct val="125000"/>
              </a:lnSpc>
              <a:buNone/>
            </a:pPr>
            <a:r>
              <a:rPr lang="en-US" sz="900" dirty="0">
                <a:solidFill>
                  <a:srgbClr val="334155"/>
                </a:solidFill>
                <a:latin typeface="Segoe UI" pitchFamily="34" charset="0"/>
                <a:ea typeface="Segoe UI" pitchFamily="34" charset="-122"/>
                <a:cs typeface="Segoe UI" pitchFamily="34" charset="-120"/>
              </a:rPr>
              <a:t>✔ Crop grade matches requirement (Grade A)</a:t>
            </a:r>
            <a:endParaRPr lang="en-US" sz="900" dirty="0"/>
          </a:p>
          <a:p>
            <a:pPr indent="0" marL="0">
              <a:lnSpc>
                <a:spcPct val="125000"/>
              </a:lnSpc>
              <a:buNone/>
            </a:pPr>
            <a:r>
              <a:rPr lang="en-US" sz="900" dirty="0">
                <a:solidFill>
                  <a:srgbClr val="334155"/>
                </a:solidFill>
                <a:latin typeface="Segoe UI" pitchFamily="34" charset="0"/>
                <a:ea typeface="Segoe UI" pitchFamily="34" charset="-122"/>
                <a:cs typeface="Segoe UI" pitchFamily="34" charset="-120"/>
              </a:rPr>
              <a:t>✔ Farm within 50 km of buyer hub (Nashik ➔ Pune)</a:t>
            </a:r>
            <a:endParaRPr lang="en-US" sz="900" dirty="0"/>
          </a:p>
          <a:p>
            <a:pPr indent="0" marL="0">
              <a:lnSpc>
                <a:spcPct val="125000"/>
              </a:lnSpc>
              <a:buNone/>
            </a:pPr>
            <a:r>
              <a:rPr lang="en-US" sz="900" dirty="0">
                <a:solidFill>
                  <a:srgbClr val="334155"/>
                </a:solidFill>
                <a:latin typeface="Segoe UI" pitchFamily="34" charset="0"/>
                <a:ea typeface="Segoe UI" pitchFamily="34" charset="-122"/>
                <a:cs typeface="Segoe UI" pitchFamily="34" charset="-120"/>
              </a:rPr>
              <a:t>✔ Batch satisfies 100% of order consignment</a:t>
            </a:r>
            <a:endParaRPr lang="en-US" sz="900" dirty="0"/>
          </a:p>
          <a:p>
            <a:pPr indent="0" marL="0">
              <a:lnSpc>
                <a:spcPct val="125000"/>
              </a:lnSpc>
              <a:buNone/>
            </a:pPr>
            <a:r>
              <a:rPr lang="en-US" sz="900" dirty="0">
                <a:solidFill>
                  <a:srgbClr val="334155"/>
                </a:solidFill>
                <a:latin typeface="Segoe UI" pitchFamily="34" charset="0"/>
                <a:ea typeface="Segoe UI" pitchFamily="34" charset="-122"/>
                <a:cs typeface="Segoe UI" pitchFamily="34" charset="-120"/>
              </a:rPr>
              <a:t>✔ Offered price (₹30) exceeds min price (₹25)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DECISION ENGINES 2 &amp; 3</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12/15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Demand Forecasting &amp; Shelf-Life Decay Engines</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Twin analytical models balancing forward market intelligence with post-harvest perishability</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481328"/>
            <a:ext cx="3703320" cy="3127248"/>
          </a:xfrm>
          <a:prstGeom prst="roundRect">
            <a:avLst>
              <a:gd name="adj" fmla="val 2339"/>
            </a:avLst>
          </a:prstGeom>
          <a:solidFill>
            <a:srgbClr val="FFFFFF"/>
          </a:solidFill>
          <a:ln w="12700">
            <a:solidFill>
              <a:srgbClr val="E2E8F0"/>
            </a:solidFill>
            <a:prstDash val="solid"/>
          </a:ln>
        </p:spPr>
      </p:sp>
      <p:sp>
        <p:nvSpPr>
          <p:cNvPr id="13" name="Shape 11"/>
          <p:cNvSpPr/>
          <p:nvPr/>
        </p:nvSpPr>
        <p:spPr>
          <a:xfrm>
            <a:off x="868680" y="1627632"/>
            <a:ext cx="3429000" cy="256032"/>
          </a:xfrm>
          <a:prstGeom prst="roundRect">
            <a:avLst>
              <a:gd name="adj" fmla="val 17857"/>
            </a:avLst>
          </a:prstGeom>
          <a:solidFill>
            <a:srgbClr val="E0F2FE"/>
          </a:solidFill>
          <a:ln/>
        </p:spPr>
      </p:sp>
      <p:sp>
        <p:nvSpPr>
          <p:cNvPr id="14" name="Text 12"/>
          <p:cNvSpPr/>
          <p:nvPr/>
        </p:nvSpPr>
        <p:spPr>
          <a:xfrm>
            <a:off x="868680" y="1627632"/>
            <a:ext cx="3429000" cy="256032"/>
          </a:xfrm>
          <a:prstGeom prst="rect">
            <a:avLst/>
          </a:prstGeom>
          <a:noFill/>
          <a:ln/>
        </p:spPr>
        <p:txBody>
          <a:bodyPr wrap="square" rtlCol="0" anchor="ctr"/>
          <a:lstStyle/>
          <a:p>
            <a:pPr algn="ctr" indent="0" marL="0">
              <a:buNone/>
            </a:pPr>
            <a:r>
              <a:rPr lang="en-US" sz="750" b="1" dirty="0">
                <a:solidFill>
                  <a:srgbClr val="0284C7"/>
                </a:solidFill>
                <a:latin typeface="Segoe UI" pitchFamily="34" charset="0"/>
                <a:ea typeface="Segoe UI" pitchFamily="34" charset="-122"/>
                <a:cs typeface="Segoe UI" pitchFamily="34" charset="-120"/>
              </a:rPr>
              <a:t>A. DEMAND FORECASTING FLOW</a:t>
            </a:r>
            <a:endParaRPr lang="en-US" sz="750" dirty="0"/>
          </a:p>
        </p:txBody>
      </p:sp>
      <p:sp>
        <p:nvSpPr>
          <p:cNvPr id="15" name="Shape 13"/>
          <p:cNvSpPr/>
          <p:nvPr/>
        </p:nvSpPr>
        <p:spPr>
          <a:xfrm>
            <a:off x="868680" y="1993392"/>
            <a:ext cx="3429000" cy="438912"/>
          </a:xfrm>
          <a:prstGeom prst="roundRect">
            <a:avLst>
              <a:gd name="adj" fmla="val 10417"/>
            </a:avLst>
          </a:prstGeom>
          <a:solidFill>
            <a:srgbClr val="F8FAFC"/>
          </a:solidFill>
          <a:ln w="12700">
            <a:solidFill>
              <a:srgbClr val="E2E8F0"/>
            </a:solidFill>
            <a:prstDash val="solid"/>
          </a:ln>
        </p:spPr>
      </p:sp>
      <p:sp>
        <p:nvSpPr>
          <p:cNvPr id="16" name="Text 14"/>
          <p:cNvSpPr/>
          <p:nvPr/>
        </p:nvSpPr>
        <p:spPr>
          <a:xfrm>
            <a:off x="960120" y="2029968"/>
            <a:ext cx="3246120" cy="182880"/>
          </a:xfrm>
          <a:prstGeom prst="rect">
            <a:avLst/>
          </a:prstGeom>
          <a:noFill/>
          <a:ln/>
        </p:spPr>
        <p:txBody>
          <a:bodyPr wrap="square" rtlCol="0" anchor="ctr"/>
          <a:lstStyle/>
          <a:p>
            <a:pPr indent="0" marL="0">
              <a:buNone/>
            </a:pPr>
            <a:r>
              <a:rPr lang="en-US" sz="880" b="1" dirty="0">
                <a:solidFill>
                  <a:srgbClr val="0F172A"/>
                </a:solidFill>
                <a:latin typeface="Segoe UI" pitchFamily="34" charset="0"/>
                <a:ea typeface="Segoe UI" pitchFamily="34" charset="-122"/>
                <a:cs typeface="Segoe UI" pitchFamily="34" charset="-120"/>
              </a:rPr>
              <a:t>1. Historical Mandi Arrivals</a:t>
            </a:r>
            <a:endParaRPr lang="en-US" sz="880" dirty="0"/>
          </a:p>
        </p:txBody>
      </p:sp>
      <p:sp>
        <p:nvSpPr>
          <p:cNvPr id="17" name="Text 15"/>
          <p:cNvSpPr/>
          <p:nvPr/>
        </p:nvSpPr>
        <p:spPr>
          <a:xfrm>
            <a:off x="960120" y="2231136"/>
            <a:ext cx="324612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Wholesale price series &amp; arrival volumes</a:t>
            </a:r>
            <a:endParaRPr lang="en-US" sz="750" dirty="0"/>
          </a:p>
        </p:txBody>
      </p:sp>
      <p:sp>
        <p:nvSpPr>
          <p:cNvPr id="18" name="Shape 16"/>
          <p:cNvSpPr/>
          <p:nvPr/>
        </p:nvSpPr>
        <p:spPr>
          <a:xfrm>
            <a:off x="868680" y="2523744"/>
            <a:ext cx="3429000" cy="438912"/>
          </a:xfrm>
          <a:prstGeom prst="roundRect">
            <a:avLst>
              <a:gd name="adj" fmla="val 10417"/>
            </a:avLst>
          </a:prstGeom>
          <a:solidFill>
            <a:srgbClr val="F8FAFC"/>
          </a:solidFill>
          <a:ln w="12700">
            <a:solidFill>
              <a:srgbClr val="E2E8F0"/>
            </a:solidFill>
            <a:prstDash val="solid"/>
          </a:ln>
        </p:spPr>
      </p:sp>
      <p:sp>
        <p:nvSpPr>
          <p:cNvPr id="19" name="Text 17"/>
          <p:cNvSpPr/>
          <p:nvPr/>
        </p:nvSpPr>
        <p:spPr>
          <a:xfrm>
            <a:off x="960120" y="2560320"/>
            <a:ext cx="3246120" cy="182880"/>
          </a:xfrm>
          <a:prstGeom prst="rect">
            <a:avLst/>
          </a:prstGeom>
          <a:noFill/>
          <a:ln/>
        </p:spPr>
        <p:txBody>
          <a:bodyPr wrap="square" rtlCol="0" anchor="ctr"/>
          <a:lstStyle/>
          <a:p>
            <a:pPr indent="0" marL="0">
              <a:buNone/>
            </a:pPr>
            <a:r>
              <a:rPr lang="en-US" sz="880" b="1" dirty="0">
                <a:solidFill>
                  <a:srgbClr val="0F172A"/>
                </a:solidFill>
                <a:latin typeface="Segoe UI" pitchFamily="34" charset="0"/>
                <a:ea typeface="Segoe UI" pitchFamily="34" charset="-122"/>
                <a:cs typeface="Segoe UI" pitchFamily="34" charset="-120"/>
              </a:rPr>
              <a:t>2. Weighted Moving Average</a:t>
            </a:r>
            <a:endParaRPr lang="en-US" sz="880" dirty="0"/>
          </a:p>
        </p:txBody>
      </p:sp>
      <p:sp>
        <p:nvSpPr>
          <p:cNvPr id="20" name="Text 18"/>
          <p:cNvSpPr/>
          <p:nvPr/>
        </p:nvSpPr>
        <p:spPr>
          <a:xfrm>
            <a:off x="960120" y="2761488"/>
            <a:ext cx="324612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D̂_t = ∑ ( α_i • D_t-i ) with recent emphasis</a:t>
            </a:r>
            <a:endParaRPr lang="en-US" sz="750" dirty="0"/>
          </a:p>
        </p:txBody>
      </p:sp>
      <p:sp>
        <p:nvSpPr>
          <p:cNvPr id="21" name="Shape 19"/>
          <p:cNvSpPr/>
          <p:nvPr/>
        </p:nvSpPr>
        <p:spPr>
          <a:xfrm>
            <a:off x="868680" y="3054096"/>
            <a:ext cx="3429000" cy="438912"/>
          </a:xfrm>
          <a:prstGeom prst="roundRect">
            <a:avLst>
              <a:gd name="adj" fmla="val 10417"/>
            </a:avLst>
          </a:prstGeom>
          <a:solidFill>
            <a:srgbClr val="F8FAFC"/>
          </a:solidFill>
          <a:ln w="12700">
            <a:solidFill>
              <a:srgbClr val="E2E8F0"/>
            </a:solidFill>
            <a:prstDash val="solid"/>
          </a:ln>
        </p:spPr>
      </p:sp>
      <p:sp>
        <p:nvSpPr>
          <p:cNvPr id="22" name="Text 20"/>
          <p:cNvSpPr/>
          <p:nvPr/>
        </p:nvSpPr>
        <p:spPr>
          <a:xfrm>
            <a:off x="960120" y="3090672"/>
            <a:ext cx="3246120" cy="182880"/>
          </a:xfrm>
          <a:prstGeom prst="rect">
            <a:avLst/>
          </a:prstGeom>
          <a:noFill/>
          <a:ln/>
        </p:spPr>
        <p:txBody>
          <a:bodyPr wrap="square" rtlCol="0" anchor="ctr"/>
          <a:lstStyle/>
          <a:p>
            <a:pPr indent="0" marL="0">
              <a:buNone/>
            </a:pPr>
            <a:r>
              <a:rPr lang="en-US" sz="880" b="1" dirty="0">
                <a:solidFill>
                  <a:srgbClr val="0F172A"/>
                </a:solidFill>
                <a:latin typeface="Segoe UI" pitchFamily="34" charset="0"/>
                <a:ea typeface="Segoe UI" pitchFamily="34" charset="-122"/>
                <a:cs typeface="Segoe UI" pitchFamily="34" charset="-120"/>
              </a:rPr>
              <a:t>3. Trend Slope Classification</a:t>
            </a:r>
            <a:endParaRPr lang="en-US" sz="880" dirty="0"/>
          </a:p>
        </p:txBody>
      </p:sp>
      <p:sp>
        <p:nvSpPr>
          <p:cNvPr id="23" name="Text 21"/>
          <p:cNvSpPr/>
          <p:nvPr/>
        </p:nvSpPr>
        <p:spPr>
          <a:xfrm>
            <a:off x="960120" y="3291840"/>
            <a:ext cx="324612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Rising (&gt; +5%), Stable (±5%), Falling (&lt; -5%)</a:t>
            </a:r>
            <a:endParaRPr lang="en-US" sz="750" dirty="0"/>
          </a:p>
        </p:txBody>
      </p:sp>
      <p:sp>
        <p:nvSpPr>
          <p:cNvPr id="24" name="Shape 22"/>
          <p:cNvSpPr/>
          <p:nvPr/>
        </p:nvSpPr>
        <p:spPr>
          <a:xfrm>
            <a:off x="868680" y="3584448"/>
            <a:ext cx="3429000" cy="438912"/>
          </a:xfrm>
          <a:prstGeom prst="roundRect">
            <a:avLst>
              <a:gd name="adj" fmla="val 10417"/>
            </a:avLst>
          </a:prstGeom>
          <a:solidFill>
            <a:srgbClr val="F8FAFC"/>
          </a:solidFill>
          <a:ln w="12700">
            <a:solidFill>
              <a:srgbClr val="E2E8F0"/>
            </a:solidFill>
            <a:prstDash val="solid"/>
          </a:ln>
        </p:spPr>
      </p:sp>
      <p:sp>
        <p:nvSpPr>
          <p:cNvPr id="25" name="Text 23"/>
          <p:cNvSpPr/>
          <p:nvPr/>
        </p:nvSpPr>
        <p:spPr>
          <a:xfrm>
            <a:off x="960120" y="3621024"/>
            <a:ext cx="3246120" cy="182880"/>
          </a:xfrm>
          <a:prstGeom prst="rect">
            <a:avLst/>
          </a:prstGeom>
          <a:noFill/>
          <a:ln/>
        </p:spPr>
        <p:txBody>
          <a:bodyPr wrap="square" rtlCol="0" anchor="ctr"/>
          <a:lstStyle/>
          <a:p>
            <a:pPr indent="0" marL="0">
              <a:buNone/>
            </a:pPr>
            <a:r>
              <a:rPr lang="en-US" sz="880" b="1" dirty="0">
                <a:solidFill>
                  <a:srgbClr val="0F172A"/>
                </a:solidFill>
                <a:latin typeface="Segoe UI" pitchFamily="34" charset="0"/>
                <a:ea typeface="Segoe UI" pitchFamily="34" charset="-122"/>
                <a:cs typeface="Segoe UI" pitchFamily="34" charset="-120"/>
              </a:rPr>
              <a:t>4. Decision Output for Farmer</a:t>
            </a:r>
            <a:endParaRPr lang="en-US" sz="880" dirty="0"/>
          </a:p>
        </p:txBody>
      </p:sp>
      <p:sp>
        <p:nvSpPr>
          <p:cNvPr id="26" name="Text 24"/>
          <p:cNvSpPr/>
          <p:nvPr/>
        </p:nvSpPr>
        <p:spPr>
          <a:xfrm>
            <a:off x="960120" y="3822192"/>
            <a:ext cx="324612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Projected demand volume &amp; target price bands</a:t>
            </a:r>
            <a:endParaRPr lang="en-US" sz="750" dirty="0"/>
          </a:p>
        </p:txBody>
      </p:sp>
      <p:sp>
        <p:nvSpPr>
          <p:cNvPr id="27" name="Shape 25"/>
          <p:cNvSpPr/>
          <p:nvPr/>
        </p:nvSpPr>
        <p:spPr>
          <a:xfrm>
            <a:off x="4709160" y="1481328"/>
            <a:ext cx="3703320" cy="3127248"/>
          </a:xfrm>
          <a:prstGeom prst="roundRect">
            <a:avLst>
              <a:gd name="adj" fmla="val 2339"/>
            </a:avLst>
          </a:prstGeom>
          <a:solidFill>
            <a:srgbClr val="FFFFFF"/>
          </a:solidFill>
          <a:ln w="12700">
            <a:solidFill>
              <a:srgbClr val="E2E8F0"/>
            </a:solidFill>
            <a:prstDash val="solid"/>
          </a:ln>
        </p:spPr>
      </p:sp>
      <p:sp>
        <p:nvSpPr>
          <p:cNvPr id="28" name="Shape 26"/>
          <p:cNvSpPr/>
          <p:nvPr/>
        </p:nvSpPr>
        <p:spPr>
          <a:xfrm>
            <a:off x="4846320" y="1627632"/>
            <a:ext cx="3429000" cy="256032"/>
          </a:xfrm>
          <a:prstGeom prst="roundRect">
            <a:avLst>
              <a:gd name="adj" fmla="val 17857"/>
            </a:avLst>
          </a:prstGeom>
          <a:solidFill>
            <a:srgbClr val="FEF3C7"/>
          </a:solidFill>
          <a:ln/>
        </p:spPr>
      </p:sp>
      <p:sp>
        <p:nvSpPr>
          <p:cNvPr id="29" name="Text 27"/>
          <p:cNvSpPr/>
          <p:nvPr/>
        </p:nvSpPr>
        <p:spPr>
          <a:xfrm>
            <a:off x="4846320" y="1627632"/>
            <a:ext cx="3429000" cy="256032"/>
          </a:xfrm>
          <a:prstGeom prst="rect">
            <a:avLst/>
          </a:prstGeom>
          <a:noFill/>
          <a:ln/>
        </p:spPr>
        <p:txBody>
          <a:bodyPr wrap="square" rtlCol="0" anchor="ctr"/>
          <a:lstStyle/>
          <a:p>
            <a:pPr algn="ctr" indent="0" marL="0">
              <a:buNone/>
            </a:pPr>
            <a:r>
              <a:rPr lang="en-US" sz="750" b="1" dirty="0">
                <a:solidFill>
                  <a:srgbClr val="D97706"/>
                </a:solidFill>
                <a:latin typeface="Segoe UI" pitchFamily="34" charset="0"/>
                <a:ea typeface="Segoe UI" pitchFamily="34" charset="-122"/>
                <a:cs typeface="Segoe UI" pitchFamily="34" charset="-120"/>
              </a:rPr>
              <a:t>B. SHELF-LIFE &amp; SPOILAGE PREVENTION</a:t>
            </a:r>
            <a:endParaRPr lang="en-US" sz="750" dirty="0"/>
          </a:p>
        </p:txBody>
      </p:sp>
      <p:sp>
        <p:nvSpPr>
          <p:cNvPr id="30" name="Shape 28"/>
          <p:cNvSpPr/>
          <p:nvPr/>
        </p:nvSpPr>
        <p:spPr>
          <a:xfrm>
            <a:off x="4846320" y="1993392"/>
            <a:ext cx="3429000" cy="438912"/>
          </a:xfrm>
          <a:prstGeom prst="roundRect">
            <a:avLst>
              <a:gd name="adj" fmla="val 10417"/>
            </a:avLst>
          </a:prstGeom>
          <a:solidFill>
            <a:srgbClr val="F8FAFC"/>
          </a:solidFill>
          <a:ln w="12700">
            <a:solidFill>
              <a:srgbClr val="E2E8F0"/>
            </a:solidFill>
            <a:prstDash val="solid"/>
          </a:ln>
        </p:spPr>
      </p:sp>
      <p:sp>
        <p:nvSpPr>
          <p:cNvPr id="31" name="Text 29"/>
          <p:cNvSpPr/>
          <p:nvPr/>
        </p:nvSpPr>
        <p:spPr>
          <a:xfrm>
            <a:off x="4937760" y="2029968"/>
            <a:ext cx="3246120" cy="182880"/>
          </a:xfrm>
          <a:prstGeom prst="rect">
            <a:avLst/>
          </a:prstGeom>
          <a:noFill/>
          <a:ln/>
        </p:spPr>
        <p:txBody>
          <a:bodyPr wrap="square" rtlCol="0" anchor="ctr"/>
          <a:lstStyle/>
          <a:p>
            <a:pPr indent="0" marL="0">
              <a:buNone/>
            </a:pPr>
            <a:r>
              <a:rPr lang="en-US" sz="880" b="1" dirty="0">
                <a:solidFill>
                  <a:srgbClr val="0F172A"/>
                </a:solidFill>
                <a:latin typeface="Segoe UI" pitchFamily="34" charset="0"/>
                <a:ea typeface="Segoe UI" pitchFamily="34" charset="-122"/>
                <a:cs typeface="Segoe UI" pitchFamily="34" charset="-120"/>
              </a:rPr>
              <a:t>1. Commodity Shelf-Life Rules</a:t>
            </a:r>
            <a:endParaRPr lang="en-US" sz="880" dirty="0"/>
          </a:p>
        </p:txBody>
      </p:sp>
      <p:sp>
        <p:nvSpPr>
          <p:cNvPr id="32" name="Text 30"/>
          <p:cNvSpPr/>
          <p:nvPr/>
        </p:nvSpPr>
        <p:spPr>
          <a:xfrm>
            <a:off x="4937760" y="2231136"/>
            <a:ext cx="324612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Harvest date + baseline perishability decay</a:t>
            </a:r>
            <a:endParaRPr lang="en-US" sz="750" dirty="0"/>
          </a:p>
        </p:txBody>
      </p:sp>
      <p:sp>
        <p:nvSpPr>
          <p:cNvPr id="33" name="Shape 31"/>
          <p:cNvSpPr/>
          <p:nvPr/>
        </p:nvSpPr>
        <p:spPr>
          <a:xfrm>
            <a:off x="4846320" y="2523744"/>
            <a:ext cx="3429000" cy="438912"/>
          </a:xfrm>
          <a:prstGeom prst="roundRect">
            <a:avLst>
              <a:gd name="adj" fmla="val 10417"/>
            </a:avLst>
          </a:prstGeom>
          <a:solidFill>
            <a:srgbClr val="F8FAFC"/>
          </a:solidFill>
          <a:ln w="12700">
            <a:solidFill>
              <a:srgbClr val="E2E8F0"/>
            </a:solidFill>
            <a:prstDash val="solid"/>
          </a:ln>
        </p:spPr>
      </p:sp>
      <p:sp>
        <p:nvSpPr>
          <p:cNvPr id="34" name="Text 32"/>
          <p:cNvSpPr/>
          <p:nvPr/>
        </p:nvSpPr>
        <p:spPr>
          <a:xfrm>
            <a:off x="4937760" y="2560320"/>
            <a:ext cx="3246120" cy="182880"/>
          </a:xfrm>
          <a:prstGeom prst="rect">
            <a:avLst/>
          </a:prstGeom>
          <a:noFill/>
          <a:ln/>
        </p:spPr>
        <p:txBody>
          <a:bodyPr wrap="square" rtlCol="0" anchor="ctr"/>
          <a:lstStyle/>
          <a:p>
            <a:pPr indent="0" marL="0">
              <a:buNone/>
            </a:pPr>
            <a:r>
              <a:rPr lang="en-US" sz="880" b="1" dirty="0">
                <a:solidFill>
                  <a:srgbClr val="0F172A"/>
                </a:solidFill>
                <a:latin typeface="Segoe UI" pitchFamily="34" charset="0"/>
                <a:ea typeface="Segoe UI" pitchFamily="34" charset="-122"/>
                <a:cs typeface="Segoe UI" pitchFamily="34" charset="-120"/>
              </a:rPr>
              <a:t>2. Remaining Shelf Life (RSL%)</a:t>
            </a:r>
            <a:endParaRPr lang="en-US" sz="880" dirty="0"/>
          </a:p>
        </p:txBody>
      </p:sp>
      <p:sp>
        <p:nvSpPr>
          <p:cNvPr id="35" name="Text 33"/>
          <p:cNvSpPr/>
          <p:nvPr/>
        </p:nvSpPr>
        <p:spPr>
          <a:xfrm>
            <a:off x="4937760" y="2761488"/>
            <a:ext cx="324612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RSL = [ (T_shelf - t_elapsed) / T_shelf ] × 100%</a:t>
            </a:r>
            <a:endParaRPr lang="en-US" sz="750" dirty="0"/>
          </a:p>
        </p:txBody>
      </p:sp>
      <p:sp>
        <p:nvSpPr>
          <p:cNvPr id="36" name="Shape 34"/>
          <p:cNvSpPr/>
          <p:nvPr/>
        </p:nvSpPr>
        <p:spPr>
          <a:xfrm>
            <a:off x="4846320" y="3054096"/>
            <a:ext cx="3429000" cy="438912"/>
          </a:xfrm>
          <a:prstGeom prst="roundRect">
            <a:avLst>
              <a:gd name="adj" fmla="val 10417"/>
            </a:avLst>
          </a:prstGeom>
          <a:solidFill>
            <a:srgbClr val="F8FAFC"/>
          </a:solidFill>
          <a:ln w="12700">
            <a:solidFill>
              <a:srgbClr val="E2E8F0"/>
            </a:solidFill>
            <a:prstDash val="solid"/>
          </a:ln>
        </p:spPr>
      </p:sp>
      <p:sp>
        <p:nvSpPr>
          <p:cNvPr id="37" name="Text 35"/>
          <p:cNvSpPr/>
          <p:nvPr/>
        </p:nvSpPr>
        <p:spPr>
          <a:xfrm>
            <a:off x="4937760" y="3090672"/>
            <a:ext cx="3246120" cy="182880"/>
          </a:xfrm>
          <a:prstGeom prst="rect">
            <a:avLst/>
          </a:prstGeom>
          <a:noFill/>
          <a:ln/>
        </p:spPr>
        <p:txBody>
          <a:bodyPr wrap="square" rtlCol="0" anchor="ctr"/>
          <a:lstStyle/>
          <a:p>
            <a:pPr indent="0" marL="0">
              <a:buNone/>
            </a:pPr>
            <a:r>
              <a:rPr lang="en-US" sz="880" b="1" dirty="0">
                <a:solidFill>
                  <a:srgbClr val="0F172A"/>
                </a:solidFill>
                <a:latin typeface="Segoe UI" pitchFamily="34" charset="0"/>
                <a:ea typeface="Segoe UI" pitchFamily="34" charset="-122"/>
                <a:cs typeface="Segoe UI" pitchFamily="34" charset="-120"/>
              </a:rPr>
              <a:t>3. Risk Classification</a:t>
            </a:r>
            <a:endParaRPr lang="en-US" sz="880" dirty="0"/>
          </a:p>
        </p:txBody>
      </p:sp>
      <p:sp>
        <p:nvSpPr>
          <p:cNvPr id="38" name="Text 36"/>
          <p:cNvSpPr/>
          <p:nvPr/>
        </p:nvSpPr>
        <p:spPr>
          <a:xfrm>
            <a:off x="4937760" y="3291840"/>
            <a:ext cx="324612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Fresh (&gt; 50%), Attention (25–50%), Critical (&lt; 25%)</a:t>
            </a:r>
            <a:endParaRPr lang="en-US" sz="750" dirty="0"/>
          </a:p>
        </p:txBody>
      </p:sp>
      <p:sp>
        <p:nvSpPr>
          <p:cNvPr id="39" name="Shape 37"/>
          <p:cNvSpPr/>
          <p:nvPr/>
        </p:nvSpPr>
        <p:spPr>
          <a:xfrm>
            <a:off x="4846320" y="3584448"/>
            <a:ext cx="3429000" cy="438912"/>
          </a:xfrm>
          <a:prstGeom prst="roundRect">
            <a:avLst>
              <a:gd name="adj" fmla="val 10417"/>
            </a:avLst>
          </a:prstGeom>
          <a:solidFill>
            <a:srgbClr val="F8FAFC"/>
          </a:solidFill>
          <a:ln w="12700">
            <a:solidFill>
              <a:srgbClr val="E2E8F0"/>
            </a:solidFill>
            <a:prstDash val="solid"/>
          </a:ln>
        </p:spPr>
      </p:sp>
      <p:sp>
        <p:nvSpPr>
          <p:cNvPr id="40" name="Text 38"/>
          <p:cNvSpPr/>
          <p:nvPr/>
        </p:nvSpPr>
        <p:spPr>
          <a:xfrm>
            <a:off x="4937760" y="3621024"/>
            <a:ext cx="3246120" cy="182880"/>
          </a:xfrm>
          <a:prstGeom prst="rect">
            <a:avLst/>
          </a:prstGeom>
          <a:noFill/>
          <a:ln/>
        </p:spPr>
        <p:txBody>
          <a:bodyPr wrap="square" rtlCol="0" anchor="ctr"/>
          <a:lstStyle/>
          <a:p>
            <a:pPr indent="0" marL="0">
              <a:buNone/>
            </a:pPr>
            <a:r>
              <a:rPr lang="en-US" sz="880" b="1" dirty="0">
                <a:solidFill>
                  <a:srgbClr val="0F172A"/>
                </a:solidFill>
                <a:latin typeface="Segoe UI" pitchFamily="34" charset="0"/>
                <a:ea typeface="Segoe UI" pitchFamily="34" charset="-122"/>
                <a:cs typeface="Segoe UI" pitchFamily="34" charset="-120"/>
              </a:rPr>
              <a:t>4. Prescriptive Action Trigger</a:t>
            </a:r>
            <a:endParaRPr lang="en-US" sz="880" dirty="0"/>
          </a:p>
        </p:txBody>
      </p:sp>
      <p:sp>
        <p:nvSpPr>
          <p:cNvPr id="41" name="Text 39"/>
          <p:cNvSpPr/>
          <p:nvPr/>
        </p:nvSpPr>
        <p:spPr>
          <a:xfrm>
            <a:off x="4937760" y="3822192"/>
            <a:ext cx="3246120" cy="164592"/>
          </a:xfrm>
          <a:prstGeom prst="rect">
            <a:avLst/>
          </a:prstGeom>
          <a:noFill/>
          <a:ln/>
        </p:spPr>
        <p:txBody>
          <a:bodyPr wrap="square" rtlCol="0" anchor="ctr"/>
          <a:lstStyle/>
          <a:p>
            <a:pPr indent="0" marL="0">
              <a:buNone/>
            </a:pPr>
            <a:r>
              <a:rPr lang="en-US" sz="750" dirty="0">
                <a:solidFill>
                  <a:srgbClr val="64748B"/>
                </a:solidFill>
                <a:latin typeface="Segoe UI" pitchFamily="34" charset="0"/>
                <a:ea typeface="Segoe UI" pitchFamily="34" charset="-122"/>
                <a:cs typeface="Segoe UI" pitchFamily="34" charset="-120"/>
              </a:rPr>
              <a:t>Dynamic markdown &amp; expedited pickup dispatch</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DECISION ENGINE 4</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13/15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Farm-Gate Route &amp; Pickup Optimization</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Heuristic multi-stop pickup scheduling considering vehicle payload, distance, and perishability</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481328"/>
            <a:ext cx="1417320" cy="822960"/>
          </a:xfrm>
          <a:prstGeom prst="roundRect">
            <a:avLst>
              <a:gd name="adj" fmla="val 6667"/>
            </a:avLst>
          </a:prstGeom>
          <a:solidFill>
            <a:srgbClr val="FFFFFF"/>
          </a:solidFill>
          <a:ln w="12700">
            <a:solidFill>
              <a:srgbClr val="E2E8F0"/>
            </a:solidFill>
            <a:prstDash val="solid"/>
          </a:ln>
        </p:spPr>
      </p:sp>
      <p:sp>
        <p:nvSpPr>
          <p:cNvPr id="13" name="Text 11"/>
          <p:cNvSpPr/>
          <p:nvPr/>
        </p:nvSpPr>
        <p:spPr>
          <a:xfrm>
            <a:off x="777240" y="1572768"/>
            <a:ext cx="1325880" cy="219456"/>
          </a:xfrm>
          <a:prstGeom prst="rect">
            <a:avLst/>
          </a:prstGeom>
          <a:noFill/>
          <a:ln/>
        </p:spPr>
        <p:txBody>
          <a:bodyPr wrap="square" rtlCol="0" anchor="ctr"/>
          <a:lstStyle/>
          <a:p>
            <a:pPr algn="ctr" indent="0" marL="0">
              <a:buNone/>
            </a:pPr>
            <a:r>
              <a:rPr lang="en-US" sz="850" b="1" dirty="0">
                <a:solidFill>
                  <a:srgbClr val="0D6938"/>
                </a:solidFill>
                <a:latin typeface="Segoe UI" pitchFamily="34" charset="0"/>
                <a:ea typeface="Segoe UI" pitchFamily="34" charset="-122"/>
                <a:cs typeface="Segoe UI" pitchFamily="34" charset="-120"/>
              </a:rPr>
              <a:t>1. Open Pickups</a:t>
            </a:r>
            <a:endParaRPr lang="en-US" sz="850" dirty="0"/>
          </a:p>
        </p:txBody>
      </p:sp>
      <p:sp>
        <p:nvSpPr>
          <p:cNvPr id="14" name="Text 12"/>
          <p:cNvSpPr/>
          <p:nvPr/>
        </p:nvSpPr>
        <p:spPr>
          <a:xfrm>
            <a:off x="777240" y="1847088"/>
            <a:ext cx="1325880" cy="201168"/>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Ready orders pooled</a:t>
            </a:r>
            <a:endParaRPr lang="en-US" sz="750" dirty="0"/>
          </a:p>
        </p:txBody>
      </p:sp>
      <p:sp>
        <p:nvSpPr>
          <p:cNvPr id="15" name="Shape 13"/>
          <p:cNvSpPr/>
          <p:nvPr/>
        </p:nvSpPr>
        <p:spPr>
          <a:xfrm>
            <a:off x="2304288" y="1481328"/>
            <a:ext cx="1417320" cy="822960"/>
          </a:xfrm>
          <a:prstGeom prst="roundRect">
            <a:avLst>
              <a:gd name="adj" fmla="val 6667"/>
            </a:avLst>
          </a:prstGeom>
          <a:solidFill>
            <a:srgbClr val="FFFFFF"/>
          </a:solidFill>
          <a:ln w="12700">
            <a:solidFill>
              <a:srgbClr val="E2E8F0"/>
            </a:solidFill>
            <a:prstDash val="solid"/>
          </a:ln>
        </p:spPr>
      </p:sp>
      <p:sp>
        <p:nvSpPr>
          <p:cNvPr id="16" name="Text 14"/>
          <p:cNvSpPr/>
          <p:nvPr/>
        </p:nvSpPr>
        <p:spPr>
          <a:xfrm>
            <a:off x="2350008" y="1572768"/>
            <a:ext cx="1325880" cy="219456"/>
          </a:xfrm>
          <a:prstGeom prst="rect">
            <a:avLst/>
          </a:prstGeom>
          <a:noFill/>
          <a:ln/>
        </p:spPr>
        <p:txBody>
          <a:bodyPr wrap="square" rtlCol="0" anchor="ctr"/>
          <a:lstStyle/>
          <a:p>
            <a:pPr algn="ctr" indent="0" marL="0">
              <a:buNone/>
            </a:pPr>
            <a:r>
              <a:rPr lang="en-US" sz="850" b="1" dirty="0">
                <a:solidFill>
                  <a:srgbClr val="0D6938"/>
                </a:solidFill>
                <a:latin typeface="Segoe UI" pitchFamily="34" charset="0"/>
                <a:ea typeface="Segoe UI" pitchFamily="34" charset="-122"/>
                <a:cs typeface="Segoe UI" pitchFamily="34" charset="-120"/>
              </a:rPr>
              <a:t>2. Capacity Check</a:t>
            </a:r>
            <a:endParaRPr lang="en-US" sz="850" dirty="0"/>
          </a:p>
        </p:txBody>
      </p:sp>
      <p:sp>
        <p:nvSpPr>
          <p:cNvPr id="17" name="Text 15"/>
          <p:cNvSpPr/>
          <p:nvPr/>
        </p:nvSpPr>
        <p:spPr>
          <a:xfrm>
            <a:off x="2350008" y="1847088"/>
            <a:ext cx="1325880" cy="201168"/>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Truck payload limit</a:t>
            </a:r>
            <a:endParaRPr lang="en-US" sz="750" dirty="0"/>
          </a:p>
        </p:txBody>
      </p:sp>
      <p:sp>
        <p:nvSpPr>
          <p:cNvPr id="18" name="Shape 16"/>
          <p:cNvSpPr/>
          <p:nvPr/>
        </p:nvSpPr>
        <p:spPr>
          <a:xfrm>
            <a:off x="3877056" y="1481328"/>
            <a:ext cx="1417320" cy="822960"/>
          </a:xfrm>
          <a:prstGeom prst="roundRect">
            <a:avLst>
              <a:gd name="adj" fmla="val 6667"/>
            </a:avLst>
          </a:prstGeom>
          <a:solidFill>
            <a:srgbClr val="FFFFFF"/>
          </a:solidFill>
          <a:ln w="12700">
            <a:solidFill>
              <a:srgbClr val="E2E8F0"/>
            </a:solidFill>
            <a:prstDash val="solid"/>
          </a:ln>
        </p:spPr>
      </p:sp>
      <p:sp>
        <p:nvSpPr>
          <p:cNvPr id="19" name="Text 17"/>
          <p:cNvSpPr/>
          <p:nvPr/>
        </p:nvSpPr>
        <p:spPr>
          <a:xfrm>
            <a:off x="3922776" y="1572768"/>
            <a:ext cx="1325880" cy="219456"/>
          </a:xfrm>
          <a:prstGeom prst="rect">
            <a:avLst/>
          </a:prstGeom>
          <a:noFill/>
          <a:ln/>
        </p:spPr>
        <p:txBody>
          <a:bodyPr wrap="square" rtlCol="0" anchor="ctr"/>
          <a:lstStyle/>
          <a:p>
            <a:pPr algn="ctr" indent="0" marL="0">
              <a:buNone/>
            </a:pPr>
            <a:r>
              <a:rPr lang="en-US" sz="850" b="1" dirty="0">
                <a:solidFill>
                  <a:srgbClr val="0D6938"/>
                </a:solidFill>
                <a:latin typeface="Segoe UI" pitchFamily="34" charset="0"/>
                <a:ea typeface="Segoe UI" pitchFamily="34" charset="-122"/>
                <a:cs typeface="Segoe UI" pitchFamily="34" charset="-120"/>
              </a:rPr>
              <a:t>3. Urgency Weighting</a:t>
            </a:r>
            <a:endParaRPr lang="en-US" sz="850" dirty="0"/>
          </a:p>
        </p:txBody>
      </p:sp>
      <p:sp>
        <p:nvSpPr>
          <p:cNvPr id="20" name="Text 18"/>
          <p:cNvSpPr/>
          <p:nvPr/>
        </p:nvSpPr>
        <p:spPr>
          <a:xfrm>
            <a:off x="3922776" y="1847088"/>
            <a:ext cx="1325880" cy="201168"/>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Perishable crops first</a:t>
            </a:r>
            <a:endParaRPr lang="en-US" sz="750" dirty="0"/>
          </a:p>
        </p:txBody>
      </p:sp>
      <p:sp>
        <p:nvSpPr>
          <p:cNvPr id="21" name="Shape 19"/>
          <p:cNvSpPr/>
          <p:nvPr/>
        </p:nvSpPr>
        <p:spPr>
          <a:xfrm>
            <a:off x="5449824" y="1481328"/>
            <a:ext cx="1417320" cy="822960"/>
          </a:xfrm>
          <a:prstGeom prst="roundRect">
            <a:avLst>
              <a:gd name="adj" fmla="val 6667"/>
            </a:avLst>
          </a:prstGeom>
          <a:solidFill>
            <a:srgbClr val="FFFFFF"/>
          </a:solidFill>
          <a:ln w="12700">
            <a:solidFill>
              <a:srgbClr val="E2E8F0"/>
            </a:solidFill>
            <a:prstDash val="solid"/>
          </a:ln>
        </p:spPr>
      </p:sp>
      <p:sp>
        <p:nvSpPr>
          <p:cNvPr id="22" name="Text 20"/>
          <p:cNvSpPr/>
          <p:nvPr/>
        </p:nvSpPr>
        <p:spPr>
          <a:xfrm>
            <a:off x="5495544" y="1572768"/>
            <a:ext cx="1325880" cy="219456"/>
          </a:xfrm>
          <a:prstGeom prst="rect">
            <a:avLst/>
          </a:prstGeom>
          <a:noFill/>
          <a:ln/>
        </p:spPr>
        <p:txBody>
          <a:bodyPr wrap="square" rtlCol="0" anchor="ctr"/>
          <a:lstStyle/>
          <a:p>
            <a:pPr algn="ctr" indent="0" marL="0">
              <a:buNone/>
            </a:pPr>
            <a:r>
              <a:rPr lang="en-US" sz="850" b="1" dirty="0">
                <a:solidFill>
                  <a:srgbClr val="0D6938"/>
                </a:solidFill>
                <a:latin typeface="Segoe UI" pitchFamily="34" charset="0"/>
                <a:ea typeface="Segoe UI" pitchFamily="34" charset="-122"/>
                <a:cs typeface="Segoe UI" pitchFamily="34" charset="-120"/>
              </a:rPr>
              <a:t>4. Optimized Stops</a:t>
            </a:r>
            <a:endParaRPr lang="en-US" sz="850" dirty="0"/>
          </a:p>
        </p:txBody>
      </p:sp>
      <p:sp>
        <p:nvSpPr>
          <p:cNvPr id="23" name="Text 21"/>
          <p:cNvSpPr/>
          <p:nvPr/>
        </p:nvSpPr>
        <p:spPr>
          <a:xfrm>
            <a:off x="5495544" y="1847088"/>
            <a:ext cx="1325880" cy="201168"/>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Shortest transit path</a:t>
            </a:r>
            <a:endParaRPr lang="en-US" sz="750" dirty="0"/>
          </a:p>
        </p:txBody>
      </p:sp>
      <p:sp>
        <p:nvSpPr>
          <p:cNvPr id="24" name="Shape 22"/>
          <p:cNvSpPr/>
          <p:nvPr/>
        </p:nvSpPr>
        <p:spPr>
          <a:xfrm>
            <a:off x="7022592" y="1481328"/>
            <a:ext cx="1417320" cy="822960"/>
          </a:xfrm>
          <a:prstGeom prst="roundRect">
            <a:avLst>
              <a:gd name="adj" fmla="val 6667"/>
            </a:avLst>
          </a:prstGeom>
          <a:solidFill>
            <a:srgbClr val="FFFFFF"/>
          </a:solidFill>
          <a:ln w="12700">
            <a:solidFill>
              <a:srgbClr val="E2E8F0"/>
            </a:solidFill>
            <a:prstDash val="solid"/>
          </a:ln>
        </p:spPr>
      </p:sp>
      <p:sp>
        <p:nvSpPr>
          <p:cNvPr id="25" name="Text 23"/>
          <p:cNvSpPr/>
          <p:nvPr/>
        </p:nvSpPr>
        <p:spPr>
          <a:xfrm>
            <a:off x="7068312" y="1572768"/>
            <a:ext cx="1325880" cy="219456"/>
          </a:xfrm>
          <a:prstGeom prst="rect">
            <a:avLst/>
          </a:prstGeom>
          <a:noFill/>
          <a:ln/>
        </p:spPr>
        <p:txBody>
          <a:bodyPr wrap="square" rtlCol="0" anchor="ctr"/>
          <a:lstStyle/>
          <a:p>
            <a:pPr algn="ctr" indent="0" marL="0">
              <a:buNone/>
            </a:pPr>
            <a:r>
              <a:rPr lang="en-US" sz="850" b="1" dirty="0">
                <a:solidFill>
                  <a:srgbClr val="0D6938"/>
                </a:solidFill>
                <a:latin typeface="Segoe UI" pitchFamily="34" charset="0"/>
                <a:ea typeface="Segoe UI" pitchFamily="34" charset="-122"/>
                <a:cs typeface="Segoe UI" pitchFamily="34" charset="-120"/>
              </a:rPr>
              <a:t>5. Hub Delivery</a:t>
            </a:r>
            <a:endParaRPr lang="en-US" sz="850" dirty="0"/>
          </a:p>
        </p:txBody>
      </p:sp>
      <p:sp>
        <p:nvSpPr>
          <p:cNvPr id="26" name="Text 24"/>
          <p:cNvSpPr/>
          <p:nvPr/>
        </p:nvSpPr>
        <p:spPr>
          <a:xfrm>
            <a:off x="7068312" y="1847088"/>
            <a:ext cx="1325880" cy="201168"/>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Single consolidated trip</a:t>
            </a:r>
            <a:endParaRPr lang="en-US" sz="750" dirty="0"/>
          </a:p>
        </p:txBody>
      </p:sp>
      <p:sp>
        <p:nvSpPr>
          <p:cNvPr id="27" name="Shape 25"/>
          <p:cNvSpPr/>
          <p:nvPr/>
        </p:nvSpPr>
        <p:spPr>
          <a:xfrm>
            <a:off x="731520" y="2450592"/>
            <a:ext cx="7680960" cy="1417320"/>
          </a:xfrm>
          <a:prstGeom prst="roundRect">
            <a:avLst>
              <a:gd name="adj" fmla="val 5161"/>
            </a:avLst>
          </a:prstGeom>
          <a:solidFill>
            <a:srgbClr val="FFFFFF"/>
          </a:solidFill>
          <a:ln w="12700">
            <a:solidFill>
              <a:srgbClr val="E2E8F0"/>
            </a:solidFill>
            <a:prstDash val="solid"/>
          </a:ln>
        </p:spPr>
      </p:sp>
      <p:sp>
        <p:nvSpPr>
          <p:cNvPr id="28" name="Text 26"/>
          <p:cNvSpPr/>
          <p:nvPr/>
        </p:nvSpPr>
        <p:spPr>
          <a:xfrm>
            <a:off x="914400" y="2560320"/>
            <a:ext cx="7315200" cy="1234440"/>
          </a:xfrm>
          <a:prstGeom prst="rect">
            <a:avLst/>
          </a:prstGeom>
          <a:noFill/>
          <a:ln/>
        </p:spPr>
        <p:txBody>
          <a:bodyPr wrap="square" rtlCol="0" anchor="ctr"/>
          <a:lstStyle/>
          <a:p>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Multi-Stop Pickup Planning: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Combines multiple small farm orders along the same transit corridor into a single consolidated trip, eliminating deadhead miles.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Vehicle Capacity Constraint: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Ensures total cargo load across stops does not exceed rated vehicle payload capacity (∑ Q_i ≤ C_truck).
</a:t>
            </a:r>
            <a:pPr indent="0" marL="0">
              <a:lnSpc>
                <a:spcPct val="115000"/>
              </a:lnSpc>
              <a:buNone/>
            </a:pPr>
            <a:r>
              <a:rPr lang="en-US" sz="980" b="1" dirty="0">
                <a:solidFill>
                  <a:srgbClr val="0F172A"/>
                </a:solidFill>
                <a:latin typeface="Segoe UI" pitchFamily="34" charset="0"/>
                <a:ea typeface="Segoe UI" pitchFamily="34" charset="-122"/>
                <a:cs typeface="Segoe UI" pitchFamily="34" charset="-120"/>
              </a:rPr>
              <a:t>• Perishability Urgency Penalty: </a:t>
            </a:r>
            <a:pPr indent="0" marL="0">
              <a:lnSpc>
                <a:spcPct val="115000"/>
              </a:lnSpc>
              <a:buNone/>
            </a:pPr>
            <a:r>
              <a:rPr lang="en-US" sz="980" dirty="0">
                <a:solidFill>
                  <a:srgbClr val="334155"/>
                </a:solidFill>
                <a:latin typeface="Segoe UI" pitchFamily="34" charset="0"/>
                <a:ea typeface="Segoe UI" pitchFamily="34" charset="-122"/>
                <a:cs typeface="Segoe UI" pitchFamily="34" charset="-120"/>
              </a:rPr>
              <a:t>Batches flagged as "Critical" by the Shelf-Life Agent are scheduled for earlier pickup to avoid transit spoilage.</a:t>
            </a:r>
            <a:endParaRPr lang="en-US" sz="980" dirty="0"/>
          </a:p>
        </p:txBody>
      </p:sp>
      <p:sp>
        <p:nvSpPr>
          <p:cNvPr id="29" name="Shape 27"/>
          <p:cNvSpPr/>
          <p:nvPr/>
        </p:nvSpPr>
        <p:spPr>
          <a:xfrm>
            <a:off x="731520" y="4005072"/>
            <a:ext cx="7680960" cy="621792"/>
          </a:xfrm>
          <a:prstGeom prst="roundRect">
            <a:avLst>
              <a:gd name="adj" fmla="val 8824"/>
            </a:avLst>
          </a:prstGeom>
          <a:solidFill>
            <a:srgbClr val="F0FDF4"/>
          </a:solidFill>
          <a:ln w="12700">
            <a:solidFill>
              <a:srgbClr val="A7F3D0"/>
            </a:solidFill>
            <a:prstDash val="solid"/>
          </a:ln>
        </p:spPr>
      </p:sp>
      <p:sp>
        <p:nvSpPr>
          <p:cNvPr id="30" name="Text 28"/>
          <p:cNvSpPr/>
          <p:nvPr/>
        </p:nvSpPr>
        <p:spPr>
          <a:xfrm>
            <a:off x="822960" y="4023360"/>
            <a:ext cx="7498080" cy="585216"/>
          </a:xfrm>
          <a:prstGeom prst="rect">
            <a:avLst/>
          </a:prstGeom>
          <a:noFill/>
          <a:ln/>
        </p:spPr>
        <p:txBody>
          <a:bodyPr wrap="square" rtlCol="0" anchor="ctr"/>
          <a:lstStyle/>
          <a:p>
            <a:pPr algn="ctr" indent="0" marL="0">
              <a:buNone/>
            </a:pPr>
            <a:r>
              <a:rPr lang="en-US" sz="900" b="1" dirty="0">
                <a:solidFill>
                  <a:srgbClr val="064E2B"/>
                </a:solidFill>
                <a:latin typeface="Segoe UI" pitchFamily="34" charset="0"/>
                <a:ea typeface="Segoe UI" pitchFamily="34" charset="-122"/>
                <a:cs typeface="Segoe UI" pitchFamily="34" charset="-120"/>
              </a:rPr>
              <a:t>Multi-Stop Trip Manifest Example: Transporter Depot ➔ Farm Stop A (800 kg Tomatoes, Critical Urgency) ➔ Farm Stop B (1,200 kg Onions) ➔ Central Buyer Terminal (2,000 kg Consignment, 84 km)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WORKFLOW &amp; PROVENANCE</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14/15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End-to-End Business Workflow &amp; Traceability Lifecycle</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Unified data flow connecting crops, bookings, orders, pickups, payments, and audit logs</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481328"/>
            <a:ext cx="868680" cy="914400"/>
          </a:xfrm>
          <a:prstGeom prst="roundRect">
            <a:avLst>
              <a:gd name="adj" fmla="val 6316"/>
            </a:avLst>
          </a:prstGeom>
          <a:solidFill>
            <a:srgbClr val="FFFFFF"/>
          </a:solidFill>
          <a:ln w="12700">
            <a:solidFill>
              <a:srgbClr val="E2E8F0"/>
            </a:solidFill>
            <a:prstDash val="solid"/>
          </a:ln>
        </p:spPr>
      </p:sp>
      <p:sp>
        <p:nvSpPr>
          <p:cNvPr id="13" name="Shape 11"/>
          <p:cNvSpPr/>
          <p:nvPr/>
        </p:nvSpPr>
        <p:spPr>
          <a:xfrm>
            <a:off x="1051560" y="1554480"/>
            <a:ext cx="228600" cy="228600"/>
          </a:xfrm>
          <a:prstGeom prst="oval">
            <a:avLst/>
          </a:prstGeom>
          <a:solidFill>
            <a:srgbClr val="DCFCE7"/>
          </a:solidFill>
          <a:ln w="12700">
            <a:solidFill>
              <a:srgbClr val="0D6938"/>
            </a:solidFill>
            <a:prstDash val="solid"/>
          </a:ln>
        </p:spPr>
      </p:sp>
      <p:sp>
        <p:nvSpPr>
          <p:cNvPr id="14" name="Text 12"/>
          <p:cNvSpPr/>
          <p:nvPr/>
        </p:nvSpPr>
        <p:spPr>
          <a:xfrm>
            <a:off x="1051560" y="1554480"/>
            <a:ext cx="228600" cy="228600"/>
          </a:xfrm>
          <a:prstGeom prst="rect">
            <a:avLst/>
          </a:prstGeom>
          <a:noFill/>
          <a:ln/>
        </p:spPr>
        <p:txBody>
          <a:bodyPr wrap="square" rtlCol="0" anchor="ctr"/>
          <a:lstStyle/>
          <a:p>
            <a:pPr algn="ctr" indent="0" marL="0">
              <a:buNone/>
            </a:pPr>
            <a:r>
              <a:rPr lang="en-US" sz="850" b="1" dirty="0">
                <a:solidFill>
                  <a:srgbClr val="064E2B"/>
                </a:solidFill>
                <a:latin typeface="Segoe UI" pitchFamily="34" charset="0"/>
                <a:ea typeface="Segoe UI" pitchFamily="34" charset="-122"/>
                <a:cs typeface="Segoe UI" pitchFamily="34" charset="-120"/>
              </a:rPr>
              <a:t>1</a:t>
            </a:r>
            <a:endParaRPr lang="en-US" sz="850" dirty="0"/>
          </a:p>
        </p:txBody>
      </p:sp>
      <p:sp>
        <p:nvSpPr>
          <p:cNvPr id="15" name="Text 13"/>
          <p:cNvSpPr/>
          <p:nvPr/>
        </p:nvSpPr>
        <p:spPr>
          <a:xfrm>
            <a:off x="777240" y="1810512"/>
            <a:ext cx="777240" cy="502920"/>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Crop</a:t>
            </a:r>
            <a:endParaRPr lang="en-US" sz="800" dirty="0"/>
          </a:p>
          <a:p>
            <a:pPr algn="ctr" indent="0" marL="0">
              <a:buNone/>
            </a:pPr>
            <a:r>
              <a:rPr lang="en-US" sz="800" b="1" dirty="0">
                <a:solidFill>
                  <a:srgbClr val="0F172A"/>
                </a:solidFill>
                <a:latin typeface="Segoe UI" pitchFamily="34" charset="0"/>
                <a:ea typeface="Segoe UI" pitchFamily="34" charset="-122"/>
                <a:cs typeface="Segoe UI" pitchFamily="34" charset="-120"/>
              </a:rPr>
              <a:t>Listed</a:t>
            </a:r>
            <a:endParaRPr lang="en-US" sz="800" dirty="0"/>
          </a:p>
        </p:txBody>
      </p:sp>
      <p:sp>
        <p:nvSpPr>
          <p:cNvPr id="16" name="Shape 14"/>
          <p:cNvSpPr/>
          <p:nvPr/>
        </p:nvSpPr>
        <p:spPr>
          <a:xfrm>
            <a:off x="1709928" y="1481328"/>
            <a:ext cx="868680" cy="914400"/>
          </a:xfrm>
          <a:prstGeom prst="roundRect">
            <a:avLst>
              <a:gd name="adj" fmla="val 6316"/>
            </a:avLst>
          </a:prstGeom>
          <a:solidFill>
            <a:srgbClr val="FFFFFF"/>
          </a:solidFill>
          <a:ln w="12700">
            <a:solidFill>
              <a:srgbClr val="E2E8F0"/>
            </a:solidFill>
            <a:prstDash val="solid"/>
          </a:ln>
        </p:spPr>
      </p:sp>
      <p:sp>
        <p:nvSpPr>
          <p:cNvPr id="17" name="Shape 15"/>
          <p:cNvSpPr/>
          <p:nvPr/>
        </p:nvSpPr>
        <p:spPr>
          <a:xfrm>
            <a:off x="2029968" y="1554480"/>
            <a:ext cx="228600" cy="228600"/>
          </a:xfrm>
          <a:prstGeom prst="oval">
            <a:avLst/>
          </a:prstGeom>
          <a:solidFill>
            <a:srgbClr val="DCFCE7"/>
          </a:solidFill>
          <a:ln w="12700">
            <a:solidFill>
              <a:srgbClr val="0D6938"/>
            </a:solidFill>
            <a:prstDash val="solid"/>
          </a:ln>
        </p:spPr>
      </p:sp>
      <p:sp>
        <p:nvSpPr>
          <p:cNvPr id="18" name="Text 16"/>
          <p:cNvSpPr/>
          <p:nvPr/>
        </p:nvSpPr>
        <p:spPr>
          <a:xfrm>
            <a:off x="2029968" y="1554480"/>
            <a:ext cx="228600" cy="228600"/>
          </a:xfrm>
          <a:prstGeom prst="rect">
            <a:avLst/>
          </a:prstGeom>
          <a:noFill/>
          <a:ln/>
        </p:spPr>
        <p:txBody>
          <a:bodyPr wrap="square" rtlCol="0" anchor="ctr"/>
          <a:lstStyle/>
          <a:p>
            <a:pPr algn="ctr" indent="0" marL="0">
              <a:buNone/>
            </a:pPr>
            <a:r>
              <a:rPr lang="en-US" sz="850" b="1" dirty="0">
                <a:solidFill>
                  <a:srgbClr val="064E2B"/>
                </a:solidFill>
                <a:latin typeface="Segoe UI" pitchFamily="34" charset="0"/>
                <a:ea typeface="Segoe UI" pitchFamily="34" charset="-122"/>
                <a:cs typeface="Segoe UI" pitchFamily="34" charset="-120"/>
              </a:rPr>
              <a:t>2</a:t>
            </a:r>
            <a:endParaRPr lang="en-US" sz="850" dirty="0"/>
          </a:p>
        </p:txBody>
      </p:sp>
      <p:sp>
        <p:nvSpPr>
          <p:cNvPr id="19" name="Text 17"/>
          <p:cNvSpPr/>
          <p:nvPr/>
        </p:nvSpPr>
        <p:spPr>
          <a:xfrm>
            <a:off x="1755648" y="1810512"/>
            <a:ext cx="777240" cy="502920"/>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Booking</a:t>
            </a:r>
            <a:endParaRPr lang="en-US" sz="800" dirty="0"/>
          </a:p>
          <a:p>
            <a:pPr algn="ctr" indent="0" marL="0">
              <a:buNone/>
            </a:pPr>
            <a:r>
              <a:rPr lang="en-US" sz="800" b="1" dirty="0">
                <a:solidFill>
                  <a:srgbClr val="0F172A"/>
                </a:solidFill>
                <a:latin typeface="Segoe UI" pitchFamily="34" charset="0"/>
                <a:ea typeface="Segoe UI" pitchFamily="34" charset="-122"/>
                <a:cs typeface="Segoe UI" pitchFamily="34" charset="-120"/>
              </a:rPr>
              <a:t>Placed</a:t>
            </a:r>
            <a:endParaRPr lang="en-US" sz="800" dirty="0"/>
          </a:p>
        </p:txBody>
      </p:sp>
      <p:sp>
        <p:nvSpPr>
          <p:cNvPr id="20" name="Shape 18"/>
          <p:cNvSpPr/>
          <p:nvPr/>
        </p:nvSpPr>
        <p:spPr>
          <a:xfrm>
            <a:off x="2688336" y="1481328"/>
            <a:ext cx="868680" cy="914400"/>
          </a:xfrm>
          <a:prstGeom prst="roundRect">
            <a:avLst>
              <a:gd name="adj" fmla="val 6316"/>
            </a:avLst>
          </a:prstGeom>
          <a:solidFill>
            <a:srgbClr val="FFFFFF"/>
          </a:solidFill>
          <a:ln w="12700">
            <a:solidFill>
              <a:srgbClr val="E2E8F0"/>
            </a:solidFill>
            <a:prstDash val="solid"/>
          </a:ln>
        </p:spPr>
      </p:sp>
      <p:sp>
        <p:nvSpPr>
          <p:cNvPr id="21" name="Shape 19"/>
          <p:cNvSpPr/>
          <p:nvPr/>
        </p:nvSpPr>
        <p:spPr>
          <a:xfrm>
            <a:off x="3008376" y="1554480"/>
            <a:ext cx="228600" cy="228600"/>
          </a:xfrm>
          <a:prstGeom prst="oval">
            <a:avLst/>
          </a:prstGeom>
          <a:solidFill>
            <a:srgbClr val="DCFCE7"/>
          </a:solidFill>
          <a:ln w="12700">
            <a:solidFill>
              <a:srgbClr val="0D6938"/>
            </a:solidFill>
            <a:prstDash val="solid"/>
          </a:ln>
        </p:spPr>
      </p:sp>
      <p:sp>
        <p:nvSpPr>
          <p:cNvPr id="22" name="Text 20"/>
          <p:cNvSpPr/>
          <p:nvPr/>
        </p:nvSpPr>
        <p:spPr>
          <a:xfrm>
            <a:off x="3008376" y="1554480"/>
            <a:ext cx="228600" cy="228600"/>
          </a:xfrm>
          <a:prstGeom prst="rect">
            <a:avLst/>
          </a:prstGeom>
          <a:noFill/>
          <a:ln/>
        </p:spPr>
        <p:txBody>
          <a:bodyPr wrap="square" rtlCol="0" anchor="ctr"/>
          <a:lstStyle/>
          <a:p>
            <a:pPr algn="ctr" indent="0" marL="0">
              <a:buNone/>
            </a:pPr>
            <a:r>
              <a:rPr lang="en-US" sz="850" b="1" dirty="0">
                <a:solidFill>
                  <a:srgbClr val="064E2B"/>
                </a:solidFill>
                <a:latin typeface="Segoe UI" pitchFamily="34" charset="0"/>
                <a:ea typeface="Segoe UI" pitchFamily="34" charset="-122"/>
                <a:cs typeface="Segoe UI" pitchFamily="34" charset="-120"/>
              </a:rPr>
              <a:t>3</a:t>
            </a:r>
            <a:endParaRPr lang="en-US" sz="850" dirty="0"/>
          </a:p>
        </p:txBody>
      </p:sp>
      <p:sp>
        <p:nvSpPr>
          <p:cNvPr id="23" name="Text 21"/>
          <p:cNvSpPr/>
          <p:nvPr/>
        </p:nvSpPr>
        <p:spPr>
          <a:xfrm>
            <a:off x="2734056" y="1810512"/>
            <a:ext cx="777240" cy="502920"/>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Farmer</a:t>
            </a:r>
            <a:endParaRPr lang="en-US" sz="800" dirty="0"/>
          </a:p>
          <a:p>
            <a:pPr algn="ctr" indent="0" marL="0">
              <a:buNone/>
            </a:pPr>
            <a:r>
              <a:rPr lang="en-US" sz="800" b="1" dirty="0">
                <a:solidFill>
                  <a:srgbClr val="0F172A"/>
                </a:solidFill>
                <a:latin typeface="Segoe UI" pitchFamily="34" charset="0"/>
                <a:ea typeface="Segoe UI" pitchFamily="34" charset="-122"/>
                <a:cs typeface="Segoe UI" pitchFamily="34" charset="-120"/>
              </a:rPr>
              <a:t>Accepts</a:t>
            </a:r>
            <a:endParaRPr lang="en-US" sz="800" dirty="0"/>
          </a:p>
        </p:txBody>
      </p:sp>
      <p:sp>
        <p:nvSpPr>
          <p:cNvPr id="24" name="Shape 22"/>
          <p:cNvSpPr/>
          <p:nvPr/>
        </p:nvSpPr>
        <p:spPr>
          <a:xfrm>
            <a:off x="3666744" y="1481328"/>
            <a:ext cx="868680" cy="914400"/>
          </a:xfrm>
          <a:prstGeom prst="roundRect">
            <a:avLst>
              <a:gd name="adj" fmla="val 6316"/>
            </a:avLst>
          </a:prstGeom>
          <a:solidFill>
            <a:srgbClr val="FFFFFF"/>
          </a:solidFill>
          <a:ln w="12700">
            <a:solidFill>
              <a:srgbClr val="E2E8F0"/>
            </a:solidFill>
            <a:prstDash val="solid"/>
          </a:ln>
        </p:spPr>
      </p:sp>
      <p:sp>
        <p:nvSpPr>
          <p:cNvPr id="25" name="Shape 23"/>
          <p:cNvSpPr/>
          <p:nvPr/>
        </p:nvSpPr>
        <p:spPr>
          <a:xfrm>
            <a:off x="3986784" y="1554480"/>
            <a:ext cx="228600" cy="228600"/>
          </a:xfrm>
          <a:prstGeom prst="oval">
            <a:avLst/>
          </a:prstGeom>
          <a:solidFill>
            <a:srgbClr val="DCFCE7"/>
          </a:solidFill>
          <a:ln w="12700">
            <a:solidFill>
              <a:srgbClr val="0D6938"/>
            </a:solidFill>
            <a:prstDash val="solid"/>
          </a:ln>
        </p:spPr>
      </p:sp>
      <p:sp>
        <p:nvSpPr>
          <p:cNvPr id="26" name="Text 24"/>
          <p:cNvSpPr/>
          <p:nvPr/>
        </p:nvSpPr>
        <p:spPr>
          <a:xfrm>
            <a:off x="3986784" y="1554480"/>
            <a:ext cx="228600" cy="228600"/>
          </a:xfrm>
          <a:prstGeom prst="rect">
            <a:avLst/>
          </a:prstGeom>
          <a:noFill/>
          <a:ln/>
        </p:spPr>
        <p:txBody>
          <a:bodyPr wrap="square" rtlCol="0" anchor="ctr"/>
          <a:lstStyle/>
          <a:p>
            <a:pPr algn="ctr" indent="0" marL="0">
              <a:buNone/>
            </a:pPr>
            <a:r>
              <a:rPr lang="en-US" sz="850" b="1" dirty="0">
                <a:solidFill>
                  <a:srgbClr val="064E2B"/>
                </a:solidFill>
                <a:latin typeface="Segoe UI" pitchFamily="34" charset="0"/>
                <a:ea typeface="Segoe UI" pitchFamily="34" charset="-122"/>
                <a:cs typeface="Segoe UI" pitchFamily="34" charset="-120"/>
              </a:rPr>
              <a:t>4</a:t>
            </a:r>
            <a:endParaRPr lang="en-US" sz="850" dirty="0"/>
          </a:p>
        </p:txBody>
      </p:sp>
      <p:sp>
        <p:nvSpPr>
          <p:cNvPr id="27" name="Text 25"/>
          <p:cNvSpPr/>
          <p:nvPr/>
        </p:nvSpPr>
        <p:spPr>
          <a:xfrm>
            <a:off x="3712464" y="1810512"/>
            <a:ext cx="777240" cy="502920"/>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Ready for</a:t>
            </a:r>
            <a:endParaRPr lang="en-US" sz="800" dirty="0"/>
          </a:p>
          <a:p>
            <a:pPr algn="ctr" indent="0" marL="0">
              <a:buNone/>
            </a:pPr>
            <a:r>
              <a:rPr lang="en-US" sz="800" b="1" dirty="0">
                <a:solidFill>
                  <a:srgbClr val="0F172A"/>
                </a:solidFill>
                <a:latin typeface="Segoe UI" pitchFamily="34" charset="0"/>
                <a:ea typeface="Segoe UI" pitchFamily="34" charset="-122"/>
                <a:cs typeface="Segoe UI" pitchFamily="34" charset="-120"/>
              </a:rPr>
              <a:t>Pickup</a:t>
            </a:r>
            <a:endParaRPr lang="en-US" sz="800" dirty="0"/>
          </a:p>
        </p:txBody>
      </p:sp>
      <p:sp>
        <p:nvSpPr>
          <p:cNvPr id="28" name="Shape 26"/>
          <p:cNvSpPr/>
          <p:nvPr/>
        </p:nvSpPr>
        <p:spPr>
          <a:xfrm>
            <a:off x="4645152" y="1481328"/>
            <a:ext cx="868680" cy="914400"/>
          </a:xfrm>
          <a:prstGeom prst="roundRect">
            <a:avLst>
              <a:gd name="adj" fmla="val 6316"/>
            </a:avLst>
          </a:prstGeom>
          <a:solidFill>
            <a:srgbClr val="FFFFFF"/>
          </a:solidFill>
          <a:ln w="12700">
            <a:solidFill>
              <a:srgbClr val="E2E8F0"/>
            </a:solidFill>
            <a:prstDash val="solid"/>
          </a:ln>
        </p:spPr>
      </p:sp>
      <p:sp>
        <p:nvSpPr>
          <p:cNvPr id="29" name="Shape 27"/>
          <p:cNvSpPr/>
          <p:nvPr/>
        </p:nvSpPr>
        <p:spPr>
          <a:xfrm>
            <a:off x="4965192" y="1554480"/>
            <a:ext cx="228600" cy="228600"/>
          </a:xfrm>
          <a:prstGeom prst="oval">
            <a:avLst/>
          </a:prstGeom>
          <a:solidFill>
            <a:srgbClr val="DCFCE7"/>
          </a:solidFill>
          <a:ln w="12700">
            <a:solidFill>
              <a:srgbClr val="0D6938"/>
            </a:solidFill>
            <a:prstDash val="solid"/>
          </a:ln>
        </p:spPr>
      </p:sp>
      <p:sp>
        <p:nvSpPr>
          <p:cNvPr id="30" name="Text 28"/>
          <p:cNvSpPr/>
          <p:nvPr/>
        </p:nvSpPr>
        <p:spPr>
          <a:xfrm>
            <a:off x="4965192" y="1554480"/>
            <a:ext cx="228600" cy="228600"/>
          </a:xfrm>
          <a:prstGeom prst="rect">
            <a:avLst/>
          </a:prstGeom>
          <a:noFill/>
          <a:ln/>
        </p:spPr>
        <p:txBody>
          <a:bodyPr wrap="square" rtlCol="0" anchor="ctr"/>
          <a:lstStyle/>
          <a:p>
            <a:pPr algn="ctr" indent="0" marL="0">
              <a:buNone/>
            </a:pPr>
            <a:r>
              <a:rPr lang="en-US" sz="850" b="1" dirty="0">
                <a:solidFill>
                  <a:srgbClr val="064E2B"/>
                </a:solidFill>
                <a:latin typeface="Segoe UI" pitchFamily="34" charset="0"/>
                <a:ea typeface="Segoe UI" pitchFamily="34" charset="-122"/>
                <a:cs typeface="Segoe UI" pitchFamily="34" charset="-120"/>
              </a:rPr>
              <a:t>5</a:t>
            </a:r>
            <a:endParaRPr lang="en-US" sz="850" dirty="0"/>
          </a:p>
        </p:txBody>
      </p:sp>
      <p:sp>
        <p:nvSpPr>
          <p:cNvPr id="31" name="Text 29"/>
          <p:cNvSpPr/>
          <p:nvPr/>
        </p:nvSpPr>
        <p:spPr>
          <a:xfrm>
            <a:off x="4690872" y="1810512"/>
            <a:ext cx="777240" cy="502920"/>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Transporter</a:t>
            </a:r>
            <a:endParaRPr lang="en-US" sz="800" dirty="0"/>
          </a:p>
          <a:p>
            <a:pPr algn="ctr" indent="0" marL="0">
              <a:buNone/>
            </a:pPr>
            <a:r>
              <a:rPr lang="en-US" sz="800" b="1" dirty="0">
                <a:solidFill>
                  <a:srgbClr val="0F172A"/>
                </a:solidFill>
                <a:latin typeface="Segoe UI" pitchFamily="34" charset="0"/>
                <a:ea typeface="Segoe UI" pitchFamily="34" charset="-122"/>
                <a:cs typeface="Segoe UI" pitchFamily="34" charset="-120"/>
              </a:rPr>
              <a:t>Accepts</a:t>
            </a:r>
            <a:endParaRPr lang="en-US" sz="800" dirty="0"/>
          </a:p>
        </p:txBody>
      </p:sp>
      <p:sp>
        <p:nvSpPr>
          <p:cNvPr id="32" name="Shape 30"/>
          <p:cNvSpPr/>
          <p:nvPr/>
        </p:nvSpPr>
        <p:spPr>
          <a:xfrm>
            <a:off x="5623560" y="1481328"/>
            <a:ext cx="868680" cy="914400"/>
          </a:xfrm>
          <a:prstGeom prst="roundRect">
            <a:avLst>
              <a:gd name="adj" fmla="val 6316"/>
            </a:avLst>
          </a:prstGeom>
          <a:solidFill>
            <a:srgbClr val="FFFFFF"/>
          </a:solidFill>
          <a:ln w="12700">
            <a:solidFill>
              <a:srgbClr val="E2E8F0"/>
            </a:solidFill>
            <a:prstDash val="solid"/>
          </a:ln>
        </p:spPr>
      </p:sp>
      <p:sp>
        <p:nvSpPr>
          <p:cNvPr id="33" name="Shape 31"/>
          <p:cNvSpPr/>
          <p:nvPr/>
        </p:nvSpPr>
        <p:spPr>
          <a:xfrm>
            <a:off x="5943600" y="1554480"/>
            <a:ext cx="228600" cy="228600"/>
          </a:xfrm>
          <a:prstGeom prst="oval">
            <a:avLst/>
          </a:prstGeom>
          <a:solidFill>
            <a:srgbClr val="DCFCE7"/>
          </a:solidFill>
          <a:ln w="12700">
            <a:solidFill>
              <a:srgbClr val="0D6938"/>
            </a:solidFill>
            <a:prstDash val="solid"/>
          </a:ln>
        </p:spPr>
      </p:sp>
      <p:sp>
        <p:nvSpPr>
          <p:cNvPr id="34" name="Text 32"/>
          <p:cNvSpPr/>
          <p:nvPr/>
        </p:nvSpPr>
        <p:spPr>
          <a:xfrm>
            <a:off x="5943600" y="1554480"/>
            <a:ext cx="228600" cy="228600"/>
          </a:xfrm>
          <a:prstGeom prst="rect">
            <a:avLst/>
          </a:prstGeom>
          <a:noFill/>
          <a:ln/>
        </p:spPr>
        <p:txBody>
          <a:bodyPr wrap="square" rtlCol="0" anchor="ctr"/>
          <a:lstStyle/>
          <a:p>
            <a:pPr algn="ctr" indent="0" marL="0">
              <a:buNone/>
            </a:pPr>
            <a:r>
              <a:rPr lang="en-US" sz="850" b="1" dirty="0">
                <a:solidFill>
                  <a:srgbClr val="064E2B"/>
                </a:solidFill>
                <a:latin typeface="Segoe UI" pitchFamily="34" charset="0"/>
                <a:ea typeface="Segoe UI" pitchFamily="34" charset="-122"/>
                <a:cs typeface="Segoe UI" pitchFamily="34" charset="-120"/>
              </a:rPr>
              <a:t>6</a:t>
            </a:r>
            <a:endParaRPr lang="en-US" sz="850" dirty="0"/>
          </a:p>
        </p:txBody>
      </p:sp>
      <p:sp>
        <p:nvSpPr>
          <p:cNvPr id="35" name="Text 33"/>
          <p:cNvSpPr/>
          <p:nvPr/>
        </p:nvSpPr>
        <p:spPr>
          <a:xfrm>
            <a:off x="5669280" y="1810512"/>
            <a:ext cx="777240" cy="502920"/>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In</a:t>
            </a:r>
            <a:endParaRPr lang="en-US" sz="800" dirty="0"/>
          </a:p>
          <a:p>
            <a:pPr algn="ctr" indent="0" marL="0">
              <a:buNone/>
            </a:pPr>
            <a:r>
              <a:rPr lang="en-US" sz="800" b="1" dirty="0">
                <a:solidFill>
                  <a:srgbClr val="0F172A"/>
                </a:solidFill>
                <a:latin typeface="Segoe UI" pitchFamily="34" charset="0"/>
                <a:ea typeface="Segoe UI" pitchFamily="34" charset="-122"/>
                <a:cs typeface="Segoe UI" pitchFamily="34" charset="-120"/>
              </a:rPr>
              <a:t>Transit</a:t>
            </a:r>
            <a:endParaRPr lang="en-US" sz="800" dirty="0"/>
          </a:p>
        </p:txBody>
      </p:sp>
      <p:sp>
        <p:nvSpPr>
          <p:cNvPr id="36" name="Shape 34"/>
          <p:cNvSpPr/>
          <p:nvPr/>
        </p:nvSpPr>
        <p:spPr>
          <a:xfrm>
            <a:off x="6601968" y="1481328"/>
            <a:ext cx="868680" cy="914400"/>
          </a:xfrm>
          <a:prstGeom prst="roundRect">
            <a:avLst>
              <a:gd name="adj" fmla="val 6316"/>
            </a:avLst>
          </a:prstGeom>
          <a:solidFill>
            <a:srgbClr val="FFFFFF"/>
          </a:solidFill>
          <a:ln w="12700">
            <a:solidFill>
              <a:srgbClr val="E2E8F0"/>
            </a:solidFill>
            <a:prstDash val="solid"/>
          </a:ln>
        </p:spPr>
      </p:sp>
      <p:sp>
        <p:nvSpPr>
          <p:cNvPr id="37" name="Shape 35"/>
          <p:cNvSpPr/>
          <p:nvPr/>
        </p:nvSpPr>
        <p:spPr>
          <a:xfrm>
            <a:off x="6922008" y="1554480"/>
            <a:ext cx="228600" cy="228600"/>
          </a:xfrm>
          <a:prstGeom prst="oval">
            <a:avLst/>
          </a:prstGeom>
          <a:solidFill>
            <a:srgbClr val="DCFCE7"/>
          </a:solidFill>
          <a:ln w="12700">
            <a:solidFill>
              <a:srgbClr val="0D6938"/>
            </a:solidFill>
            <a:prstDash val="solid"/>
          </a:ln>
        </p:spPr>
      </p:sp>
      <p:sp>
        <p:nvSpPr>
          <p:cNvPr id="38" name="Text 36"/>
          <p:cNvSpPr/>
          <p:nvPr/>
        </p:nvSpPr>
        <p:spPr>
          <a:xfrm>
            <a:off x="6922008" y="1554480"/>
            <a:ext cx="228600" cy="228600"/>
          </a:xfrm>
          <a:prstGeom prst="rect">
            <a:avLst/>
          </a:prstGeom>
          <a:noFill/>
          <a:ln/>
        </p:spPr>
        <p:txBody>
          <a:bodyPr wrap="square" rtlCol="0" anchor="ctr"/>
          <a:lstStyle/>
          <a:p>
            <a:pPr algn="ctr" indent="0" marL="0">
              <a:buNone/>
            </a:pPr>
            <a:r>
              <a:rPr lang="en-US" sz="850" b="1" dirty="0">
                <a:solidFill>
                  <a:srgbClr val="064E2B"/>
                </a:solidFill>
                <a:latin typeface="Segoe UI" pitchFamily="34" charset="0"/>
                <a:ea typeface="Segoe UI" pitchFamily="34" charset="-122"/>
                <a:cs typeface="Segoe UI" pitchFamily="34" charset="-120"/>
              </a:rPr>
              <a:t>7</a:t>
            </a:r>
            <a:endParaRPr lang="en-US" sz="850" dirty="0"/>
          </a:p>
        </p:txBody>
      </p:sp>
      <p:sp>
        <p:nvSpPr>
          <p:cNvPr id="39" name="Text 37"/>
          <p:cNvSpPr/>
          <p:nvPr/>
        </p:nvSpPr>
        <p:spPr>
          <a:xfrm>
            <a:off x="6647688" y="1810512"/>
            <a:ext cx="777240" cy="502920"/>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Delivered</a:t>
            </a:r>
            <a:endParaRPr lang="en-US" sz="800" dirty="0"/>
          </a:p>
          <a:p>
            <a:pPr algn="ctr" indent="0" marL="0">
              <a:buNone/>
            </a:pPr>
            <a:r>
              <a:rPr lang="en-US" sz="800" b="1" dirty="0">
                <a:solidFill>
                  <a:srgbClr val="0F172A"/>
                </a:solidFill>
                <a:latin typeface="Segoe UI" pitchFamily="34" charset="0"/>
                <a:ea typeface="Segoe UI" pitchFamily="34" charset="-122"/>
                <a:cs typeface="Segoe UI" pitchFamily="34" charset="-120"/>
              </a:rPr>
              <a:t>Confirmed</a:t>
            </a:r>
            <a:endParaRPr lang="en-US" sz="800" dirty="0"/>
          </a:p>
        </p:txBody>
      </p:sp>
      <p:sp>
        <p:nvSpPr>
          <p:cNvPr id="40" name="Shape 38"/>
          <p:cNvSpPr/>
          <p:nvPr/>
        </p:nvSpPr>
        <p:spPr>
          <a:xfrm>
            <a:off x="7580376" y="1481328"/>
            <a:ext cx="868680" cy="914400"/>
          </a:xfrm>
          <a:prstGeom prst="roundRect">
            <a:avLst>
              <a:gd name="adj" fmla="val 6316"/>
            </a:avLst>
          </a:prstGeom>
          <a:solidFill>
            <a:srgbClr val="FFFFFF"/>
          </a:solidFill>
          <a:ln w="12700">
            <a:solidFill>
              <a:srgbClr val="E2E8F0"/>
            </a:solidFill>
            <a:prstDash val="solid"/>
          </a:ln>
        </p:spPr>
      </p:sp>
      <p:sp>
        <p:nvSpPr>
          <p:cNvPr id="41" name="Shape 39"/>
          <p:cNvSpPr/>
          <p:nvPr/>
        </p:nvSpPr>
        <p:spPr>
          <a:xfrm>
            <a:off x="7900416" y="1554480"/>
            <a:ext cx="228600" cy="228600"/>
          </a:xfrm>
          <a:prstGeom prst="oval">
            <a:avLst/>
          </a:prstGeom>
          <a:solidFill>
            <a:srgbClr val="DCFCE7"/>
          </a:solidFill>
          <a:ln w="12700">
            <a:solidFill>
              <a:srgbClr val="0D6938"/>
            </a:solidFill>
            <a:prstDash val="solid"/>
          </a:ln>
        </p:spPr>
      </p:sp>
      <p:sp>
        <p:nvSpPr>
          <p:cNvPr id="42" name="Text 40"/>
          <p:cNvSpPr/>
          <p:nvPr/>
        </p:nvSpPr>
        <p:spPr>
          <a:xfrm>
            <a:off x="7900416" y="1554480"/>
            <a:ext cx="228600" cy="228600"/>
          </a:xfrm>
          <a:prstGeom prst="rect">
            <a:avLst/>
          </a:prstGeom>
          <a:noFill/>
          <a:ln/>
        </p:spPr>
        <p:txBody>
          <a:bodyPr wrap="square" rtlCol="0" anchor="ctr"/>
          <a:lstStyle/>
          <a:p>
            <a:pPr algn="ctr" indent="0" marL="0">
              <a:buNone/>
            </a:pPr>
            <a:r>
              <a:rPr lang="en-US" sz="850" b="1" dirty="0">
                <a:solidFill>
                  <a:srgbClr val="064E2B"/>
                </a:solidFill>
                <a:latin typeface="Segoe UI" pitchFamily="34" charset="0"/>
                <a:ea typeface="Segoe UI" pitchFamily="34" charset="-122"/>
                <a:cs typeface="Segoe UI" pitchFamily="34" charset="-120"/>
              </a:rPr>
              <a:t>8</a:t>
            </a:r>
            <a:endParaRPr lang="en-US" sz="850" dirty="0"/>
          </a:p>
        </p:txBody>
      </p:sp>
      <p:sp>
        <p:nvSpPr>
          <p:cNvPr id="43" name="Text 41"/>
          <p:cNvSpPr/>
          <p:nvPr/>
        </p:nvSpPr>
        <p:spPr>
          <a:xfrm>
            <a:off x="7626096" y="1810512"/>
            <a:ext cx="777240" cy="502920"/>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Payment &amp;</a:t>
            </a:r>
            <a:endParaRPr lang="en-US" sz="800" dirty="0"/>
          </a:p>
          <a:p>
            <a:pPr algn="ctr" indent="0" marL="0">
              <a:buNone/>
            </a:pPr>
            <a:r>
              <a:rPr lang="en-US" sz="800" b="1" dirty="0">
                <a:solidFill>
                  <a:srgbClr val="0F172A"/>
                </a:solidFill>
                <a:latin typeface="Segoe UI" pitchFamily="34" charset="0"/>
                <a:ea typeface="Segoe UI" pitchFamily="34" charset="-122"/>
                <a:cs typeface="Segoe UI" pitchFamily="34" charset="-120"/>
              </a:rPr>
              <a:t>Trace Log</a:t>
            </a:r>
            <a:endParaRPr lang="en-US" sz="800" dirty="0"/>
          </a:p>
        </p:txBody>
      </p:sp>
      <p:sp>
        <p:nvSpPr>
          <p:cNvPr id="44" name="Shape 42"/>
          <p:cNvSpPr/>
          <p:nvPr/>
        </p:nvSpPr>
        <p:spPr>
          <a:xfrm>
            <a:off x="731520" y="2560320"/>
            <a:ext cx="3749040" cy="2057400"/>
          </a:xfrm>
          <a:prstGeom prst="roundRect">
            <a:avLst>
              <a:gd name="adj" fmla="val 3556"/>
            </a:avLst>
          </a:prstGeom>
          <a:solidFill>
            <a:srgbClr val="FFFFFF"/>
          </a:solidFill>
          <a:ln w="12700">
            <a:solidFill>
              <a:srgbClr val="E2E8F0"/>
            </a:solidFill>
            <a:prstDash val="solid"/>
          </a:ln>
        </p:spPr>
      </p:sp>
      <p:sp>
        <p:nvSpPr>
          <p:cNvPr id="45" name="Shape 43"/>
          <p:cNvSpPr/>
          <p:nvPr/>
        </p:nvSpPr>
        <p:spPr>
          <a:xfrm>
            <a:off x="868680" y="2670048"/>
            <a:ext cx="3474720" cy="228600"/>
          </a:xfrm>
          <a:prstGeom prst="roundRect">
            <a:avLst>
              <a:gd name="adj" fmla="val 20000"/>
            </a:avLst>
          </a:prstGeom>
          <a:solidFill>
            <a:srgbClr val="DCFCE7"/>
          </a:solidFill>
          <a:ln/>
        </p:spPr>
      </p:sp>
      <p:sp>
        <p:nvSpPr>
          <p:cNvPr id="46" name="Text 44"/>
          <p:cNvSpPr/>
          <p:nvPr/>
        </p:nvSpPr>
        <p:spPr>
          <a:xfrm>
            <a:off x="868680" y="2670048"/>
            <a:ext cx="3474720" cy="228600"/>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RELATIONAL ENTITY LINKAGE IN MONGODB</a:t>
            </a:r>
            <a:endParaRPr lang="en-US" sz="750" dirty="0"/>
          </a:p>
        </p:txBody>
      </p:sp>
      <p:sp>
        <p:nvSpPr>
          <p:cNvPr id="47" name="Text 45"/>
          <p:cNvSpPr/>
          <p:nvPr/>
        </p:nvSpPr>
        <p:spPr>
          <a:xfrm>
            <a:off x="868680" y="2971800"/>
            <a:ext cx="3474720" cy="1508760"/>
          </a:xfrm>
          <a:prstGeom prst="rect">
            <a:avLst/>
          </a:prstGeom>
          <a:noFill/>
          <a:ln/>
        </p:spPr>
        <p:txBody>
          <a:bodyPr wrap="square" rtlCol="0" anchor="ctr"/>
          <a:lstStyle/>
          <a:p>
            <a:pPr indent="0" marL="0">
              <a:lnSpc>
                <a:spcPct val="120000"/>
              </a:lnSpc>
              <a:buNone/>
            </a:pPr>
            <a:r>
              <a:rPr lang="en-US" sz="850" dirty="0">
                <a:solidFill>
                  <a:srgbClr val="334155"/>
                </a:solidFill>
                <a:latin typeface="Segoe UI" pitchFamily="34" charset="0"/>
                <a:ea typeface="Segoe UI" pitchFamily="34" charset="-122"/>
                <a:cs typeface="Segoe UI" pitchFamily="34" charset="-120"/>
              </a:rPr>
              <a:t>• Crop Document ➔ Root harvest batch &amp; availableQty</a:t>
            </a:r>
            <a:endParaRPr lang="en-US" sz="850" dirty="0"/>
          </a:p>
          <a:p>
            <a:pPr indent="0" marL="0">
              <a:lnSpc>
                <a:spcPct val="120000"/>
              </a:lnSpc>
              <a:buNone/>
            </a:pPr>
            <a:r>
              <a:rPr lang="en-US" sz="850" dirty="0">
                <a:solidFill>
                  <a:srgbClr val="334155"/>
                </a:solidFill>
                <a:latin typeface="Segoe UI" pitchFamily="34" charset="0"/>
                <a:ea typeface="Segoe UI" pitchFamily="34" charset="-122"/>
                <a:cs typeface="Segoe UI" pitchFamily="34" charset="-120"/>
              </a:rPr>
              <a:t>• Booking Document ➔ Linked buyer reservation</a:t>
            </a:r>
            <a:endParaRPr lang="en-US" sz="850" dirty="0"/>
          </a:p>
          <a:p>
            <a:pPr indent="0" marL="0">
              <a:lnSpc>
                <a:spcPct val="120000"/>
              </a:lnSpc>
              <a:buNone/>
            </a:pPr>
            <a:r>
              <a:rPr lang="en-US" sz="850" dirty="0">
                <a:solidFill>
                  <a:srgbClr val="334155"/>
                </a:solidFill>
                <a:latin typeface="Segoe UI" pitchFamily="34" charset="0"/>
                <a:ea typeface="Segoe UI" pitchFamily="34" charset="-122"/>
                <a:cs typeface="Segoe UI" pitchFamily="34" charset="-120"/>
              </a:rPr>
              <a:t>• Order Document ➔ Fulfillment status &amp; timeline[]</a:t>
            </a:r>
            <a:endParaRPr lang="en-US" sz="850" dirty="0"/>
          </a:p>
          <a:p>
            <a:pPr indent="0" marL="0">
              <a:lnSpc>
                <a:spcPct val="120000"/>
              </a:lnSpc>
              <a:buNone/>
            </a:pPr>
            <a:r>
              <a:rPr lang="en-US" sz="850" dirty="0">
                <a:solidFill>
                  <a:srgbClr val="334155"/>
                </a:solidFill>
                <a:latin typeface="Segoe UI" pitchFamily="34" charset="0"/>
                <a:ea typeface="Segoe UI" pitchFamily="34" charset="-122"/>
                <a:cs typeface="Segoe UI" pitchFamily="34" charset="-120"/>
              </a:rPr>
              <a:t>• PickupRequest Document ➔ Assigned transporterId lock</a:t>
            </a:r>
            <a:endParaRPr lang="en-US" sz="850" dirty="0"/>
          </a:p>
          <a:p>
            <a:pPr indent="0" marL="0">
              <a:lnSpc>
                <a:spcPct val="120000"/>
              </a:lnSpc>
              <a:buNone/>
            </a:pPr>
            <a:r>
              <a:rPr lang="en-US" sz="850" dirty="0">
                <a:solidFill>
                  <a:srgbClr val="334155"/>
                </a:solidFill>
                <a:latin typeface="Segoe UI" pitchFamily="34" charset="0"/>
                <a:ea typeface="Segoe UI" pitchFamily="34" charset="-122"/>
                <a:cs typeface="Segoe UI" pitchFamily="34" charset="-120"/>
              </a:rPr>
              <a:t>• Payment Document ➔ Settlement record (Pending ➔ Paid)</a:t>
            </a:r>
            <a:endParaRPr lang="en-US" sz="850" dirty="0"/>
          </a:p>
          <a:p>
            <a:pPr indent="0" marL="0">
              <a:lnSpc>
                <a:spcPct val="120000"/>
              </a:lnSpc>
              <a:buNone/>
            </a:pPr>
            <a:r>
              <a:rPr lang="en-US" sz="850" dirty="0">
                <a:solidFill>
                  <a:srgbClr val="334155"/>
                </a:solidFill>
                <a:latin typeface="Segoe UI" pitchFamily="34" charset="0"/>
                <a:ea typeface="Segoe UI" pitchFamily="34" charset="-122"/>
                <a:cs typeface="Segoe UI" pitchFamily="34" charset="-120"/>
              </a:rPr>
              <a:t>• All documents remain linked across the transaction lifecycle.</a:t>
            </a:r>
            <a:endParaRPr lang="en-US" sz="850" dirty="0"/>
          </a:p>
        </p:txBody>
      </p:sp>
      <p:sp>
        <p:nvSpPr>
          <p:cNvPr id="48" name="Shape 46"/>
          <p:cNvSpPr/>
          <p:nvPr/>
        </p:nvSpPr>
        <p:spPr>
          <a:xfrm>
            <a:off x="4663440" y="2560320"/>
            <a:ext cx="3749040" cy="2057400"/>
          </a:xfrm>
          <a:prstGeom prst="roundRect">
            <a:avLst>
              <a:gd name="adj" fmla="val 3556"/>
            </a:avLst>
          </a:prstGeom>
          <a:solidFill>
            <a:srgbClr val="0F172A"/>
          </a:solidFill>
          <a:ln w="12700">
            <a:solidFill>
              <a:srgbClr val="334155"/>
            </a:solidFill>
            <a:prstDash val="solid"/>
          </a:ln>
        </p:spPr>
      </p:sp>
      <p:sp>
        <p:nvSpPr>
          <p:cNvPr id="49" name="Text 47"/>
          <p:cNvSpPr/>
          <p:nvPr/>
        </p:nvSpPr>
        <p:spPr>
          <a:xfrm>
            <a:off x="4800600" y="2670048"/>
            <a:ext cx="3474720" cy="228600"/>
          </a:xfrm>
          <a:prstGeom prst="rect">
            <a:avLst/>
          </a:prstGeom>
          <a:noFill/>
          <a:ln/>
        </p:spPr>
        <p:txBody>
          <a:bodyPr wrap="square" rtlCol="0" anchor="ctr"/>
          <a:lstStyle/>
          <a:p>
            <a:pPr indent="0" marL="0">
              <a:buNone/>
            </a:pPr>
            <a:r>
              <a:rPr lang="en-US" sz="750" b="1" dirty="0">
                <a:solidFill>
                  <a:srgbClr val="38BDF8"/>
                </a:solidFill>
                <a:latin typeface="Segoe UI" pitchFamily="34" charset="0"/>
                <a:ea typeface="Segoe UI" pitchFamily="34" charset="-122"/>
                <a:cs typeface="Segoe UI" pitchFamily="34" charset="-120"/>
              </a:rPr>
              <a:t>AUDIT TRACEABILITY LEDGER (EVENT SOURCING)</a:t>
            </a:r>
            <a:endParaRPr lang="en-US" sz="750" dirty="0"/>
          </a:p>
        </p:txBody>
      </p:sp>
      <p:sp>
        <p:nvSpPr>
          <p:cNvPr id="50" name="Text 48"/>
          <p:cNvSpPr/>
          <p:nvPr/>
        </p:nvSpPr>
        <p:spPr>
          <a:xfrm>
            <a:off x="4800600" y="2971800"/>
            <a:ext cx="3474720" cy="1508760"/>
          </a:xfrm>
          <a:prstGeom prst="rect">
            <a:avLst/>
          </a:prstGeom>
          <a:noFill/>
          <a:ln/>
        </p:spPr>
        <p:txBody>
          <a:bodyPr wrap="square" rtlCol="0" anchor="ctr"/>
          <a:lstStyle/>
          <a:p>
            <a:pPr indent="0" marL="0">
              <a:lnSpc>
                <a:spcPct val="115000"/>
              </a:lnSpc>
              <a:buNone/>
            </a:pPr>
            <a:r>
              <a:rPr lang="en-US" sz="720" dirty="0">
                <a:solidFill>
                  <a:srgbClr val="A7F3D0"/>
                </a:solidFill>
                <a:latin typeface="Consolas" pitchFamily="34" charset="0"/>
                <a:ea typeface="Consolas" pitchFamily="34" charset="-122"/>
                <a:cs typeface="Consolas" pitchFamily="34" charset="-120"/>
              </a:rPr>
              <a:t>[HARVESTED]          Loc: Nashik Farm A     | Actor: Farmer</a:t>
            </a:r>
            <a:endParaRPr lang="en-US" sz="720" dirty="0"/>
          </a:p>
          <a:p>
            <a:pPr indent="0" marL="0">
              <a:lnSpc>
                <a:spcPct val="115000"/>
              </a:lnSpc>
              <a:buNone/>
            </a:pPr>
            <a:r>
              <a:rPr lang="en-US" sz="720" dirty="0">
                <a:solidFill>
                  <a:srgbClr val="A7F3D0"/>
                </a:solidFill>
                <a:latin typeface="Consolas" pitchFamily="34" charset="0"/>
                <a:ea typeface="Consolas" pitchFamily="34" charset="-122"/>
                <a:cs typeface="Consolas" pitchFamily="34" charset="-120"/>
              </a:rPr>
              <a:t>[QUALITY_CHECKED]    Grade: Grade A         | Actor: Quality Agent</a:t>
            </a:r>
            <a:endParaRPr lang="en-US" sz="720" dirty="0"/>
          </a:p>
          <a:p>
            <a:pPr indent="0" marL="0">
              <a:lnSpc>
                <a:spcPct val="115000"/>
              </a:lnSpc>
              <a:buNone/>
            </a:pPr>
            <a:r>
              <a:rPr lang="en-US" sz="720" dirty="0">
                <a:solidFill>
                  <a:srgbClr val="A7F3D0"/>
                </a:solidFill>
                <a:latin typeface="Consolas" pitchFamily="34" charset="0"/>
                <a:ea typeface="Consolas" pitchFamily="34" charset="-122"/>
                <a:cs typeface="Consolas" pitchFamily="34" charset="-120"/>
              </a:rPr>
              <a:t>[BOOKED]             Buyer: FreshMart       | Ref: Booking #B-108</a:t>
            </a:r>
            <a:endParaRPr lang="en-US" sz="720" dirty="0"/>
          </a:p>
          <a:p>
            <a:pPr indent="0" marL="0">
              <a:lnSpc>
                <a:spcPct val="115000"/>
              </a:lnSpc>
              <a:buNone/>
            </a:pPr>
            <a:r>
              <a:rPr lang="en-US" sz="720" dirty="0">
                <a:solidFill>
                  <a:srgbClr val="A7F3D0"/>
                </a:solidFill>
                <a:latin typeface="Consolas" pitchFamily="34" charset="0"/>
                <a:ea typeface="Consolas" pitchFamily="34" charset="-122"/>
                <a:cs typeface="Consolas" pitchFamily="34" charset="-120"/>
              </a:rPr>
              <a:t>[PICKUP_SCHEDULED]   Truck: MH-15-AB1234    | Ref: Pickup #P-402</a:t>
            </a:r>
            <a:endParaRPr lang="en-US" sz="720" dirty="0"/>
          </a:p>
          <a:p>
            <a:pPr indent="0" marL="0">
              <a:lnSpc>
                <a:spcPct val="115000"/>
              </a:lnSpc>
              <a:buNone/>
            </a:pPr>
            <a:r>
              <a:rPr lang="en-US" sz="720" dirty="0">
                <a:solidFill>
                  <a:srgbClr val="A7F3D0"/>
                </a:solidFill>
                <a:latin typeface="Consolas" pitchFamily="34" charset="0"/>
                <a:ea typeface="Consolas" pitchFamily="34" charset="-122"/>
                <a:cs typeface="Consolas" pitchFamily="34" charset="-120"/>
              </a:rPr>
              <a:t>[IN_TRANSIT]         Route: Nashik -&gt; Pune  | Actor: Transporter</a:t>
            </a:r>
            <a:endParaRPr lang="en-US" sz="720" dirty="0"/>
          </a:p>
          <a:p>
            <a:pPr indent="0" marL="0">
              <a:lnSpc>
                <a:spcPct val="115000"/>
              </a:lnSpc>
              <a:buNone/>
            </a:pPr>
            <a:r>
              <a:rPr lang="en-US" sz="720" dirty="0">
                <a:solidFill>
                  <a:srgbClr val="A7F3D0"/>
                </a:solidFill>
                <a:latin typeface="Consolas" pitchFamily="34" charset="0"/>
                <a:ea typeface="Consolas" pitchFamily="34" charset="-122"/>
                <a:cs typeface="Consolas" pitchFamily="34" charset="-120"/>
              </a:rPr>
              <a:t>[DELIVERED]          Loc: Pune Warehouse    | Actor: Buyer</a:t>
            </a:r>
            <a:endParaRPr lang="en-US" sz="720" dirty="0"/>
          </a:p>
          <a:p>
            <a:pPr indent="0" marL="0">
              <a:lnSpc>
                <a:spcPct val="115000"/>
              </a:lnSpc>
              <a:buNone/>
            </a:pPr>
            <a:r>
              <a:rPr lang="en-US" sz="720" dirty="0">
                <a:solidFill>
                  <a:srgbClr val="A7F3D0"/>
                </a:solidFill>
                <a:latin typeface="Consolas" pitchFamily="34" charset="0"/>
                <a:ea typeface="Consolas" pitchFamily="34" charset="-122"/>
                <a:cs typeface="Consolas" pitchFamily="34" charset="-120"/>
              </a:rPr>
              <a:t>[PAYMENT_RECEIVED]   Amount: ₹24,000        | Ref: Pay #TX-902</a:t>
            </a:r>
            <a:endParaRPr lang="en-US" sz="7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47472"/>
            <a:ext cx="2377440" cy="237744"/>
          </a:xfrm>
          <a:prstGeom prst="roundRect">
            <a:avLst>
              <a:gd name="adj" fmla="val 23077"/>
            </a:avLst>
          </a:prstGeom>
          <a:solidFill>
            <a:srgbClr val="DCFCE7"/>
          </a:solidFill>
          <a:ln w="12700">
            <a:solidFill>
              <a:srgbClr val="0D6938"/>
            </a:solidFill>
            <a:prstDash val="solid"/>
          </a:ln>
        </p:spPr>
      </p:sp>
      <p:sp>
        <p:nvSpPr>
          <p:cNvPr id="3" name="Text 1"/>
          <p:cNvSpPr/>
          <p:nvPr/>
        </p:nvSpPr>
        <p:spPr>
          <a:xfrm>
            <a:off x="731520" y="347472"/>
            <a:ext cx="2377440" cy="237744"/>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AGRIFLOW AI  •  EVALUATION &amp; ROADMAP</a:t>
            </a:r>
            <a:endParaRPr lang="en-US" sz="750" dirty="0"/>
          </a:p>
        </p:txBody>
      </p:sp>
      <p:sp>
        <p:nvSpPr>
          <p:cNvPr id="4" name="Shape 2"/>
          <p:cNvSpPr/>
          <p:nvPr/>
        </p:nvSpPr>
        <p:spPr>
          <a:xfrm>
            <a:off x="7406640" y="347472"/>
            <a:ext cx="1005840" cy="237744"/>
          </a:xfrm>
          <a:prstGeom prst="roundRect">
            <a:avLst>
              <a:gd name="adj" fmla="val 23077"/>
            </a:avLst>
          </a:prstGeom>
          <a:solidFill>
            <a:srgbClr val="FFFFFF"/>
          </a:solidFill>
          <a:ln w="12700">
            <a:solidFill>
              <a:srgbClr val="CBD5E1"/>
            </a:solidFill>
            <a:prstDash val="solid"/>
          </a:ln>
        </p:spPr>
      </p:sp>
      <p:sp>
        <p:nvSpPr>
          <p:cNvPr id="5" name="Text 3"/>
          <p:cNvSpPr/>
          <p:nvPr/>
        </p:nvSpPr>
        <p:spPr>
          <a:xfrm>
            <a:off x="7406640" y="347472"/>
            <a:ext cx="1005840" cy="237744"/>
          </a:xfrm>
          <a:prstGeom prst="rect">
            <a:avLst/>
          </a:prstGeom>
          <a:noFill/>
          <a:ln/>
        </p:spPr>
        <p:txBody>
          <a:bodyPr wrap="square" rtlCol="0" anchor="ctr"/>
          <a:lstStyle/>
          <a:p>
            <a:pPr algn="ctr" indent="0" marL="0">
              <a:buNone/>
            </a:pPr>
            <a:r>
              <a:rPr lang="en-US" sz="750" b="1" dirty="0">
                <a:solidFill>
                  <a:srgbClr val="475569"/>
                </a:solidFill>
                <a:latin typeface="Segoe UI" pitchFamily="34" charset="0"/>
                <a:ea typeface="Segoe UI" pitchFamily="34" charset="-122"/>
                <a:cs typeface="Segoe UI" pitchFamily="34" charset="-120"/>
              </a:rPr>
              <a:t>SLIDE 15/15</a:t>
            </a:r>
            <a:endParaRPr lang="en-US" sz="750" dirty="0"/>
          </a:p>
        </p:txBody>
      </p:sp>
      <p:sp>
        <p:nvSpPr>
          <p:cNvPr id="6" name="Text 4"/>
          <p:cNvSpPr/>
          <p:nvPr/>
        </p:nvSpPr>
        <p:spPr>
          <a:xfrm>
            <a:off x="731520" y="621792"/>
            <a:ext cx="7680960" cy="41148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Project Results, Future Scope &amp; Academic Conclusion</a:t>
            </a:r>
            <a:endParaRPr lang="en-US" sz="2000" dirty="0"/>
          </a:p>
        </p:txBody>
      </p:sp>
      <p:sp>
        <p:nvSpPr>
          <p:cNvPr id="7" name="Text 5"/>
          <p:cNvSpPr/>
          <p:nvPr/>
        </p:nvSpPr>
        <p:spPr>
          <a:xfrm>
            <a:off x="731520" y="1024128"/>
            <a:ext cx="7680960" cy="256032"/>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Summary of verified engineering achievements, production roadmap, and technical conclusions</a:t>
            </a:r>
            <a:endParaRPr lang="en-US" sz="1050" dirty="0"/>
          </a:p>
        </p:txBody>
      </p:sp>
      <p:sp>
        <p:nvSpPr>
          <p:cNvPr id="8" name="Shape 6"/>
          <p:cNvSpPr/>
          <p:nvPr/>
        </p:nvSpPr>
        <p:spPr>
          <a:xfrm>
            <a:off x="731520" y="1316736"/>
            <a:ext cx="7680960" cy="0"/>
          </a:xfrm>
          <a:prstGeom prst="line">
            <a:avLst/>
          </a:prstGeom>
          <a:noFill/>
          <a:ln w="15240">
            <a:solidFill>
              <a:srgbClr val="E2E8F0"/>
            </a:solidFill>
            <a:prstDash val="solid"/>
          </a:ln>
        </p:spPr>
      </p:sp>
      <p:sp>
        <p:nvSpPr>
          <p:cNvPr id="9" name="Shape 7"/>
          <p:cNvSpPr/>
          <p:nvPr/>
        </p:nvSpPr>
        <p:spPr>
          <a:xfrm>
            <a:off x="731520" y="4773168"/>
            <a:ext cx="7680960" cy="0"/>
          </a:xfrm>
          <a:prstGeom prst="line">
            <a:avLst/>
          </a:prstGeom>
          <a:noFill/>
          <a:ln w="12700">
            <a:solidFill>
              <a:srgbClr val="E2E8F0"/>
            </a:solidFill>
            <a:prstDash val="solid"/>
          </a:ln>
        </p:spPr>
      </p:sp>
      <p:sp>
        <p:nvSpPr>
          <p:cNvPr id="10" name="Text 8"/>
          <p:cNvSpPr/>
          <p:nvPr/>
        </p:nvSpPr>
        <p:spPr>
          <a:xfrm>
            <a:off x="731520" y="4809744"/>
            <a:ext cx="3840480" cy="228600"/>
          </a:xfrm>
          <a:prstGeom prst="rect">
            <a:avLst/>
          </a:prstGeom>
          <a:noFill/>
          <a:ln/>
        </p:spPr>
        <p:txBody>
          <a:bodyPr wrap="square" rtlCol="0" anchor="ctr"/>
          <a:lstStyle/>
          <a:p>
            <a:pPr indent="0" marL="0">
              <a:buNone/>
            </a:pPr>
            <a:r>
              <a:rPr lang="en-US" sz="800" dirty="0">
                <a:solidFill>
                  <a:srgbClr val="64748B"/>
                </a:solidFill>
                <a:latin typeface="Segoe UI" pitchFamily="34" charset="0"/>
                <a:ea typeface="Segoe UI" pitchFamily="34" charset="-122"/>
                <a:cs typeface="Segoe UI" pitchFamily="34" charset="-120"/>
              </a:rPr>
              <a:t>AgriFlow AI — Smart Agricultural Supply Chain SaaS Platform</a:t>
            </a:r>
            <a:endParaRPr lang="en-US" sz="800" dirty="0"/>
          </a:p>
        </p:txBody>
      </p:sp>
      <p:sp>
        <p:nvSpPr>
          <p:cNvPr id="11" name="Text 9"/>
          <p:cNvSpPr/>
          <p:nvPr/>
        </p:nvSpPr>
        <p:spPr>
          <a:xfrm>
            <a:off x="4389120" y="4809744"/>
            <a:ext cx="4023360" cy="228600"/>
          </a:xfrm>
          <a:prstGeom prst="rect">
            <a:avLst/>
          </a:prstGeom>
          <a:noFill/>
          <a:ln/>
        </p:spPr>
        <p:txBody>
          <a:bodyPr wrap="square" rtlCol="0" anchor="ctr"/>
          <a:lstStyle/>
          <a:p>
            <a:pPr algn="r" indent="0" marL="0">
              <a:buNone/>
            </a:pPr>
            <a:r>
              <a:rPr lang="en-US" sz="800" dirty="0">
                <a:solidFill>
                  <a:srgbClr val="64748B"/>
                </a:solidFill>
                <a:latin typeface="Segoe UI" pitchFamily="34" charset="0"/>
                <a:ea typeface="Segoe UI" pitchFamily="34" charset="-122"/>
                <a:cs typeface="Segoe UI" pitchFamily="34" charset="-120"/>
              </a:rPr>
              <a:t>D.Y Patil College Of Engineering And Technology  •  Dept. of CSE</a:t>
            </a:r>
            <a:endParaRPr lang="en-US" sz="800" dirty="0"/>
          </a:p>
        </p:txBody>
      </p:sp>
      <p:sp>
        <p:nvSpPr>
          <p:cNvPr id="12" name="Shape 10"/>
          <p:cNvSpPr/>
          <p:nvPr/>
        </p:nvSpPr>
        <p:spPr>
          <a:xfrm>
            <a:off x="731520" y="1481328"/>
            <a:ext cx="3703320" cy="2286000"/>
          </a:xfrm>
          <a:prstGeom prst="roundRect">
            <a:avLst>
              <a:gd name="adj" fmla="val 3200"/>
            </a:avLst>
          </a:prstGeom>
          <a:solidFill>
            <a:srgbClr val="FFFFFF"/>
          </a:solidFill>
          <a:ln w="19050">
            <a:solidFill>
              <a:srgbClr val="0D6938"/>
            </a:solidFill>
            <a:prstDash val="solid"/>
          </a:ln>
        </p:spPr>
      </p:sp>
      <p:sp>
        <p:nvSpPr>
          <p:cNvPr id="13" name="Shape 11"/>
          <p:cNvSpPr/>
          <p:nvPr/>
        </p:nvSpPr>
        <p:spPr>
          <a:xfrm>
            <a:off x="868680" y="1609344"/>
            <a:ext cx="3429000" cy="256032"/>
          </a:xfrm>
          <a:prstGeom prst="roundRect">
            <a:avLst>
              <a:gd name="adj" fmla="val 17857"/>
            </a:avLst>
          </a:prstGeom>
          <a:solidFill>
            <a:srgbClr val="DCFCE7"/>
          </a:solidFill>
          <a:ln/>
        </p:spPr>
      </p:sp>
      <p:sp>
        <p:nvSpPr>
          <p:cNvPr id="14" name="Text 12"/>
          <p:cNvSpPr/>
          <p:nvPr/>
        </p:nvSpPr>
        <p:spPr>
          <a:xfrm>
            <a:off x="868680" y="1609344"/>
            <a:ext cx="3429000" cy="256032"/>
          </a:xfrm>
          <a:prstGeom prst="rect">
            <a:avLst/>
          </a:prstGeom>
          <a:noFill/>
          <a:ln/>
        </p:spPr>
        <p:txBody>
          <a:bodyPr wrap="square" rtlCol="0" anchor="ctr"/>
          <a:lstStyle/>
          <a:p>
            <a:pPr algn="ctr" indent="0" marL="0">
              <a:buNone/>
            </a:pPr>
            <a:r>
              <a:rPr lang="en-US" sz="750" b="1" dirty="0">
                <a:solidFill>
                  <a:srgbClr val="064E2B"/>
                </a:solidFill>
                <a:latin typeface="Segoe UI" pitchFamily="34" charset="0"/>
                <a:ea typeface="Segoe UI" pitchFamily="34" charset="-122"/>
                <a:cs typeface="Segoe UI" pitchFamily="34" charset="-120"/>
              </a:rPr>
              <a:t>IMPLEMENTED &amp; VERIFIED ACHIEVEMENTS</a:t>
            </a:r>
            <a:endParaRPr lang="en-US" sz="750" dirty="0"/>
          </a:p>
        </p:txBody>
      </p:sp>
      <p:sp>
        <p:nvSpPr>
          <p:cNvPr id="15" name="Text 13"/>
          <p:cNvSpPr/>
          <p:nvPr/>
        </p:nvSpPr>
        <p:spPr>
          <a:xfrm>
            <a:off x="868680" y="1938528"/>
            <a:ext cx="3429000" cy="1737360"/>
          </a:xfrm>
          <a:prstGeom prst="rect">
            <a:avLst/>
          </a:prstGeom>
          <a:noFill/>
          <a:ln/>
        </p:spPr>
        <p:txBody>
          <a:bodyPr wrap="square" rtlCol="0" anchor="ctr"/>
          <a:lstStyle/>
          <a:p>
            <a:pPr indent="0" marL="0">
              <a:lnSpc>
                <a:spcPct val="115000"/>
              </a:lnSpc>
              <a:buNone/>
            </a:pPr>
            <a:r>
              <a:rPr lang="en-US" sz="850" b="1" dirty="0">
                <a:solidFill>
                  <a:srgbClr val="0F172A"/>
                </a:solidFill>
                <a:latin typeface="Segoe UI" pitchFamily="34" charset="0"/>
                <a:ea typeface="Segoe UI" pitchFamily="34" charset="-122"/>
                <a:cs typeface="Segoe UI" pitchFamily="34" charset="-120"/>
              </a:rPr>
              <a:t>✔ Full-Stack MERN Platform: </a:t>
            </a:r>
            <a:pPr indent="0" marL="0">
              <a:lnSpc>
                <a:spcPct val="115000"/>
              </a:lnSpc>
              <a:buNone/>
            </a:pPr>
            <a:r>
              <a:rPr lang="en-US" sz="850" dirty="0">
                <a:solidFill>
                  <a:srgbClr val="334155"/>
                </a:solidFill>
                <a:latin typeface="Segoe UI" pitchFamily="34" charset="0"/>
                <a:ea typeface="Segoe UI" pitchFamily="34" charset="-122"/>
                <a:cs typeface="Segoe UI" pitchFamily="34" charset="-120"/>
              </a:rPr>
              <a:t>React 18 SPA, Node/Express REST API.
</a:t>
            </a:r>
            <a:pPr indent="0" marL="0">
              <a:lnSpc>
                <a:spcPct val="115000"/>
              </a:lnSpc>
              <a:buNone/>
            </a:pPr>
            <a:r>
              <a:rPr lang="en-US" sz="850" b="1" dirty="0">
                <a:solidFill>
                  <a:srgbClr val="0F172A"/>
                </a:solidFill>
                <a:latin typeface="Segoe UI" pitchFamily="34" charset="0"/>
                <a:ea typeface="Segoe UI" pitchFamily="34" charset="-122"/>
                <a:cs typeface="Segoe UI" pitchFamily="34" charset="-120"/>
              </a:rPr>
              <a:t>✔ Role-Based Access Control: </a:t>
            </a:r>
            <a:pPr indent="0" marL="0">
              <a:lnSpc>
                <a:spcPct val="115000"/>
              </a:lnSpc>
              <a:buNone/>
            </a:pPr>
            <a:r>
              <a:rPr lang="en-US" sz="850" dirty="0">
                <a:solidFill>
                  <a:srgbClr val="334155"/>
                </a:solidFill>
                <a:latin typeface="Segoe UI" pitchFamily="34" charset="0"/>
                <a:ea typeface="Segoe UI" pitchFamily="34" charset="-122"/>
                <a:cs typeface="Segoe UI" pitchFamily="34" charset="-120"/>
              </a:rPr>
              <a:t>JWT middleware for Farmer, Buyer, Transporter.
</a:t>
            </a:r>
            <a:pPr indent="0" marL="0">
              <a:lnSpc>
                <a:spcPct val="115000"/>
              </a:lnSpc>
              <a:buNone/>
            </a:pPr>
            <a:r>
              <a:rPr lang="en-US" sz="850" b="1" dirty="0">
                <a:solidFill>
                  <a:srgbClr val="0F172A"/>
                </a:solidFill>
                <a:latin typeface="Segoe UI" pitchFamily="34" charset="0"/>
                <a:ea typeface="Segoe UI" pitchFamily="34" charset="-122"/>
                <a:cs typeface="Segoe UI" pitchFamily="34" charset="-120"/>
              </a:rPr>
              <a:t>✔ Transactional State Machine: </a:t>
            </a:r>
            <a:pPr indent="0" marL="0">
              <a:lnSpc>
                <a:spcPct val="115000"/>
              </a:lnSpc>
              <a:buNone/>
            </a:pPr>
            <a:r>
              <a:rPr lang="en-US" sz="850" dirty="0">
                <a:solidFill>
                  <a:srgbClr val="334155"/>
                </a:solidFill>
                <a:latin typeface="Segoe UI" pitchFamily="34" charset="0"/>
                <a:ea typeface="Segoe UI" pitchFamily="34" charset="-122"/>
                <a:cs typeface="Segoe UI" pitchFamily="34" charset="-120"/>
              </a:rPr>
              <a:t>Booking ➔ Order ➔ PickupRequest with atomic locks.
</a:t>
            </a:r>
            <a:pPr indent="0" marL="0">
              <a:lnSpc>
                <a:spcPct val="115000"/>
              </a:lnSpc>
              <a:buNone/>
            </a:pPr>
            <a:r>
              <a:rPr lang="en-US" sz="850" b="1" dirty="0">
                <a:solidFill>
                  <a:srgbClr val="0F172A"/>
                </a:solidFill>
                <a:latin typeface="Segoe UI" pitchFamily="34" charset="0"/>
                <a:ea typeface="Segoe UI" pitchFamily="34" charset="-122"/>
                <a:cs typeface="Segoe UI" pitchFamily="34" charset="-120"/>
              </a:rPr>
              <a:t>✔ Explainable Decision Engines: </a:t>
            </a:r>
            <a:pPr indent="0" marL="0">
              <a:lnSpc>
                <a:spcPct val="115000"/>
              </a:lnSpc>
              <a:buNone/>
            </a:pPr>
            <a:r>
              <a:rPr lang="en-US" sz="850" dirty="0">
                <a:solidFill>
                  <a:srgbClr val="334155"/>
                </a:solidFill>
                <a:latin typeface="Segoe UI" pitchFamily="34" charset="0"/>
                <a:ea typeface="Segoe UI" pitchFamily="34" charset="-122"/>
                <a:cs typeface="Segoe UI" pitchFamily="34" charset="-120"/>
              </a:rPr>
              <a:t>Multi-criteria matching and shelf-life decay monitoring.
</a:t>
            </a:r>
            <a:pPr indent="0" marL="0">
              <a:lnSpc>
                <a:spcPct val="115000"/>
              </a:lnSpc>
              <a:buNone/>
            </a:pPr>
            <a:r>
              <a:rPr lang="en-US" sz="850" b="1" dirty="0">
                <a:solidFill>
                  <a:srgbClr val="0F172A"/>
                </a:solidFill>
                <a:latin typeface="Segoe UI" pitchFamily="34" charset="0"/>
                <a:ea typeface="Segoe UI" pitchFamily="34" charset="-122"/>
                <a:cs typeface="Segoe UI" pitchFamily="34" charset="-120"/>
              </a:rPr>
              <a:t>✔ Milestone Audit Logging: </a:t>
            </a:r>
            <a:pPr indent="0" marL="0">
              <a:lnSpc>
                <a:spcPct val="115000"/>
              </a:lnSpc>
              <a:buNone/>
            </a:pPr>
            <a:r>
              <a:rPr lang="en-US" sz="850" dirty="0">
                <a:solidFill>
                  <a:srgbClr val="334155"/>
                </a:solidFill>
                <a:latin typeface="Segoe UI" pitchFamily="34" charset="0"/>
                <a:ea typeface="Segoe UI" pitchFamily="34" charset="-122"/>
                <a:cs typeface="Segoe UI" pitchFamily="34" charset="-120"/>
              </a:rPr>
              <a:t>Idempotent traceability event logger in MongoDB.
</a:t>
            </a:r>
            <a:pPr indent="0" marL="0">
              <a:lnSpc>
                <a:spcPct val="115000"/>
              </a:lnSpc>
              <a:buNone/>
            </a:pPr>
            <a:r>
              <a:rPr lang="en-US" sz="850" b="1" dirty="0">
                <a:solidFill>
                  <a:srgbClr val="0F172A"/>
                </a:solidFill>
                <a:latin typeface="Segoe UI" pitchFamily="34" charset="0"/>
                <a:ea typeface="Segoe UI" pitchFamily="34" charset="-122"/>
                <a:cs typeface="Segoe UI" pitchFamily="34" charset="-120"/>
              </a:rPr>
              <a:t>✔ Cloud Deployment: </a:t>
            </a:r>
            <a:pPr indent="0" marL="0">
              <a:lnSpc>
                <a:spcPct val="115000"/>
              </a:lnSpc>
              <a:buNone/>
            </a:pPr>
            <a:r>
              <a:rPr lang="en-US" sz="850" dirty="0">
                <a:solidFill>
                  <a:srgbClr val="334155"/>
                </a:solidFill>
                <a:latin typeface="Segoe UI" pitchFamily="34" charset="0"/>
                <a:ea typeface="Segoe UI" pitchFamily="34" charset="-122"/>
                <a:cs typeface="Segoe UI" pitchFamily="34" charset="-120"/>
              </a:rPr>
              <a:t>Vercel (Frontend), Render (Backend), MongoDB Atlas.</a:t>
            </a:r>
            <a:endParaRPr lang="en-US" sz="850" dirty="0"/>
          </a:p>
        </p:txBody>
      </p:sp>
      <p:sp>
        <p:nvSpPr>
          <p:cNvPr id="16" name="Shape 14"/>
          <p:cNvSpPr/>
          <p:nvPr/>
        </p:nvSpPr>
        <p:spPr>
          <a:xfrm>
            <a:off x="4709160" y="1481328"/>
            <a:ext cx="3703320" cy="2286000"/>
          </a:xfrm>
          <a:prstGeom prst="roundRect">
            <a:avLst>
              <a:gd name="adj" fmla="val 3200"/>
            </a:avLst>
          </a:prstGeom>
          <a:solidFill>
            <a:srgbClr val="FFFFFF"/>
          </a:solidFill>
          <a:ln w="19050">
            <a:solidFill>
              <a:srgbClr val="0284C7"/>
            </a:solidFill>
            <a:prstDash val="solid"/>
          </a:ln>
        </p:spPr>
      </p:sp>
      <p:sp>
        <p:nvSpPr>
          <p:cNvPr id="17" name="Shape 15"/>
          <p:cNvSpPr/>
          <p:nvPr/>
        </p:nvSpPr>
        <p:spPr>
          <a:xfrm>
            <a:off x="4846320" y="1609344"/>
            <a:ext cx="3429000" cy="256032"/>
          </a:xfrm>
          <a:prstGeom prst="roundRect">
            <a:avLst>
              <a:gd name="adj" fmla="val 17857"/>
            </a:avLst>
          </a:prstGeom>
          <a:solidFill>
            <a:srgbClr val="E0F2FE"/>
          </a:solidFill>
          <a:ln/>
        </p:spPr>
      </p:sp>
      <p:sp>
        <p:nvSpPr>
          <p:cNvPr id="18" name="Text 16"/>
          <p:cNvSpPr/>
          <p:nvPr/>
        </p:nvSpPr>
        <p:spPr>
          <a:xfrm>
            <a:off x="4846320" y="1609344"/>
            <a:ext cx="3429000" cy="256032"/>
          </a:xfrm>
          <a:prstGeom prst="rect">
            <a:avLst/>
          </a:prstGeom>
          <a:noFill/>
          <a:ln/>
        </p:spPr>
        <p:txBody>
          <a:bodyPr wrap="square" rtlCol="0" anchor="ctr"/>
          <a:lstStyle/>
          <a:p>
            <a:pPr algn="ctr" indent="0" marL="0">
              <a:buNone/>
            </a:pPr>
            <a:r>
              <a:rPr lang="en-US" sz="750" b="1" dirty="0">
                <a:solidFill>
                  <a:srgbClr val="0284C7"/>
                </a:solidFill>
                <a:latin typeface="Segoe UI" pitchFamily="34" charset="0"/>
                <a:ea typeface="Segoe UI" pitchFamily="34" charset="-122"/>
                <a:cs typeface="Segoe UI" pitchFamily="34" charset="-120"/>
              </a:rPr>
              <a:t>PLANNED FUTURE ENHANCEMENTS</a:t>
            </a:r>
            <a:endParaRPr lang="en-US" sz="750" dirty="0"/>
          </a:p>
        </p:txBody>
      </p:sp>
      <p:sp>
        <p:nvSpPr>
          <p:cNvPr id="19" name="Text 17"/>
          <p:cNvSpPr/>
          <p:nvPr/>
        </p:nvSpPr>
        <p:spPr>
          <a:xfrm>
            <a:off x="4846320" y="1938528"/>
            <a:ext cx="3429000" cy="1737360"/>
          </a:xfrm>
          <a:prstGeom prst="rect">
            <a:avLst/>
          </a:prstGeom>
          <a:noFill/>
          <a:ln/>
        </p:spPr>
        <p:txBody>
          <a:bodyPr wrap="square" rtlCol="0" anchor="ctr"/>
          <a:lstStyle/>
          <a:p>
            <a:pPr indent="0" marL="0">
              <a:lnSpc>
                <a:spcPct val="115000"/>
              </a:lnSpc>
              <a:buNone/>
            </a:pPr>
            <a:r>
              <a:rPr lang="en-US" sz="850" b="1" dirty="0">
                <a:solidFill>
                  <a:srgbClr val="0F172A"/>
                </a:solidFill>
                <a:latin typeface="Segoe UI" pitchFamily="34" charset="0"/>
                <a:ea typeface="Segoe UI" pitchFamily="34" charset="-122"/>
                <a:cs typeface="Segoe UI" pitchFamily="34" charset="-120"/>
              </a:rPr>
              <a:t>➤ Production Machine Learning: </a:t>
            </a:r>
            <a:pPr indent="0" marL="0">
              <a:lnSpc>
                <a:spcPct val="115000"/>
              </a:lnSpc>
              <a:buNone/>
            </a:pPr>
            <a:r>
              <a:rPr lang="en-US" sz="850" dirty="0">
                <a:solidFill>
                  <a:srgbClr val="334155"/>
                </a:solidFill>
                <a:latin typeface="Segoe UI" pitchFamily="34" charset="0"/>
                <a:ea typeface="Segoe UI" pitchFamily="34" charset="-122"/>
                <a:cs typeface="Segoe UI" pitchFamily="34" charset="-120"/>
              </a:rPr>
              <a:t>Train LSTM / ARIMA models on national mandi price datasets.
</a:t>
            </a:r>
            <a:pPr indent="0" marL="0">
              <a:lnSpc>
                <a:spcPct val="115000"/>
              </a:lnSpc>
              <a:buNone/>
            </a:pPr>
            <a:r>
              <a:rPr lang="en-US" sz="850" b="1" dirty="0">
                <a:solidFill>
                  <a:srgbClr val="0F172A"/>
                </a:solidFill>
                <a:latin typeface="Segoe UI" pitchFamily="34" charset="0"/>
                <a:ea typeface="Segoe UI" pitchFamily="34" charset="-122"/>
                <a:cs typeface="Segoe UI" pitchFamily="34" charset="-120"/>
              </a:rPr>
              <a:t>➤ Real-Time IoT Telematics: </a:t>
            </a:r>
            <a:pPr indent="0" marL="0">
              <a:lnSpc>
                <a:spcPct val="115000"/>
              </a:lnSpc>
              <a:buNone/>
            </a:pPr>
            <a:r>
              <a:rPr lang="en-US" sz="850" dirty="0">
                <a:solidFill>
                  <a:srgbClr val="334155"/>
                </a:solidFill>
                <a:latin typeface="Segoe UI" pitchFamily="34" charset="0"/>
                <a:ea typeface="Segoe UI" pitchFamily="34" charset="-122"/>
                <a:cs typeface="Segoe UI" pitchFamily="34" charset="-120"/>
              </a:rPr>
              <a:t>Hardware GPS trackers and live Google Maps/Mapbox routing.
</a:t>
            </a:r>
            <a:pPr indent="0" marL="0">
              <a:lnSpc>
                <a:spcPct val="115000"/>
              </a:lnSpc>
              <a:buNone/>
            </a:pPr>
            <a:r>
              <a:rPr lang="en-US" sz="850" b="1" dirty="0">
                <a:solidFill>
                  <a:srgbClr val="0F172A"/>
                </a:solidFill>
                <a:latin typeface="Segoe UI" pitchFamily="34" charset="0"/>
                <a:ea typeface="Segoe UI" pitchFamily="34" charset="-122"/>
                <a:cs typeface="Segoe UI" pitchFamily="34" charset="-120"/>
              </a:rPr>
              <a:t>➤ Enterprise Blockchain: </a:t>
            </a:r>
            <a:pPr indent="0" marL="0">
              <a:lnSpc>
                <a:spcPct val="115000"/>
              </a:lnSpc>
              <a:buNone/>
            </a:pPr>
            <a:r>
              <a:rPr lang="en-US" sz="850" dirty="0">
                <a:solidFill>
                  <a:srgbClr val="334155"/>
                </a:solidFill>
                <a:latin typeface="Segoe UI" pitchFamily="34" charset="0"/>
                <a:ea typeface="Segoe UI" pitchFamily="34" charset="-122"/>
                <a:cs typeface="Segoe UI" pitchFamily="34" charset="-120"/>
              </a:rPr>
              <a:t>Anchor traceability event hashes on Polygon/Ethereum.
</a:t>
            </a:r>
            <a:pPr indent="0" marL="0">
              <a:lnSpc>
                <a:spcPct val="115000"/>
              </a:lnSpc>
              <a:buNone/>
            </a:pPr>
            <a:r>
              <a:rPr lang="en-US" sz="850" b="1" dirty="0">
                <a:solidFill>
                  <a:srgbClr val="0F172A"/>
                </a:solidFill>
                <a:latin typeface="Segoe UI" pitchFamily="34" charset="0"/>
                <a:ea typeface="Segoe UI" pitchFamily="34" charset="-122"/>
                <a:cs typeface="Segoe UI" pitchFamily="34" charset="-120"/>
              </a:rPr>
              <a:t>➤ Automated Payment Escrow: </a:t>
            </a:r>
            <a:pPr indent="0" marL="0">
              <a:lnSpc>
                <a:spcPct val="115000"/>
              </a:lnSpc>
              <a:buNone/>
            </a:pPr>
            <a:r>
              <a:rPr lang="en-US" sz="850" dirty="0">
                <a:solidFill>
                  <a:srgbClr val="334155"/>
                </a:solidFill>
                <a:latin typeface="Segoe UI" pitchFamily="34" charset="0"/>
                <a:ea typeface="Segoe UI" pitchFamily="34" charset="-122"/>
                <a:cs typeface="Segoe UI" pitchFamily="34" charset="-120"/>
              </a:rPr>
              <a:t>Razorpay / Stripe webhooks releasing funds on delivery.
</a:t>
            </a:r>
            <a:pPr indent="0" marL="0">
              <a:lnSpc>
                <a:spcPct val="115000"/>
              </a:lnSpc>
              <a:buNone/>
            </a:pPr>
            <a:r>
              <a:rPr lang="en-US" sz="850" b="1" dirty="0">
                <a:solidFill>
                  <a:srgbClr val="0F172A"/>
                </a:solidFill>
                <a:latin typeface="Segoe UI" pitchFamily="34" charset="0"/>
                <a:ea typeface="Segoe UI" pitchFamily="34" charset="-122"/>
                <a:cs typeface="Segoe UI" pitchFamily="34" charset="-120"/>
              </a:rPr>
              <a:t>➤ Multilingual PWA: </a:t>
            </a:r>
            <a:pPr indent="0" marL="0">
              <a:lnSpc>
                <a:spcPct val="115000"/>
              </a:lnSpc>
              <a:buNone/>
            </a:pPr>
            <a:r>
              <a:rPr lang="en-US" sz="850" dirty="0">
                <a:solidFill>
                  <a:srgbClr val="334155"/>
                </a:solidFill>
                <a:latin typeface="Segoe UI" pitchFamily="34" charset="0"/>
                <a:ea typeface="Segoe UI" pitchFamily="34" charset="-122"/>
                <a:cs typeface="Segoe UI" pitchFamily="34" charset="-120"/>
              </a:rPr>
              <a:t>Offline-first mobile PWA with Indian regional languages.</a:t>
            </a:r>
            <a:endParaRPr lang="en-US" sz="850" dirty="0"/>
          </a:p>
        </p:txBody>
      </p:sp>
      <p:sp>
        <p:nvSpPr>
          <p:cNvPr id="20" name="Shape 18"/>
          <p:cNvSpPr/>
          <p:nvPr/>
        </p:nvSpPr>
        <p:spPr>
          <a:xfrm>
            <a:off x="731520" y="3913632"/>
            <a:ext cx="7680960" cy="713232"/>
          </a:xfrm>
          <a:prstGeom prst="roundRect">
            <a:avLst>
              <a:gd name="adj" fmla="val 10256"/>
            </a:avLst>
          </a:prstGeom>
          <a:solidFill>
            <a:srgbClr val="F0FDF4"/>
          </a:solidFill>
          <a:ln w="15240">
            <a:solidFill>
              <a:srgbClr val="0D6938"/>
            </a:solidFill>
            <a:prstDash val="solid"/>
          </a:ln>
        </p:spPr>
      </p:sp>
      <p:sp>
        <p:nvSpPr>
          <p:cNvPr id="21" name="Text 19"/>
          <p:cNvSpPr/>
          <p:nvPr/>
        </p:nvSpPr>
        <p:spPr>
          <a:xfrm>
            <a:off x="914400" y="3968496"/>
            <a:ext cx="7315200" cy="594360"/>
          </a:xfrm>
          <a:prstGeom prst="rect">
            <a:avLst/>
          </a:prstGeom>
          <a:noFill/>
          <a:ln/>
        </p:spPr>
        <p:txBody>
          <a:bodyPr wrap="square" rtlCol="0" anchor="ctr"/>
          <a:lstStyle/>
          <a:p>
            <a:pPr indent="0" marL="0">
              <a:lnSpc>
                <a:spcPct val="115000"/>
              </a:lnSpc>
              <a:buNone/>
            </a:pPr>
            <a:r>
              <a:rPr lang="en-US" sz="900" b="1" dirty="0">
                <a:solidFill>
                  <a:srgbClr val="064E2B"/>
                </a:solidFill>
                <a:latin typeface="Segoe UI" pitchFamily="34" charset="0"/>
                <a:ea typeface="Segoe UI" pitchFamily="34" charset="-122"/>
                <a:cs typeface="Segoe UI" pitchFamily="34" charset="-120"/>
              </a:rPr>
              <a:t>Final Academic Conclusion: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AgriFlow AI successfully establishes a functional, scalable engineering blueprint modernizing agricultural commerce. By pairing direct commerce with explainable decision support and coordinated logistics, the platform minimizes food spoilage and empowers rural producers.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D.Y Patil College Of Engineering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AgriFlow AI – Smart Agricultural Supply Chain SaaS Platform</dc:title>
  <dc:subject>B.Tech Final Year Major Project Presentation (2026-2027)</dc:subject>
  <dc:creator>Shabaan Satarkar, Aryan Mhetre, Om Khade, Prathmesh Sargar</dc:creator>
  <cp:lastModifiedBy>Shabaan Satarkar, Aryan Mhetre, Om Khade, Prathmesh Sargar</cp:lastModifiedBy>
  <cp:revision>1</cp:revision>
  <dcterms:created xsi:type="dcterms:W3CDTF">2026-10-26T19:17:55Z</dcterms:created>
  <dcterms:modified xsi:type="dcterms:W3CDTF">2026-10-26T19:17:55Z</dcterms:modified>
</cp:coreProperties>
</file>